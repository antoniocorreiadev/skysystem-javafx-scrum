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Lst>
  <p:sldSz cx="18288000" cy="10287000"/>
  <p:notesSz cx="6858000" cy="9144000"/>
  <p:embeddedFontLst>
    <p:embeddedFont>
      <p:font typeface="Proxima Nova" panose="020B0604020202020204" charset="0"/>
      <p:regular r:id="rId30"/>
    </p:embeddedFont>
    <p:embeddedFont>
      <p:font typeface="Proxima Nova Bold" panose="020B0604020202020204" charset="0"/>
      <p:regular r:id="rId31"/>
    </p:embeddedFont>
    <p:embeddedFont>
      <p:font typeface="Proxima Nova Heavy" panose="020B0604020202020204" charset="0"/>
      <p:regular r:id="rId32"/>
    </p:embeddedFont>
    <p:embeddedFont>
      <p:font typeface="Raleway" pitchFamily="2" charset="0"/>
      <p:regular r:id="rId33"/>
      <p:bold r:id="rId34"/>
      <p:italic r:id="rId35"/>
      <p:boldItalic r:id="rId3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font" Target="fonts/font5.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4.fntdata"/><Relationship Id="rId38"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3.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font" Target="fonts/font7.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2.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font" Target="fonts/font1.fntdata"/><Relationship Id="rId35" Type="http://schemas.openxmlformats.org/officeDocument/2006/relationships/font" Target="fonts/font6.fntdata"/><Relationship Id="rId8" Type="http://schemas.openxmlformats.org/officeDocument/2006/relationships/slide" Target="slides/slide4.xml"/><Relationship Id="rId3" Type="http://schemas.openxmlformats.org/officeDocument/2006/relationships/customXml" Target="../customXml/item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12/21/2025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0.jpeg"/><Relationship Id="rId7" Type="http://schemas.openxmlformats.org/officeDocument/2006/relationships/hyperlink" Target="https://gitlab.com/belos-e-a-monstra/gps2526_g25" TargetMode="External"/><Relationship Id="rId2" Type="http://schemas.openxmlformats.org/officeDocument/2006/relationships/image" Target="../media/image9.jpeg"/><Relationship Id="rId1" Type="http://schemas.openxmlformats.org/officeDocument/2006/relationships/slideLayout" Target="../slideLayouts/slideLayout7.xml"/><Relationship Id="rId6" Type="http://schemas.openxmlformats.org/officeDocument/2006/relationships/image" Target="../media/image13.jpeg"/><Relationship Id="rId5" Type="http://schemas.openxmlformats.org/officeDocument/2006/relationships/image" Target="../media/image12.jpeg"/><Relationship Id="rId4" Type="http://schemas.openxmlformats.org/officeDocument/2006/relationships/image" Target="../media/image11.jpeg"/></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7" Type="http://schemas.openxmlformats.org/officeDocument/2006/relationships/hyperlink" Target="https://gitlab.com/belos-e-a-monstra/gps2526_g25" TargetMode="External"/><Relationship Id="rId2" Type="http://schemas.openxmlformats.org/officeDocument/2006/relationships/image" Target="../media/image9.jpeg"/><Relationship Id="rId1" Type="http://schemas.openxmlformats.org/officeDocument/2006/relationships/slideLayout" Target="../slideLayouts/slideLayout7.xml"/><Relationship Id="rId6" Type="http://schemas.openxmlformats.org/officeDocument/2006/relationships/image" Target="../media/image13.jpeg"/><Relationship Id="rId5" Type="http://schemas.openxmlformats.org/officeDocument/2006/relationships/image" Target="../media/image12.jpeg"/><Relationship Id="rId4" Type="http://schemas.openxmlformats.org/officeDocument/2006/relationships/image" Target="../media/image11.jpeg"/></Relationships>
</file>

<file path=ppt/slides/_rels/slide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5.svg"/><Relationship Id="rId7" Type="http://schemas.openxmlformats.org/officeDocument/2006/relationships/image" Target="../media/image19.sv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sv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21.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2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png"/><Relationship Id="rId1" Type="http://schemas.openxmlformats.org/officeDocument/2006/relationships/slideLayout" Target="../slideLayouts/slideLayout7.xml"/><Relationship Id="rId4" Type="http://schemas.openxmlformats.org/officeDocument/2006/relationships/image" Target="../media/image32.png"/></Relationships>
</file>

<file path=ppt/slides/_rels/slide24.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png"/><Relationship Id="rId1" Type="http://schemas.openxmlformats.org/officeDocument/2006/relationships/slideLayout" Target="../slideLayouts/slideLayout7.xml"/><Relationship Id="rId4" Type="http://schemas.openxmlformats.org/officeDocument/2006/relationships/image" Target="../media/image32.png"/></Relationships>
</file>

<file path=ppt/slides/_rels/slide2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1322508" y="2936219"/>
            <a:ext cx="11873584" cy="7858154"/>
          </a:xfrm>
          <a:custGeom>
            <a:avLst/>
            <a:gdLst/>
            <a:ahLst/>
            <a:cxnLst/>
            <a:rect l="l" t="t" r="r" b="b"/>
            <a:pathLst>
              <a:path w="11873584" h="7858154">
                <a:moveTo>
                  <a:pt x="0" y="0"/>
                </a:moveTo>
                <a:lnTo>
                  <a:pt x="11873584" y="0"/>
                </a:lnTo>
                <a:lnTo>
                  <a:pt x="11873584" y="7858154"/>
                </a:lnTo>
                <a:lnTo>
                  <a:pt x="0" y="78581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1669654" y="-734700"/>
            <a:ext cx="1660777" cy="1469400"/>
            <a:chOff x="0" y="0"/>
            <a:chExt cx="437406" cy="387002"/>
          </a:xfrm>
        </p:grpSpPr>
        <p:sp>
          <p:nvSpPr>
            <p:cNvPr id="4" name="Freeform 4"/>
            <p:cNvSpPr/>
            <p:nvPr/>
          </p:nvSpPr>
          <p:spPr>
            <a:xfrm>
              <a:off x="0" y="0"/>
              <a:ext cx="437406" cy="387002"/>
            </a:xfrm>
            <a:custGeom>
              <a:avLst/>
              <a:gdLst/>
              <a:ahLst/>
              <a:cxnLst/>
              <a:rect l="l" t="t" r="r" b="b"/>
              <a:pathLst>
                <a:path w="437406" h="387002">
                  <a:moveTo>
                    <a:pt x="0" y="0"/>
                  </a:moveTo>
                  <a:lnTo>
                    <a:pt x="437406" y="0"/>
                  </a:lnTo>
                  <a:lnTo>
                    <a:pt x="437406" y="387002"/>
                  </a:lnTo>
                  <a:lnTo>
                    <a:pt x="0" y="387002"/>
                  </a:lnTo>
                  <a:close/>
                </a:path>
              </a:pathLst>
            </a:custGeom>
            <a:solidFill>
              <a:srgbClr val="0CC0DF"/>
            </a:solidFill>
          </p:spPr>
        </p:sp>
        <p:sp>
          <p:nvSpPr>
            <p:cNvPr id="5" name="TextBox 5"/>
            <p:cNvSpPr txBox="1"/>
            <p:nvPr/>
          </p:nvSpPr>
          <p:spPr>
            <a:xfrm>
              <a:off x="0" y="-47625"/>
              <a:ext cx="437406" cy="434627"/>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3414973" y="-734700"/>
            <a:ext cx="489701" cy="1469400"/>
            <a:chOff x="0" y="0"/>
            <a:chExt cx="128975" cy="387002"/>
          </a:xfrm>
        </p:grpSpPr>
        <p:sp>
          <p:nvSpPr>
            <p:cNvPr id="7" name="Freeform 7"/>
            <p:cNvSpPr/>
            <p:nvPr/>
          </p:nvSpPr>
          <p:spPr>
            <a:xfrm>
              <a:off x="0" y="0"/>
              <a:ext cx="128975" cy="387002"/>
            </a:xfrm>
            <a:custGeom>
              <a:avLst/>
              <a:gdLst/>
              <a:ahLst/>
              <a:cxnLst/>
              <a:rect l="l" t="t" r="r" b="b"/>
              <a:pathLst>
                <a:path w="128975" h="387002">
                  <a:moveTo>
                    <a:pt x="0" y="0"/>
                  </a:moveTo>
                  <a:lnTo>
                    <a:pt x="128975" y="0"/>
                  </a:lnTo>
                  <a:lnTo>
                    <a:pt x="128975" y="387002"/>
                  </a:lnTo>
                  <a:lnTo>
                    <a:pt x="0" y="387002"/>
                  </a:lnTo>
                  <a:close/>
                </a:path>
              </a:pathLst>
            </a:custGeom>
            <a:solidFill>
              <a:srgbClr val="006DAC"/>
            </a:solidFill>
          </p:spPr>
        </p:sp>
        <p:sp>
          <p:nvSpPr>
            <p:cNvPr id="8" name="TextBox 8"/>
            <p:cNvSpPr txBox="1"/>
            <p:nvPr/>
          </p:nvSpPr>
          <p:spPr>
            <a:xfrm>
              <a:off x="0" y="-47625"/>
              <a:ext cx="128975" cy="434627"/>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a:off x="16238540" y="0"/>
            <a:ext cx="2049460" cy="2049460"/>
          </a:xfrm>
          <a:custGeom>
            <a:avLst/>
            <a:gdLst/>
            <a:ahLst/>
            <a:cxnLst/>
            <a:rect l="l" t="t" r="r" b="b"/>
            <a:pathLst>
              <a:path w="2049460" h="2049460">
                <a:moveTo>
                  <a:pt x="0" y="0"/>
                </a:moveTo>
                <a:lnTo>
                  <a:pt x="2049460" y="0"/>
                </a:lnTo>
                <a:lnTo>
                  <a:pt x="2049460" y="2049460"/>
                </a:lnTo>
                <a:lnTo>
                  <a:pt x="0" y="204946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TextBox 10"/>
          <p:cNvSpPr txBox="1"/>
          <p:nvPr/>
        </p:nvSpPr>
        <p:spPr>
          <a:xfrm>
            <a:off x="1669654" y="2774694"/>
            <a:ext cx="13945179" cy="3780807"/>
          </a:xfrm>
          <a:prstGeom prst="rect">
            <a:avLst/>
          </a:prstGeom>
        </p:spPr>
        <p:txBody>
          <a:bodyPr lIns="0" tIns="0" rIns="0" bIns="0" rtlCol="0" anchor="t">
            <a:spAutoFit/>
          </a:bodyPr>
          <a:lstStyle/>
          <a:p>
            <a:pPr algn="l">
              <a:lnSpc>
                <a:spcPts val="14665"/>
              </a:lnSpc>
            </a:pPr>
            <a:r>
              <a:rPr lang="en-US" sz="13967" b="1">
                <a:solidFill>
                  <a:srgbClr val="006DAC"/>
                </a:solidFill>
                <a:latin typeface="Proxima Nova Heavy"/>
                <a:ea typeface="Proxima Nova Heavy"/>
                <a:cs typeface="Proxima Nova Heavy"/>
                <a:sym typeface="Proxima Nova Heavy"/>
              </a:rPr>
              <a:t>FINAL PRESENTATION</a:t>
            </a:r>
          </a:p>
        </p:txBody>
      </p:sp>
      <p:sp>
        <p:nvSpPr>
          <p:cNvPr id="11" name="TextBox 11"/>
          <p:cNvSpPr txBox="1"/>
          <p:nvPr/>
        </p:nvSpPr>
        <p:spPr>
          <a:xfrm>
            <a:off x="1669654" y="7936455"/>
            <a:ext cx="4008388" cy="464142"/>
          </a:xfrm>
          <a:prstGeom prst="rect">
            <a:avLst/>
          </a:prstGeom>
        </p:spPr>
        <p:txBody>
          <a:bodyPr lIns="0" tIns="0" rIns="0" bIns="0" rtlCol="0" anchor="t">
            <a:spAutoFit/>
          </a:bodyPr>
          <a:lstStyle/>
          <a:p>
            <a:pPr algn="l">
              <a:lnSpc>
                <a:spcPts val="3532"/>
              </a:lnSpc>
            </a:pPr>
            <a:r>
              <a:rPr lang="en-US" sz="3364" b="1">
                <a:solidFill>
                  <a:srgbClr val="006DAC"/>
                </a:solidFill>
                <a:latin typeface="Proxima Nova Bold"/>
                <a:ea typeface="Proxima Nova Bold"/>
                <a:cs typeface="Proxima Nova Bold"/>
                <a:sym typeface="Proxima Nova Bold"/>
              </a:rPr>
              <a:t>18 December 2025</a:t>
            </a:r>
          </a:p>
        </p:txBody>
      </p:sp>
      <p:sp>
        <p:nvSpPr>
          <p:cNvPr id="12" name="TextBox 12"/>
          <p:cNvSpPr txBox="1"/>
          <p:nvPr/>
        </p:nvSpPr>
        <p:spPr>
          <a:xfrm>
            <a:off x="1669654" y="7424688"/>
            <a:ext cx="6042642" cy="464142"/>
          </a:xfrm>
          <a:prstGeom prst="rect">
            <a:avLst/>
          </a:prstGeom>
        </p:spPr>
        <p:txBody>
          <a:bodyPr lIns="0" tIns="0" rIns="0" bIns="0" rtlCol="0" anchor="t">
            <a:spAutoFit/>
          </a:bodyPr>
          <a:lstStyle/>
          <a:p>
            <a:pPr algn="l">
              <a:lnSpc>
                <a:spcPts val="3532"/>
              </a:lnSpc>
            </a:pPr>
            <a:r>
              <a:rPr lang="en-US" sz="3364" b="1">
                <a:solidFill>
                  <a:srgbClr val="0CC0DF"/>
                </a:solidFill>
                <a:latin typeface="Proxima Nova Bold"/>
                <a:ea typeface="Proxima Nova Bold"/>
                <a:cs typeface="Proxima Nova Bold"/>
                <a:sym typeface="Proxima Nova Bold"/>
              </a:rPr>
              <a:t>Group 25 - SkySytem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5299271" y="-440700"/>
            <a:ext cx="1660777" cy="1469400"/>
            <a:chOff x="0" y="0"/>
            <a:chExt cx="437406" cy="387002"/>
          </a:xfrm>
        </p:grpSpPr>
        <p:sp>
          <p:nvSpPr>
            <p:cNvPr id="3" name="Freeform 3"/>
            <p:cNvSpPr/>
            <p:nvPr/>
          </p:nvSpPr>
          <p:spPr>
            <a:xfrm>
              <a:off x="0" y="0"/>
              <a:ext cx="437406" cy="387002"/>
            </a:xfrm>
            <a:custGeom>
              <a:avLst/>
              <a:gdLst/>
              <a:ahLst/>
              <a:cxnLst/>
              <a:rect l="l" t="t" r="r" b="b"/>
              <a:pathLst>
                <a:path w="437406" h="387002">
                  <a:moveTo>
                    <a:pt x="0" y="0"/>
                  </a:moveTo>
                  <a:lnTo>
                    <a:pt x="437406" y="0"/>
                  </a:lnTo>
                  <a:lnTo>
                    <a:pt x="437406" y="387002"/>
                  </a:lnTo>
                  <a:lnTo>
                    <a:pt x="0" y="387002"/>
                  </a:lnTo>
                  <a:close/>
                </a:path>
              </a:pathLst>
            </a:custGeom>
            <a:solidFill>
              <a:srgbClr val="0CC0DF"/>
            </a:solidFill>
          </p:spPr>
        </p:sp>
        <p:sp>
          <p:nvSpPr>
            <p:cNvPr id="4" name="TextBox 4"/>
            <p:cNvSpPr txBox="1"/>
            <p:nvPr/>
          </p:nvSpPr>
          <p:spPr>
            <a:xfrm>
              <a:off x="0" y="-47625"/>
              <a:ext cx="437406" cy="434627"/>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701769" y="9258300"/>
            <a:ext cx="1660777" cy="1469400"/>
            <a:chOff x="0" y="0"/>
            <a:chExt cx="437406" cy="387002"/>
          </a:xfrm>
        </p:grpSpPr>
        <p:sp>
          <p:nvSpPr>
            <p:cNvPr id="6" name="Freeform 6"/>
            <p:cNvSpPr/>
            <p:nvPr/>
          </p:nvSpPr>
          <p:spPr>
            <a:xfrm>
              <a:off x="0" y="0"/>
              <a:ext cx="437406" cy="387002"/>
            </a:xfrm>
            <a:custGeom>
              <a:avLst/>
              <a:gdLst/>
              <a:ahLst/>
              <a:cxnLst/>
              <a:rect l="l" t="t" r="r" b="b"/>
              <a:pathLst>
                <a:path w="437406" h="387002">
                  <a:moveTo>
                    <a:pt x="0" y="0"/>
                  </a:moveTo>
                  <a:lnTo>
                    <a:pt x="437406" y="0"/>
                  </a:lnTo>
                  <a:lnTo>
                    <a:pt x="437406" y="387002"/>
                  </a:lnTo>
                  <a:lnTo>
                    <a:pt x="0" y="387002"/>
                  </a:lnTo>
                  <a:close/>
                </a:path>
              </a:pathLst>
            </a:custGeom>
            <a:solidFill>
              <a:srgbClr val="0CC0DF"/>
            </a:solidFill>
          </p:spPr>
        </p:sp>
        <p:sp>
          <p:nvSpPr>
            <p:cNvPr id="7" name="TextBox 7"/>
            <p:cNvSpPr txBox="1"/>
            <p:nvPr/>
          </p:nvSpPr>
          <p:spPr>
            <a:xfrm>
              <a:off x="0" y="-47625"/>
              <a:ext cx="437406" cy="434627"/>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7044589" y="-440700"/>
            <a:ext cx="489701" cy="1469400"/>
            <a:chOff x="0" y="0"/>
            <a:chExt cx="128975" cy="387002"/>
          </a:xfrm>
        </p:grpSpPr>
        <p:sp>
          <p:nvSpPr>
            <p:cNvPr id="9" name="Freeform 9"/>
            <p:cNvSpPr/>
            <p:nvPr/>
          </p:nvSpPr>
          <p:spPr>
            <a:xfrm>
              <a:off x="0" y="0"/>
              <a:ext cx="128975" cy="387002"/>
            </a:xfrm>
            <a:custGeom>
              <a:avLst/>
              <a:gdLst/>
              <a:ahLst/>
              <a:cxnLst/>
              <a:rect l="l" t="t" r="r" b="b"/>
              <a:pathLst>
                <a:path w="128975" h="387002">
                  <a:moveTo>
                    <a:pt x="0" y="0"/>
                  </a:moveTo>
                  <a:lnTo>
                    <a:pt x="128975" y="0"/>
                  </a:lnTo>
                  <a:lnTo>
                    <a:pt x="128975" y="387002"/>
                  </a:lnTo>
                  <a:lnTo>
                    <a:pt x="0" y="387002"/>
                  </a:lnTo>
                  <a:close/>
                </a:path>
              </a:pathLst>
            </a:custGeom>
            <a:solidFill>
              <a:srgbClr val="006DAC"/>
            </a:solidFill>
          </p:spPr>
        </p:sp>
        <p:sp>
          <p:nvSpPr>
            <p:cNvPr id="10" name="TextBox 10"/>
            <p:cNvSpPr txBox="1"/>
            <p:nvPr/>
          </p:nvSpPr>
          <p:spPr>
            <a:xfrm>
              <a:off x="0" y="-47625"/>
              <a:ext cx="128975" cy="434627"/>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a:off x="3447087" y="9258300"/>
            <a:ext cx="489701" cy="1469400"/>
            <a:chOff x="0" y="0"/>
            <a:chExt cx="128975" cy="387002"/>
          </a:xfrm>
        </p:grpSpPr>
        <p:sp>
          <p:nvSpPr>
            <p:cNvPr id="12" name="Freeform 12"/>
            <p:cNvSpPr/>
            <p:nvPr/>
          </p:nvSpPr>
          <p:spPr>
            <a:xfrm>
              <a:off x="0" y="0"/>
              <a:ext cx="128975" cy="387002"/>
            </a:xfrm>
            <a:custGeom>
              <a:avLst/>
              <a:gdLst/>
              <a:ahLst/>
              <a:cxnLst/>
              <a:rect l="l" t="t" r="r" b="b"/>
              <a:pathLst>
                <a:path w="128975" h="387002">
                  <a:moveTo>
                    <a:pt x="0" y="0"/>
                  </a:moveTo>
                  <a:lnTo>
                    <a:pt x="128975" y="0"/>
                  </a:lnTo>
                  <a:lnTo>
                    <a:pt x="128975" y="387002"/>
                  </a:lnTo>
                  <a:lnTo>
                    <a:pt x="0" y="387002"/>
                  </a:lnTo>
                  <a:close/>
                </a:path>
              </a:pathLst>
            </a:custGeom>
            <a:solidFill>
              <a:srgbClr val="006DAC"/>
            </a:solidFill>
          </p:spPr>
        </p:sp>
        <p:sp>
          <p:nvSpPr>
            <p:cNvPr id="13" name="TextBox 13"/>
            <p:cNvSpPr txBox="1"/>
            <p:nvPr/>
          </p:nvSpPr>
          <p:spPr>
            <a:xfrm>
              <a:off x="0" y="-47625"/>
              <a:ext cx="128975" cy="434627"/>
            </a:xfrm>
            <a:prstGeom prst="rect">
              <a:avLst/>
            </a:prstGeom>
          </p:spPr>
          <p:txBody>
            <a:bodyPr lIns="50800" tIns="50800" rIns="50800" bIns="50800" rtlCol="0" anchor="ctr"/>
            <a:lstStyle/>
            <a:p>
              <a:pPr algn="ctr">
                <a:lnSpc>
                  <a:spcPts val="2659"/>
                </a:lnSpc>
                <a:spcBef>
                  <a:spcPct val="0"/>
                </a:spcBef>
              </a:pPr>
              <a:endParaRPr/>
            </a:p>
          </p:txBody>
        </p:sp>
      </p:grpSp>
      <p:grpSp>
        <p:nvGrpSpPr>
          <p:cNvPr id="14" name="Group 14"/>
          <p:cNvGrpSpPr/>
          <p:nvPr/>
        </p:nvGrpSpPr>
        <p:grpSpPr>
          <a:xfrm>
            <a:off x="721157" y="3438991"/>
            <a:ext cx="748788" cy="748788"/>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6DAC"/>
            </a:solidFill>
          </p:spPr>
        </p:sp>
        <p:sp>
          <p:nvSpPr>
            <p:cNvPr id="16" name="TextBox 16"/>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a:off x="721157" y="4614858"/>
            <a:ext cx="748788" cy="748788"/>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6DAC"/>
            </a:solidFill>
          </p:spPr>
        </p:sp>
        <p:sp>
          <p:nvSpPr>
            <p:cNvPr id="19" name="TextBox 19"/>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20" name="Group 20"/>
          <p:cNvGrpSpPr/>
          <p:nvPr/>
        </p:nvGrpSpPr>
        <p:grpSpPr>
          <a:xfrm>
            <a:off x="721157" y="5792271"/>
            <a:ext cx="748788" cy="748788"/>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6DAC"/>
            </a:solidFill>
          </p:spPr>
        </p:sp>
        <p:sp>
          <p:nvSpPr>
            <p:cNvPr id="22" name="TextBox 22"/>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23" name="Group 23"/>
          <p:cNvGrpSpPr/>
          <p:nvPr/>
        </p:nvGrpSpPr>
        <p:grpSpPr>
          <a:xfrm>
            <a:off x="721157" y="6968137"/>
            <a:ext cx="748788" cy="748788"/>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6DAC"/>
            </a:solidFill>
          </p:spPr>
        </p:sp>
        <p:sp>
          <p:nvSpPr>
            <p:cNvPr id="25" name="TextBox 25"/>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26" name="Group 26"/>
          <p:cNvGrpSpPr/>
          <p:nvPr/>
        </p:nvGrpSpPr>
        <p:grpSpPr>
          <a:xfrm>
            <a:off x="8395212" y="3482065"/>
            <a:ext cx="748788" cy="748788"/>
            <a:chOff x="0" y="0"/>
            <a:chExt cx="812800" cy="812800"/>
          </a:xfrm>
        </p:grpSpPr>
        <p:sp>
          <p:nvSpPr>
            <p:cNvPr id="27" name="Freeform 2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6DAC"/>
            </a:solidFill>
          </p:spPr>
        </p:sp>
        <p:sp>
          <p:nvSpPr>
            <p:cNvPr id="28" name="TextBox 28"/>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29" name="Group 29"/>
          <p:cNvGrpSpPr/>
          <p:nvPr/>
        </p:nvGrpSpPr>
        <p:grpSpPr>
          <a:xfrm>
            <a:off x="8395212" y="4657932"/>
            <a:ext cx="748788" cy="748788"/>
            <a:chOff x="0" y="0"/>
            <a:chExt cx="812800" cy="812800"/>
          </a:xfrm>
        </p:grpSpPr>
        <p:sp>
          <p:nvSpPr>
            <p:cNvPr id="30" name="Freeform 3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6DAC"/>
            </a:solidFill>
          </p:spPr>
        </p:sp>
        <p:sp>
          <p:nvSpPr>
            <p:cNvPr id="31" name="TextBox 31"/>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32" name="Group 32"/>
          <p:cNvGrpSpPr/>
          <p:nvPr/>
        </p:nvGrpSpPr>
        <p:grpSpPr>
          <a:xfrm>
            <a:off x="8395212" y="5835345"/>
            <a:ext cx="748788" cy="748788"/>
            <a:chOff x="0" y="0"/>
            <a:chExt cx="812800" cy="812800"/>
          </a:xfrm>
        </p:grpSpPr>
        <p:sp>
          <p:nvSpPr>
            <p:cNvPr id="33" name="Freeform 3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6DAC"/>
            </a:solidFill>
          </p:spPr>
        </p:sp>
        <p:sp>
          <p:nvSpPr>
            <p:cNvPr id="34" name="TextBox 34"/>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sp>
        <p:nvSpPr>
          <p:cNvPr id="35" name="Freeform 35"/>
          <p:cNvSpPr/>
          <p:nvPr/>
        </p:nvSpPr>
        <p:spPr>
          <a:xfrm>
            <a:off x="13722581" y="7826817"/>
            <a:ext cx="3322008" cy="1431483"/>
          </a:xfrm>
          <a:custGeom>
            <a:avLst/>
            <a:gdLst/>
            <a:ahLst/>
            <a:cxnLst/>
            <a:rect l="l" t="t" r="r" b="b"/>
            <a:pathLst>
              <a:path w="3322008" h="1431483">
                <a:moveTo>
                  <a:pt x="0" y="0"/>
                </a:moveTo>
                <a:lnTo>
                  <a:pt x="3322008" y="0"/>
                </a:lnTo>
                <a:lnTo>
                  <a:pt x="3322008" y="1431483"/>
                </a:lnTo>
                <a:lnTo>
                  <a:pt x="0" y="14314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6" name="TextBox 36"/>
          <p:cNvSpPr txBox="1"/>
          <p:nvPr/>
        </p:nvSpPr>
        <p:spPr>
          <a:xfrm>
            <a:off x="1028700" y="1449010"/>
            <a:ext cx="7593255" cy="1002665"/>
          </a:xfrm>
          <a:prstGeom prst="rect">
            <a:avLst/>
          </a:prstGeom>
        </p:spPr>
        <p:txBody>
          <a:bodyPr lIns="0" tIns="0" rIns="0" bIns="0" rtlCol="0" anchor="t">
            <a:spAutoFit/>
          </a:bodyPr>
          <a:lstStyle/>
          <a:p>
            <a:pPr marL="0" lvl="0" indent="0" algn="l">
              <a:lnSpc>
                <a:spcPts val="7930"/>
              </a:lnSpc>
              <a:spcBef>
                <a:spcPct val="0"/>
              </a:spcBef>
            </a:pPr>
            <a:r>
              <a:rPr lang="en-US" sz="6500" b="1">
                <a:solidFill>
                  <a:srgbClr val="006DAC"/>
                </a:solidFill>
                <a:latin typeface="Proxima Nova Heavy"/>
                <a:ea typeface="Proxima Nova Heavy"/>
                <a:cs typeface="Proxima Nova Heavy"/>
                <a:sym typeface="Proxima Nova Heavy"/>
              </a:rPr>
              <a:t>SUMMARY</a:t>
            </a:r>
          </a:p>
        </p:txBody>
      </p:sp>
      <p:sp>
        <p:nvSpPr>
          <p:cNvPr id="37" name="TextBox 37"/>
          <p:cNvSpPr txBox="1"/>
          <p:nvPr/>
        </p:nvSpPr>
        <p:spPr>
          <a:xfrm>
            <a:off x="2050273" y="3635413"/>
            <a:ext cx="3352958" cy="355943"/>
          </a:xfrm>
          <a:prstGeom prst="rect">
            <a:avLst/>
          </a:prstGeom>
        </p:spPr>
        <p:txBody>
          <a:bodyPr lIns="0" tIns="0" rIns="0" bIns="0" rtlCol="0" anchor="t">
            <a:spAutoFit/>
          </a:bodyPr>
          <a:lstStyle/>
          <a:p>
            <a:pPr marL="0" lvl="0" indent="0" algn="l">
              <a:lnSpc>
                <a:spcPts val="2885"/>
              </a:lnSpc>
              <a:spcBef>
                <a:spcPct val="0"/>
              </a:spcBef>
            </a:pPr>
            <a:r>
              <a:rPr lang="en-US" sz="2364" b="1" spc="16">
                <a:solidFill>
                  <a:srgbClr val="0CC0DF"/>
                </a:solidFill>
                <a:latin typeface="Proxima Nova Heavy"/>
                <a:ea typeface="Proxima Nova Heavy"/>
                <a:cs typeface="Proxima Nova Heavy"/>
                <a:sym typeface="Proxima Nova Heavy"/>
              </a:rPr>
              <a:t>TEAM</a:t>
            </a:r>
          </a:p>
        </p:txBody>
      </p:sp>
      <p:sp>
        <p:nvSpPr>
          <p:cNvPr id="38" name="TextBox 38"/>
          <p:cNvSpPr txBox="1"/>
          <p:nvPr/>
        </p:nvSpPr>
        <p:spPr>
          <a:xfrm>
            <a:off x="2050273" y="6011770"/>
            <a:ext cx="3163399" cy="355943"/>
          </a:xfrm>
          <a:prstGeom prst="rect">
            <a:avLst/>
          </a:prstGeom>
        </p:spPr>
        <p:txBody>
          <a:bodyPr lIns="0" tIns="0" rIns="0" bIns="0" rtlCol="0" anchor="t">
            <a:spAutoFit/>
          </a:bodyPr>
          <a:lstStyle/>
          <a:p>
            <a:pPr marL="0" lvl="0" indent="0" algn="l">
              <a:lnSpc>
                <a:spcPts val="2885"/>
              </a:lnSpc>
              <a:spcBef>
                <a:spcPct val="0"/>
              </a:spcBef>
            </a:pPr>
            <a:r>
              <a:rPr lang="en-US" sz="2364" b="1" spc="16">
                <a:solidFill>
                  <a:srgbClr val="0CC0DF"/>
                </a:solidFill>
                <a:latin typeface="Proxima Nova Heavy"/>
                <a:ea typeface="Proxima Nova Heavy"/>
                <a:cs typeface="Proxima Nova Heavy"/>
                <a:sym typeface="Proxima Nova Heavy"/>
              </a:rPr>
              <a:t>RELEASE PLAN</a:t>
            </a:r>
          </a:p>
        </p:txBody>
      </p:sp>
      <p:sp>
        <p:nvSpPr>
          <p:cNvPr id="39" name="TextBox 39"/>
          <p:cNvSpPr txBox="1"/>
          <p:nvPr/>
        </p:nvSpPr>
        <p:spPr>
          <a:xfrm>
            <a:off x="2050273" y="4811280"/>
            <a:ext cx="3163399" cy="355943"/>
          </a:xfrm>
          <a:prstGeom prst="rect">
            <a:avLst/>
          </a:prstGeom>
        </p:spPr>
        <p:txBody>
          <a:bodyPr lIns="0" tIns="0" rIns="0" bIns="0" rtlCol="0" anchor="t">
            <a:spAutoFit/>
          </a:bodyPr>
          <a:lstStyle/>
          <a:p>
            <a:pPr marL="0" lvl="0" indent="0" algn="l">
              <a:lnSpc>
                <a:spcPts val="2885"/>
              </a:lnSpc>
              <a:spcBef>
                <a:spcPct val="0"/>
              </a:spcBef>
            </a:pPr>
            <a:r>
              <a:rPr lang="en-US" sz="2364" b="1" spc="16">
                <a:solidFill>
                  <a:srgbClr val="0CC0DF"/>
                </a:solidFill>
                <a:latin typeface="Proxima Nova Heavy"/>
                <a:ea typeface="Proxima Nova Heavy"/>
                <a:cs typeface="Proxima Nova Heavy"/>
                <a:sym typeface="Proxima Nova Heavy"/>
              </a:rPr>
              <a:t>VISION AND SCOPE</a:t>
            </a:r>
          </a:p>
        </p:txBody>
      </p:sp>
      <p:sp>
        <p:nvSpPr>
          <p:cNvPr id="40" name="TextBox 40"/>
          <p:cNvSpPr txBox="1"/>
          <p:nvPr/>
        </p:nvSpPr>
        <p:spPr>
          <a:xfrm>
            <a:off x="2050273" y="7215438"/>
            <a:ext cx="3163399" cy="355943"/>
          </a:xfrm>
          <a:prstGeom prst="rect">
            <a:avLst/>
          </a:prstGeom>
        </p:spPr>
        <p:txBody>
          <a:bodyPr lIns="0" tIns="0" rIns="0" bIns="0" rtlCol="0" anchor="t">
            <a:spAutoFit/>
          </a:bodyPr>
          <a:lstStyle/>
          <a:p>
            <a:pPr marL="0" lvl="0" indent="0" algn="l">
              <a:lnSpc>
                <a:spcPts val="2885"/>
              </a:lnSpc>
              <a:spcBef>
                <a:spcPct val="0"/>
              </a:spcBef>
            </a:pPr>
            <a:r>
              <a:rPr lang="en-US" sz="2364" b="1" spc="16">
                <a:solidFill>
                  <a:srgbClr val="0CC0DF"/>
                </a:solidFill>
                <a:latin typeface="Proxima Nova Heavy"/>
                <a:ea typeface="Proxima Nova Heavy"/>
                <a:cs typeface="Proxima Nova Heavy"/>
                <a:sym typeface="Proxima Nova Heavy"/>
              </a:rPr>
              <a:t>BACKLOG ITEMS</a:t>
            </a:r>
          </a:p>
        </p:txBody>
      </p:sp>
      <p:sp>
        <p:nvSpPr>
          <p:cNvPr id="41" name="TextBox 41"/>
          <p:cNvSpPr txBox="1"/>
          <p:nvPr/>
        </p:nvSpPr>
        <p:spPr>
          <a:xfrm>
            <a:off x="9725025" y="3701924"/>
            <a:ext cx="3163399" cy="355943"/>
          </a:xfrm>
          <a:prstGeom prst="rect">
            <a:avLst/>
          </a:prstGeom>
        </p:spPr>
        <p:txBody>
          <a:bodyPr lIns="0" tIns="0" rIns="0" bIns="0" rtlCol="0" anchor="t">
            <a:spAutoFit/>
          </a:bodyPr>
          <a:lstStyle/>
          <a:p>
            <a:pPr marL="0" lvl="0" indent="0" algn="l">
              <a:lnSpc>
                <a:spcPts val="2885"/>
              </a:lnSpc>
              <a:spcBef>
                <a:spcPct val="0"/>
              </a:spcBef>
            </a:pPr>
            <a:r>
              <a:rPr lang="en-US" sz="2364" b="1" spc="16">
                <a:solidFill>
                  <a:srgbClr val="0CC0DF"/>
                </a:solidFill>
                <a:latin typeface="Proxima Nova Bold"/>
                <a:ea typeface="Proxima Nova Bold"/>
                <a:cs typeface="Proxima Nova Bold"/>
                <a:sym typeface="Proxima Nova Bold"/>
              </a:rPr>
              <a:t>METRICS</a:t>
            </a:r>
          </a:p>
        </p:txBody>
      </p:sp>
      <p:sp>
        <p:nvSpPr>
          <p:cNvPr id="42" name="TextBox 42"/>
          <p:cNvSpPr txBox="1"/>
          <p:nvPr/>
        </p:nvSpPr>
        <p:spPr>
          <a:xfrm>
            <a:off x="9725025" y="4878987"/>
            <a:ext cx="3163399" cy="355943"/>
          </a:xfrm>
          <a:prstGeom prst="rect">
            <a:avLst/>
          </a:prstGeom>
        </p:spPr>
        <p:txBody>
          <a:bodyPr lIns="0" tIns="0" rIns="0" bIns="0" rtlCol="0" anchor="t">
            <a:spAutoFit/>
          </a:bodyPr>
          <a:lstStyle/>
          <a:p>
            <a:pPr marL="0" lvl="0" indent="0" algn="l">
              <a:lnSpc>
                <a:spcPts val="2885"/>
              </a:lnSpc>
              <a:spcBef>
                <a:spcPct val="0"/>
              </a:spcBef>
            </a:pPr>
            <a:r>
              <a:rPr lang="en-US" sz="2364" b="1" spc="16">
                <a:solidFill>
                  <a:srgbClr val="0CC0DF"/>
                </a:solidFill>
                <a:latin typeface="Proxima Nova Bold"/>
                <a:ea typeface="Proxima Nova Bold"/>
                <a:cs typeface="Proxima Nova Bold"/>
                <a:sym typeface="Proxima Nova Bold"/>
              </a:rPr>
              <a:t>KPI</a:t>
            </a:r>
          </a:p>
        </p:txBody>
      </p:sp>
      <p:sp>
        <p:nvSpPr>
          <p:cNvPr id="43" name="TextBox 43"/>
          <p:cNvSpPr txBox="1"/>
          <p:nvPr/>
        </p:nvSpPr>
        <p:spPr>
          <a:xfrm>
            <a:off x="9725025" y="6053658"/>
            <a:ext cx="3163399" cy="355943"/>
          </a:xfrm>
          <a:prstGeom prst="rect">
            <a:avLst/>
          </a:prstGeom>
        </p:spPr>
        <p:txBody>
          <a:bodyPr lIns="0" tIns="0" rIns="0" bIns="0" rtlCol="0" anchor="t">
            <a:spAutoFit/>
          </a:bodyPr>
          <a:lstStyle/>
          <a:p>
            <a:pPr marL="0" lvl="0" indent="0" algn="l">
              <a:lnSpc>
                <a:spcPts val="2885"/>
              </a:lnSpc>
              <a:spcBef>
                <a:spcPct val="0"/>
              </a:spcBef>
            </a:pPr>
            <a:r>
              <a:rPr lang="en-US" sz="2364" b="1" spc="16">
                <a:solidFill>
                  <a:srgbClr val="0CC0DF"/>
                </a:solidFill>
                <a:latin typeface="Proxima Nova Bold"/>
                <a:ea typeface="Proxima Nova Bold"/>
                <a:cs typeface="Proxima Nova Bold"/>
                <a:sym typeface="Proxima Nova Bold"/>
              </a:rPr>
              <a:t>LESSONS LEARNED</a:t>
            </a:r>
          </a:p>
        </p:txBody>
      </p:sp>
      <p:sp>
        <p:nvSpPr>
          <p:cNvPr id="44" name="TextBox 44"/>
          <p:cNvSpPr txBox="1"/>
          <p:nvPr/>
        </p:nvSpPr>
        <p:spPr>
          <a:xfrm>
            <a:off x="985240" y="3602457"/>
            <a:ext cx="220623" cy="412331"/>
          </a:xfrm>
          <a:prstGeom prst="rect">
            <a:avLst/>
          </a:prstGeom>
        </p:spPr>
        <p:txBody>
          <a:bodyPr lIns="0" tIns="0" rIns="0" bIns="0" rtlCol="0" anchor="t">
            <a:spAutoFit/>
          </a:bodyPr>
          <a:lstStyle/>
          <a:p>
            <a:pPr marL="0" lvl="0" indent="0" algn="l">
              <a:lnSpc>
                <a:spcPts val="3251"/>
              </a:lnSpc>
              <a:spcBef>
                <a:spcPct val="0"/>
              </a:spcBef>
            </a:pPr>
            <a:r>
              <a:rPr lang="en-US" sz="2664" b="1" spc="18">
                <a:solidFill>
                  <a:srgbClr val="FFFFFF"/>
                </a:solidFill>
                <a:latin typeface="Proxima Nova Heavy"/>
                <a:ea typeface="Proxima Nova Heavy"/>
                <a:cs typeface="Proxima Nova Heavy"/>
                <a:sym typeface="Proxima Nova Heavy"/>
              </a:rPr>
              <a:t>1</a:t>
            </a:r>
          </a:p>
        </p:txBody>
      </p:sp>
      <p:sp>
        <p:nvSpPr>
          <p:cNvPr id="45" name="TextBox 45"/>
          <p:cNvSpPr txBox="1"/>
          <p:nvPr/>
        </p:nvSpPr>
        <p:spPr>
          <a:xfrm>
            <a:off x="985240" y="4778324"/>
            <a:ext cx="220623" cy="412331"/>
          </a:xfrm>
          <a:prstGeom prst="rect">
            <a:avLst/>
          </a:prstGeom>
        </p:spPr>
        <p:txBody>
          <a:bodyPr lIns="0" tIns="0" rIns="0" bIns="0" rtlCol="0" anchor="t">
            <a:spAutoFit/>
          </a:bodyPr>
          <a:lstStyle/>
          <a:p>
            <a:pPr marL="0" lvl="0" indent="0" algn="l">
              <a:lnSpc>
                <a:spcPts val="3251"/>
              </a:lnSpc>
              <a:spcBef>
                <a:spcPct val="0"/>
              </a:spcBef>
            </a:pPr>
            <a:r>
              <a:rPr lang="en-US" sz="2664" b="1" spc="18">
                <a:solidFill>
                  <a:srgbClr val="FFFFFF"/>
                </a:solidFill>
                <a:latin typeface="Proxima Nova Heavy"/>
                <a:ea typeface="Proxima Nova Heavy"/>
                <a:cs typeface="Proxima Nova Heavy"/>
                <a:sym typeface="Proxima Nova Heavy"/>
              </a:rPr>
              <a:t>2</a:t>
            </a:r>
          </a:p>
        </p:txBody>
      </p:sp>
      <p:sp>
        <p:nvSpPr>
          <p:cNvPr id="46" name="TextBox 46"/>
          <p:cNvSpPr txBox="1"/>
          <p:nvPr/>
        </p:nvSpPr>
        <p:spPr>
          <a:xfrm>
            <a:off x="985240" y="5954196"/>
            <a:ext cx="220623" cy="412331"/>
          </a:xfrm>
          <a:prstGeom prst="rect">
            <a:avLst/>
          </a:prstGeom>
        </p:spPr>
        <p:txBody>
          <a:bodyPr lIns="0" tIns="0" rIns="0" bIns="0" rtlCol="0" anchor="t">
            <a:spAutoFit/>
          </a:bodyPr>
          <a:lstStyle/>
          <a:p>
            <a:pPr marL="0" lvl="0" indent="0" algn="l">
              <a:lnSpc>
                <a:spcPts val="3251"/>
              </a:lnSpc>
              <a:spcBef>
                <a:spcPct val="0"/>
              </a:spcBef>
            </a:pPr>
            <a:r>
              <a:rPr lang="en-US" sz="2664" b="1" spc="18">
                <a:solidFill>
                  <a:srgbClr val="FFFFFF"/>
                </a:solidFill>
                <a:latin typeface="Proxima Nova Heavy"/>
                <a:ea typeface="Proxima Nova Heavy"/>
                <a:cs typeface="Proxima Nova Heavy"/>
                <a:sym typeface="Proxima Nova Heavy"/>
              </a:rPr>
              <a:t>3</a:t>
            </a:r>
          </a:p>
        </p:txBody>
      </p:sp>
      <p:sp>
        <p:nvSpPr>
          <p:cNvPr id="47" name="TextBox 47"/>
          <p:cNvSpPr txBox="1"/>
          <p:nvPr/>
        </p:nvSpPr>
        <p:spPr>
          <a:xfrm>
            <a:off x="985240" y="7125266"/>
            <a:ext cx="220623" cy="412331"/>
          </a:xfrm>
          <a:prstGeom prst="rect">
            <a:avLst/>
          </a:prstGeom>
        </p:spPr>
        <p:txBody>
          <a:bodyPr lIns="0" tIns="0" rIns="0" bIns="0" rtlCol="0" anchor="t">
            <a:spAutoFit/>
          </a:bodyPr>
          <a:lstStyle/>
          <a:p>
            <a:pPr marL="0" lvl="0" indent="0" algn="l">
              <a:lnSpc>
                <a:spcPts val="3251"/>
              </a:lnSpc>
              <a:spcBef>
                <a:spcPct val="0"/>
              </a:spcBef>
            </a:pPr>
            <a:r>
              <a:rPr lang="en-US" sz="2664" b="1" spc="18">
                <a:solidFill>
                  <a:srgbClr val="FFFFFF"/>
                </a:solidFill>
                <a:latin typeface="Proxima Nova Heavy"/>
                <a:ea typeface="Proxima Nova Heavy"/>
                <a:cs typeface="Proxima Nova Heavy"/>
                <a:sym typeface="Proxima Nova Heavy"/>
              </a:rPr>
              <a:t>4</a:t>
            </a:r>
          </a:p>
        </p:txBody>
      </p:sp>
      <p:sp>
        <p:nvSpPr>
          <p:cNvPr id="48" name="TextBox 48"/>
          <p:cNvSpPr txBox="1"/>
          <p:nvPr/>
        </p:nvSpPr>
        <p:spPr>
          <a:xfrm>
            <a:off x="8659295" y="3645531"/>
            <a:ext cx="220623" cy="412331"/>
          </a:xfrm>
          <a:prstGeom prst="rect">
            <a:avLst/>
          </a:prstGeom>
        </p:spPr>
        <p:txBody>
          <a:bodyPr lIns="0" tIns="0" rIns="0" bIns="0" rtlCol="0" anchor="t">
            <a:spAutoFit/>
          </a:bodyPr>
          <a:lstStyle/>
          <a:p>
            <a:pPr marL="0" lvl="0" indent="0" algn="l">
              <a:lnSpc>
                <a:spcPts val="3251"/>
              </a:lnSpc>
              <a:spcBef>
                <a:spcPct val="0"/>
              </a:spcBef>
            </a:pPr>
            <a:r>
              <a:rPr lang="en-US" sz="2664" b="1" spc="18">
                <a:solidFill>
                  <a:srgbClr val="FFFFFF"/>
                </a:solidFill>
                <a:latin typeface="Proxima Nova Heavy"/>
                <a:ea typeface="Proxima Nova Heavy"/>
                <a:cs typeface="Proxima Nova Heavy"/>
                <a:sym typeface="Proxima Nova Heavy"/>
              </a:rPr>
              <a:t>5</a:t>
            </a:r>
          </a:p>
        </p:txBody>
      </p:sp>
      <p:sp>
        <p:nvSpPr>
          <p:cNvPr id="49" name="TextBox 49"/>
          <p:cNvSpPr txBox="1"/>
          <p:nvPr/>
        </p:nvSpPr>
        <p:spPr>
          <a:xfrm>
            <a:off x="8659295" y="4821398"/>
            <a:ext cx="220623" cy="412331"/>
          </a:xfrm>
          <a:prstGeom prst="rect">
            <a:avLst/>
          </a:prstGeom>
        </p:spPr>
        <p:txBody>
          <a:bodyPr lIns="0" tIns="0" rIns="0" bIns="0" rtlCol="0" anchor="t">
            <a:spAutoFit/>
          </a:bodyPr>
          <a:lstStyle/>
          <a:p>
            <a:pPr marL="0" lvl="0" indent="0" algn="l">
              <a:lnSpc>
                <a:spcPts val="3251"/>
              </a:lnSpc>
              <a:spcBef>
                <a:spcPct val="0"/>
              </a:spcBef>
            </a:pPr>
            <a:r>
              <a:rPr lang="en-US" sz="2664" b="1" spc="18">
                <a:solidFill>
                  <a:srgbClr val="FFFFFF"/>
                </a:solidFill>
                <a:latin typeface="Proxima Nova Heavy"/>
                <a:ea typeface="Proxima Nova Heavy"/>
                <a:cs typeface="Proxima Nova Heavy"/>
                <a:sym typeface="Proxima Nova Heavy"/>
              </a:rPr>
              <a:t>6</a:t>
            </a:r>
          </a:p>
        </p:txBody>
      </p:sp>
      <p:sp>
        <p:nvSpPr>
          <p:cNvPr id="50" name="TextBox 50"/>
          <p:cNvSpPr txBox="1"/>
          <p:nvPr/>
        </p:nvSpPr>
        <p:spPr>
          <a:xfrm>
            <a:off x="8659295" y="5997270"/>
            <a:ext cx="220623" cy="412331"/>
          </a:xfrm>
          <a:prstGeom prst="rect">
            <a:avLst/>
          </a:prstGeom>
        </p:spPr>
        <p:txBody>
          <a:bodyPr lIns="0" tIns="0" rIns="0" bIns="0" rtlCol="0" anchor="t">
            <a:spAutoFit/>
          </a:bodyPr>
          <a:lstStyle/>
          <a:p>
            <a:pPr marL="0" lvl="0" indent="0" algn="l">
              <a:lnSpc>
                <a:spcPts val="3251"/>
              </a:lnSpc>
              <a:spcBef>
                <a:spcPct val="0"/>
              </a:spcBef>
            </a:pPr>
            <a:r>
              <a:rPr lang="en-US" sz="2664" b="1" spc="18">
                <a:solidFill>
                  <a:srgbClr val="FFFFFF"/>
                </a:solidFill>
                <a:latin typeface="Proxima Nova Heavy"/>
                <a:ea typeface="Proxima Nova Heavy"/>
                <a:cs typeface="Proxima Nova Heavy"/>
                <a:sym typeface="Proxima Nova Heavy"/>
              </a:rPr>
              <a:t>7</a:t>
            </a:r>
          </a:p>
        </p:txBody>
      </p:sp>
      <p:sp>
        <p:nvSpPr>
          <p:cNvPr id="51" name="TextBox 51"/>
          <p:cNvSpPr txBox="1"/>
          <p:nvPr/>
        </p:nvSpPr>
        <p:spPr>
          <a:xfrm>
            <a:off x="198311" y="220550"/>
            <a:ext cx="7474008" cy="321267"/>
          </a:xfrm>
          <a:prstGeom prst="rect">
            <a:avLst/>
          </a:prstGeom>
        </p:spPr>
        <p:txBody>
          <a:bodyPr lIns="0" tIns="0" rIns="0" bIns="0" rtlCol="0" anchor="t">
            <a:spAutoFit/>
          </a:bodyPr>
          <a:lstStyle/>
          <a:p>
            <a:pPr algn="l">
              <a:lnSpc>
                <a:spcPts val="2482"/>
              </a:lnSpc>
            </a:pPr>
            <a:r>
              <a:rPr lang="en-US" sz="2364" b="1">
                <a:solidFill>
                  <a:srgbClr val="006DAC"/>
                </a:solidFill>
                <a:latin typeface="Proxima Nova Bold"/>
                <a:ea typeface="Proxima Nova Bold"/>
                <a:cs typeface="Proxima Nova Bold"/>
                <a:sym typeface="Proxima Nova Bold"/>
              </a:rPr>
              <a:t>Presented by → Beatriz Marques</a:t>
            </a:r>
          </a:p>
        </p:txBody>
      </p:sp>
    </p:spTree>
  </p:cSld>
  <p:clrMapOvr>
    <a:masterClrMapping/>
  </p:clrMapOvr>
  <p:transition spd="slow">
    <p:push/>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3AFCA"/>
        </a:solidFill>
        <a:effectLst/>
      </p:bgPr>
    </p:bg>
    <p:spTree>
      <p:nvGrpSpPr>
        <p:cNvPr id="1" name=""/>
        <p:cNvGrpSpPr/>
        <p:nvPr/>
      </p:nvGrpSpPr>
      <p:grpSpPr>
        <a:xfrm>
          <a:off x="0" y="0"/>
          <a:ext cx="0" cy="0"/>
          <a:chOff x="0" y="0"/>
          <a:chExt cx="0" cy="0"/>
        </a:xfrm>
      </p:grpSpPr>
      <p:sp>
        <p:nvSpPr>
          <p:cNvPr id="2" name="TextBox 2"/>
          <p:cNvSpPr txBox="1"/>
          <p:nvPr/>
        </p:nvSpPr>
        <p:spPr>
          <a:xfrm>
            <a:off x="7420315" y="4632643"/>
            <a:ext cx="3447371" cy="1002665"/>
          </a:xfrm>
          <a:prstGeom prst="rect">
            <a:avLst/>
          </a:prstGeom>
        </p:spPr>
        <p:txBody>
          <a:bodyPr lIns="0" tIns="0" rIns="0" bIns="0" rtlCol="0" anchor="t">
            <a:spAutoFit/>
          </a:bodyPr>
          <a:lstStyle/>
          <a:p>
            <a:pPr algn="l">
              <a:lnSpc>
                <a:spcPts val="7930"/>
              </a:lnSpc>
              <a:spcBef>
                <a:spcPct val="0"/>
              </a:spcBef>
            </a:pPr>
            <a:r>
              <a:rPr lang="en-US" sz="6500" b="1">
                <a:solidFill>
                  <a:srgbClr val="FFFFFF"/>
                </a:solidFill>
                <a:latin typeface="Proxima Nova Heavy"/>
                <a:ea typeface="Proxima Nova Heavy"/>
                <a:cs typeface="Proxima Nova Heavy"/>
                <a:sym typeface="Proxima Nova Heavy"/>
              </a:rPr>
              <a:t>1. TEAM</a:t>
            </a:r>
          </a:p>
        </p:txBody>
      </p:sp>
      <p:sp>
        <p:nvSpPr>
          <p:cNvPr id="3" name="Freeform 3"/>
          <p:cNvSpPr/>
          <p:nvPr/>
        </p:nvSpPr>
        <p:spPr>
          <a:xfrm>
            <a:off x="-753219" y="6663269"/>
            <a:ext cx="16347068" cy="1328199"/>
          </a:xfrm>
          <a:custGeom>
            <a:avLst/>
            <a:gdLst/>
            <a:ahLst/>
            <a:cxnLst/>
            <a:rect l="l" t="t" r="r" b="b"/>
            <a:pathLst>
              <a:path w="16347068" h="1328199">
                <a:moveTo>
                  <a:pt x="0" y="0"/>
                </a:moveTo>
                <a:lnTo>
                  <a:pt x="16347068" y="0"/>
                </a:lnTo>
                <a:lnTo>
                  <a:pt x="16347068" y="1328199"/>
                </a:lnTo>
                <a:lnTo>
                  <a:pt x="0" y="132819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rot="-10800000">
            <a:off x="3708004" y="1928403"/>
            <a:ext cx="16347068" cy="1328199"/>
          </a:xfrm>
          <a:custGeom>
            <a:avLst/>
            <a:gdLst/>
            <a:ahLst/>
            <a:cxnLst/>
            <a:rect l="l" t="t" r="r" b="b"/>
            <a:pathLst>
              <a:path w="16347068" h="1328199">
                <a:moveTo>
                  <a:pt x="0" y="0"/>
                </a:moveTo>
                <a:lnTo>
                  <a:pt x="16347068" y="0"/>
                </a:lnTo>
                <a:lnTo>
                  <a:pt x="16347068" y="1328199"/>
                </a:lnTo>
                <a:lnTo>
                  <a:pt x="0" y="132819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Tree>
  </p:cSld>
  <p:clrMapOvr>
    <a:masterClrMapping/>
  </p:clrMapOvr>
  <p:transition spd="slow">
    <p:push/>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259300" y="392904"/>
            <a:ext cx="1660777" cy="683592"/>
            <a:chOff x="0" y="0"/>
            <a:chExt cx="437406" cy="180041"/>
          </a:xfrm>
        </p:grpSpPr>
        <p:sp>
          <p:nvSpPr>
            <p:cNvPr id="3" name="Freeform 3"/>
            <p:cNvSpPr/>
            <p:nvPr/>
          </p:nvSpPr>
          <p:spPr>
            <a:xfrm>
              <a:off x="0" y="0"/>
              <a:ext cx="437406" cy="180041"/>
            </a:xfrm>
            <a:custGeom>
              <a:avLst/>
              <a:gdLst/>
              <a:ahLst/>
              <a:cxnLst/>
              <a:rect l="l" t="t" r="r" b="b"/>
              <a:pathLst>
                <a:path w="437406" h="180041">
                  <a:moveTo>
                    <a:pt x="0" y="0"/>
                  </a:moveTo>
                  <a:lnTo>
                    <a:pt x="437406" y="0"/>
                  </a:lnTo>
                  <a:lnTo>
                    <a:pt x="437406" y="180041"/>
                  </a:lnTo>
                  <a:lnTo>
                    <a:pt x="0" y="180041"/>
                  </a:lnTo>
                  <a:close/>
                </a:path>
              </a:pathLst>
            </a:custGeom>
            <a:solidFill>
              <a:srgbClr val="0CC0DF"/>
            </a:solidFill>
          </p:spPr>
        </p:sp>
        <p:sp>
          <p:nvSpPr>
            <p:cNvPr id="4" name="TextBox 4"/>
            <p:cNvSpPr txBox="1"/>
            <p:nvPr/>
          </p:nvSpPr>
          <p:spPr>
            <a:xfrm>
              <a:off x="0" y="-47625"/>
              <a:ext cx="437406" cy="227666"/>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6642384" y="440700"/>
            <a:ext cx="374220" cy="635796"/>
            <a:chOff x="0" y="0"/>
            <a:chExt cx="98560" cy="167453"/>
          </a:xfrm>
        </p:grpSpPr>
        <p:sp>
          <p:nvSpPr>
            <p:cNvPr id="6" name="Freeform 6"/>
            <p:cNvSpPr/>
            <p:nvPr/>
          </p:nvSpPr>
          <p:spPr>
            <a:xfrm>
              <a:off x="0" y="0"/>
              <a:ext cx="98560" cy="167453"/>
            </a:xfrm>
            <a:custGeom>
              <a:avLst/>
              <a:gdLst/>
              <a:ahLst/>
              <a:cxnLst/>
              <a:rect l="l" t="t" r="r" b="b"/>
              <a:pathLst>
                <a:path w="98560" h="167453">
                  <a:moveTo>
                    <a:pt x="0" y="0"/>
                  </a:moveTo>
                  <a:lnTo>
                    <a:pt x="98560" y="0"/>
                  </a:lnTo>
                  <a:lnTo>
                    <a:pt x="98560" y="167453"/>
                  </a:lnTo>
                  <a:lnTo>
                    <a:pt x="0" y="167453"/>
                  </a:lnTo>
                  <a:close/>
                </a:path>
              </a:pathLst>
            </a:custGeom>
            <a:solidFill>
              <a:srgbClr val="006DAC"/>
            </a:solidFill>
          </p:spPr>
        </p:sp>
        <p:sp>
          <p:nvSpPr>
            <p:cNvPr id="7" name="TextBox 7"/>
            <p:cNvSpPr txBox="1"/>
            <p:nvPr/>
          </p:nvSpPr>
          <p:spPr>
            <a:xfrm>
              <a:off x="0" y="-47625"/>
              <a:ext cx="98560" cy="215078"/>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7692744" y="3124318"/>
            <a:ext cx="2906616" cy="5772032"/>
            <a:chOff x="0" y="0"/>
            <a:chExt cx="765528" cy="1520206"/>
          </a:xfrm>
        </p:grpSpPr>
        <p:sp>
          <p:nvSpPr>
            <p:cNvPr id="9" name="Freeform 9"/>
            <p:cNvSpPr/>
            <p:nvPr/>
          </p:nvSpPr>
          <p:spPr>
            <a:xfrm>
              <a:off x="0" y="0"/>
              <a:ext cx="765528" cy="1520206"/>
            </a:xfrm>
            <a:custGeom>
              <a:avLst/>
              <a:gdLst/>
              <a:ahLst/>
              <a:cxnLst/>
              <a:rect l="l" t="t" r="r" b="b"/>
              <a:pathLst>
                <a:path w="765528" h="1520206">
                  <a:moveTo>
                    <a:pt x="61262" y="0"/>
                  </a:moveTo>
                  <a:lnTo>
                    <a:pt x="704267" y="0"/>
                  </a:lnTo>
                  <a:cubicBezTo>
                    <a:pt x="738101" y="0"/>
                    <a:pt x="765528" y="27428"/>
                    <a:pt x="765528" y="61262"/>
                  </a:cubicBezTo>
                  <a:lnTo>
                    <a:pt x="765528" y="1458944"/>
                  </a:lnTo>
                  <a:cubicBezTo>
                    <a:pt x="765528" y="1492778"/>
                    <a:pt x="738101" y="1520206"/>
                    <a:pt x="704267" y="1520206"/>
                  </a:cubicBezTo>
                  <a:lnTo>
                    <a:pt x="61262" y="1520206"/>
                  </a:lnTo>
                  <a:cubicBezTo>
                    <a:pt x="27428" y="1520206"/>
                    <a:pt x="0" y="1492778"/>
                    <a:pt x="0" y="1458944"/>
                  </a:cubicBezTo>
                  <a:lnTo>
                    <a:pt x="0" y="61262"/>
                  </a:lnTo>
                  <a:cubicBezTo>
                    <a:pt x="0" y="27428"/>
                    <a:pt x="27428" y="0"/>
                    <a:pt x="61262" y="0"/>
                  </a:cubicBezTo>
                  <a:close/>
                </a:path>
              </a:pathLst>
            </a:custGeom>
            <a:solidFill>
              <a:srgbClr val="EFEFEF"/>
            </a:solidFill>
          </p:spPr>
        </p:sp>
        <p:sp>
          <p:nvSpPr>
            <p:cNvPr id="10" name="TextBox 10"/>
            <p:cNvSpPr txBox="1"/>
            <p:nvPr/>
          </p:nvSpPr>
          <p:spPr>
            <a:xfrm>
              <a:off x="0" y="-47625"/>
              <a:ext cx="765528" cy="1567831"/>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7829922" y="3238879"/>
            <a:ext cx="2628521" cy="2628521"/>
            <a:chOff x="0" y="0"/>
            <a:chExt cx="812800" cy="812800"/>
          </a:xfrm>
        </p:grpSpPr>
        <p:sp>
          <p:nvSpPr>
            <p:cNvPr id="12" name="Freeform 12"/>
            <p:cNvSpPr/>
            <p:nvPr/>
          </p:nvSpPr>
          <p:spPr>
            <a:xfrm>
              <a:off x="0" y="0"/>
              <a:ext cx="812800" cy="812800"/>
            </a:xfrm>
            <a:custGeom>
              <a:avLst/>
              <a:gdLst/>
              <a:ahLst/>
              <a:cxnLst/>
              <a:rect l="l" t="t" r="r" b="b"/>
              <a:pathLst>
                <a:path w="812800" h="812800">
                  <a:moveTo>
                    <a:pt x="67743" y="0"/>
                  </a:moveTo>
                  <a:lnTo>
                    <a:pt x="745057" y="0"/>
                  </a:lnTo>
                  <a:cubicBezTo>
                    <a:pt x="782470" y="0"/>
                    <a:pt x="812800" y="30330"/>
                    <a:pt x="812800" y="67743"/>
                  </a:cubicBezTo>
                  <a:lnTo>
                    <a:pt x="812800" y="745057"/>
                  </a:lnTo>
                  <a:cubicBezTo>
                    <a:pt x="812800" y="782470"/>
                    <a:pt x="782470" y="812800"/>
                    <a:pt x="745057" y="812800"/>
                  </a:cubicBezTo>
                  <a:lnTo>
                    <a:pt x="67743" y="812800"/>
                  </a:lnTo>
                  <a:cubicBezTo>
                    <a:pt x="30330" y="812800"/>
                    <a:pt x="0" y="782470"/>
                    <a:pt x="0" y="745057"/>
                  </a:cubicBezTo>
                  <a:lnTo>
                    <a:pt x="0" y="67743"/>
                  </a:lnTo>
                  <a:cubicBezTo>
                    <a:pt x="0" y="30330"/>
                    <a:pt x="30330" y="0"/>
                    <a:pt x="67743" y="0"/>
                  </a:cubicBezTo>
                  <a:close/>
                </a:path>
              </a:pathLst>
            </a:custGeom>
            <a:blipFill>
              <a:blip r:embed="rId2"/>
              <a:stretch>
                <a:fillRect l="-419" r="-7437" b="-6960"/>
              </a:stretch>
            </a:blipFill>
          </p:spPr>
        </p:sp>
      </p:grpSp>
      <p:grpSp>
        <p:nvGrpSpPr>
          <p:cNvPr id="13" name="Group 13"/>
          <p:cNvGrpSpPr/>
          <p:nvPr/>
        </p:nvGrpSpPr>
        <p:grpSpPr>
          <a:xfrm>
            <a:off x="1042819" y="3124318"/>
            <a:ext cx="2906616" cy="5772032"/>
            <a:chOff x="0" y="0"/>
            <a:chExt cx="765528" cy="1520206"/>
          </a:xfrm>
        </p:grpSpPr>
        <p:sp>
          <p:nvSpPr>
            <p:cNvPr id="14" name="Freeform 14"/>
            <p:cNvSpPr/>
            <p:nvPr/>
          </p:nvSpPr>
          <p:spPr>
            <a:xfrm>
              <a:off x="0" y="0"/>
              <a:ext cx="765528" cy="1520206"/>
            </a:xfrm>
            <a:custGeom>
              <a:avLst/>
              <a:gdLst/>
              <a:ahLst/>
              <a:cxnLst/>
              <a:rect l="l" t="t" r="r" b="b"/>
              <a:pathLst>
                <a:path w="765528" h="1520206">
                  <a:moveTo>
                    <a:pt x="61262" y="0"/>
                  </a:moveTo>
                  <a:lnTo>
                    <a:pt x="704267" y="0"/>
                  </a:lnTo>
                  <a:cubicBezTo>
                    <a:pt x="738101" y="0"/>
                    <a:pt x="765528" y="27428"/>
                    <a:pt x="765528" y="61262"/>
                  </a:cubicBezTo>
                  <a:lnTo>
                    <a:pt x="765528" y="1458944"/>
                  </a:lnTo>
                  <a:cubicBezTo>
                    <a:pt x="765528" y="1492778"/>
                    <a:pt x="738101" y="1520206"/>
                    <a:pt x="704267" y="1520206"/>
                  </a:cubicBezTo>
                  <a:lnTo>
                    <a:pt x="61262" y="1520206"/>
                  </a:lnTo>
                  <a:cubicBezTo>
                    <a:pt x="27428" y="1520206"/>
                    <a:pt x="0" y="1492778"/>
                    <a:pt x="0" y="1458944"/>
                  </a:cubicBezTo>
                  <a:lnTo>
                    <a:pt x="0" y="61262"/>
                  </a:lnTo>
                  <a:cubicBezTo>
                    <a:pt x="0" y="27428"/>
                    <a:pt x="27428" y="0"/>
                    <a:pt x="61262" y="0"/>
                  </a:cubicBezTo>
                  <a:close/>
                </a:path>
              </a:pathLst>
            </a:custGeom>
            <a:solidFill>
              <a:srgbClr val="EFEFEF"/>
            </a:solidFill>
          </p:spPr>
        </p:sp>
        <p:sp>
          <p:nvSpPr>
            <p:cNvPr id="15" name="TextBox 15"/>
            <p:cNvSpPr txBox="1"/>
            <p:nvPr/>
          </p:nvSpPr>
          <p:spPr>
            <a:xfrm>
              <a:off x="0" y="-47625"/>
              <a:ext cx="765528" cy="1567831"/>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4367028" y="3124318"/>
            <a:ext cx="2906616" cy="5772032"/>
            <a:chOff x="0" y="0"/>
            <a:chExt cx="765528" cy="1520206"/>
          </a:xfrm>
        </p:grpSpPr>
        <p:sp>
          <p:nvSpPr>
            <p:cNvPr id="17" name="Freeform 17"/>
            <p:cNvSpPr/>
            <p:nvPr/>
          </p:nvSpPr>
          <p:spPr>
            <a:xfrm>
              <a:off x="0" y="0"/>
              <a:ext cx="765528" cy="1520206"/>
            </a:xfrm>
            <a:custGeom>
              <a:avLst/>
              <a:gdLst/>
              <a:ahLst/>
              <a:cxnLst/>
              <a:rect l="l" t="t" r="r" b="b"/>
              <a:pathLst>
                <a:path w="765528" h="1520206">
                  <a:moveTo>
                    <a:pt x="61262" y="0"/>
                  </a:moveTo>
                  <a:lnTo>
                    <a:pt x="704267" y="0"/>
                  </a:lnTo>
                  <a:cubicBezTo>
                    <a:pt x="738101" y="0"/>
                    <a:pt x="765528" y="27428"/>
                    <a:pt x="765528" y="61262"/>
                  </a:cubicBezTo>
                  <a:lnTo>
                    <a:pt x="765528" y="1458944"/>
                  </a:lnTo>
                  <a:cubicBezTo>
                    <a:pt x="765528" y="1492778"/>
                    <a:pt x="738101" y="1520206"/>
                    <a:pt x="704267" y="1520206"/>
                  </a:cubicBezTo>
                  <a:lnTo>
                    <a:pt x="61262" y="1520206"/>
                  </a:lnTo>
                  <a:cubicBezTo>
                    <a:pt x="27428" y="1520206"/>
                    <a:pt x="0" y="1492778"/>
                    <a:pt x="0" y="1458944"/>
                  </a:cubicBezTo>
                  <a:lnTo>
                    <a:pt x="0" y="61262"/>
                  </a:lnTo>
                  <a:cubicBezTo>
                    <a:pt x="0" y="27428"/>
                    <a:pt x="27428" y="0"/>
                    <a:pt x="61262" y="0"/>
                  </a:cubicBezTo>
                  <a:close/>
                </a:path>
              </a:pathLst>
            </a:custGeom>
            <a:solidFill>
              <a:srgbClr val="EFEFEF"/>
            </a:solidFill>
          </p:spPr>
        </p:sp>
        <p:sp>
          <p:nvSpPr>
            <p:cNvPr id="18" name="TextBox 18"/>
            <p:cNvSpPr txBox="1"/>
            <p:nvPr/>
          </p:nvSpPr>
          <p:spPr>
            <a:xfrm>
              <a:off x="0" y="-47625"/>
              <a:ext cx="765528" cy="1567831"/>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4506076" y="3238879"/>
            <a:ext cx="2628521" cy="2628521"/>
            <a:chOff x="0" y="0"/>
            <a:chExt cx="812800" cy="812800"/>
          </a:xfrm>
        </p:grpSpPr>
        <p:sp>
          <p:nvSpPr>
            <p:cNvPr id="20" name="Freeform 20"/>
            <p:cNvSpPr/>
            <p:nvPr/>
          </p:nvSpPr>
          <p:spPr>
            <a:xfrm>
              <a:off x="0" y="0"/>
              <a:ext cx="812800" cy="812800"/>
            </a:xfrm>
            <a:custGeom>
              <a:avLst/>
              <a:gdLst/>
              <a:ahLst/>
              <a:cxnLst/>
              <a:rect l="l" t="t" r="r" b="b"/>
              <a:pathLst>
                <a:path w="812800" h="812800">
                  <a:moveTo>
                    <a:pt x="67743" y="0"/>
                  </a:moveTo>
                  <a:lnTo>
                    <a:pt x="745057" y="0"/>
                  </a:lnTo>
                  <a:cubicBezTo>
                    <a:pt x="782470" y="0"/>
                    <a:pt x="812800" y="30330"/>
                    <a:pt x="812800" y="67743"/>
                  </a:cubicBezTo>
                  <a:lnTo>
                    <a:pt x="812800" y="745057"/>
                  </a:lnTo>
                  <a:cubicBezTo>
                    <a:pt x="812800" y="782470"/>
                    <a:pt x="782470" y="812800"/>
                    <a:pt x="745057" y="812800"/>
                  </a:cubicBezTo>
                  <a:lnTo>
                    <a:pt x="67743" y="812800"/>
                  </a:lnTo>
                  <a:cubicBezTo>
                    <a:pt x="30330" y="812800"/>
                    <a:pt x="0" y="782470"/>
                    <a:pt x="0" y="745057"/>
                  </a:cubicBezTo>
                  <a:lnTo>
                    <a:pt x="0" y="67743"/>
                  </a:lnTo>
                  <a:cubicBezTo>
                    <a:pt x="0" y="30330"/>
                    <a:pt x="30330" y="0"/>
                    <a:pt x="67743" y="0"/>
                  </a:cubicBezTo>
                  <a:close/>
                </a:path>
              </a:pathLst>
            </a:custGeom>
            <a:blipFill>
              <a:blip r:embed="rId3"/>
              <a:stretch>
                <a:fillRect l="-2325" r="-2325"/>
              </a:stretch>
            </a:blipFill>
          </p:spPr>
        </p:sp>
      </p:grpSp>
      <p:grpSp>
        <p:nvGrpSpPr>
          <p:cNvPr id="21" name="Group 21"/>
          <p:cNvGrpSpPr/>
          <p:nvPr/>
        </p:nvGrpSpPr>
        <p:grpSpPr>
          <a:xfrm>
            <a:off x="1181867" y="3238879"/>
            <a:ext cx="2628521" cy="2628521"/>
            <a:chOff x="0" y="0"/>
            <a:chExt cx="812800" cy="812800"/>
          </a:xfrm>
        </p:grpSpPr>
        <p:sp>
          <p:nvSpPr>
            <p:cNvPr id="22" name="Freeform 22"/>
            <p:cNvSpPr/>
            <p:nvPr/>
          </p:nvSpPr>
          <p:spPr>
            <a:xfrm>
              <a:off x="0" y="0"/>
              <a:ext cx="812800" cy="812800"/>
            </a:xfrm>
            <a:custGeom>
              <a:avLst/>
              <a:gdLst/>
              <a:ahLst/>
              <a:cxnLst/>
              <a:rect l="l" t="t" r="r" b="b"/>
              <a:pathLst>
                <a:path w="812800" h="812800">
                  <a:moveTo>
                    <a:pt x="67743" y="0"/>
                  </a:moveTo>
                  <a:lnTo>
                    <a:pt x="745057" y="0"/>
                  </a:lnTo>
                  <a:cubicBezTo>
                    <a:pt x="782470" y="0"/>
                    <a:pt x="812800" y="30330"/>
                    <a:pt x="812800" y="67743"/>
                  </a:cubicBezTo>
                  <a:lnTo>
                    <a:pt x="812800" y="745057"/>
                  </a:lnTo>
                  <a:cubicBezTo>
                    <a:pt x="812800" y="782470"/>
                    <a:pt x="782470" y="812800"/>
                    <a:pt x="745057" y="812800"/>
                  </a:cubicBezTo>
                  <a:lnTo>
                    <a:pt x="67743" y="812800"/>
                  </a:lnTo>
                  <a:cubicBezTo>
                    <a:pt x="30330" y="812800"/>
                    <a:pt x="0" y="782470"/>
                    <a:pt x="0" y="745057"/>
                  </a:cubicBezTo>
                  <a:lnTo>
                    <a:pt x="0" y="67743"/>
                  </a:lnTo>
                  <a:cubicBezTo>
                    <a:pt x="0" y="30330"/>
                    <a:pt x="30330" y="0"/>
                    <a:pt x="67743" y="0"/>
                  </a:cubicBezTo>
                  <a:close/>
                </a:path>
              </a:pathLst>
            </a:custGeom>
            <a:blipFill>
              <a:blip r:embed="rId4"/>
              <a:stretch>
                <a:fillRect l="-2967" r="-2967"/>
              </a:stretch>
            </a:blipFill>
          </p:spPr>
        </p:sp>
      </p:grpSp>
      <p:grpSp>
        <p:nvGrpSpPr>
          <p:cNvPr id="23" name="Group 23"/>
          <p:cNvGrpSpPr/>
          <p:nvPr/>
        </p:nvGrpSpPr>
        <p:grpSpPr>
          <a:xfrm>
            <a:off x="11014720" y="3124318"/>
            <a:ext cx="2906616" cy="5772032"/>
            <a:chOff x="0" y="0"/>
            <a:chExt cx="765528" cy="1520206"/>
          </a:xfrm>
        </p:grpSpPr>
        <p:sp>
          <p:nvSpPr>
            <p:cNvPr id="24" name="Freeform 24"/>
            <p:cNvSpPr/>
            <p:nvPr/>
          </p:nvSpPr>
          <p:spPr>
            <a:xfrm>
              <a:off x="0" y="0"/>
              <a:ext cx="765528" cy="1520206"/>
            </a:xfrm>
            <a:custGeom>
              <a:avLst/>
              <a:gdLst/>
              <a:ahLst/>
              <a:cxnLst/>
              <a:rect l="l" t="t" r="r" b="b"/>
              <a:pathLst>
                <a:path w="765528" h="1520206">
                  <a:moveTo>
                    <a:pt x="61262" y="0"/>
                  </a:moveTo>
                  <a:lnTo>
                    <a:pt x="704267" y="0"/>
                  </a:lnTo>
                  <a:cubicBezTo>
                    <a:pt x="738101" y="0"/>
                    <a:pt x="765528" y="27428"/>
                    <a:pt x="765528" y="61262"/>
                  </a:cubicBezTo>
                  <a:lnTo>
                    <a:pt x="765528" y="1458944"/>
                  </a:lnTo>
                  <a:cubicBezTo>
                    <a:pt x="765528" y="1492778"/>
                    <a:pt x="738101" y="1520206"/>
                    <a:pt x="704267" y="1520206"/>
                  </a:cubicBezTo>
                  <a:lnTo>
                    <a:pt x="61262" y="1520206"/>
                  </a:lnTo>
                  <a:cubicBezTo>
                    <a:pt x="27428" y="1520206"/>
                    <a:pt x="0" y="1492778"/>
                    <a:pt x="0" y="1458944"/>
                  </a:cubicBezTo>
                  <a:lnTo>
                    <a:pt x="0" y="61262"/>
                  </a:lnTo>
                  <a:cubicBezTo>
                    <a:pt x="0" y="27428"/>
                    <a:pt x="27428" y="0"/>
                    <a:pt x="61262" y="0"/>
                  </a:cubicBezTo>
                  <a:close/>
                </a:path>
              </a:pathLst>
            </a:custGeom>
            <a:solidFill>
              <a:srgbClr val="EFEFEF"/>
            </a:solidFill>
          </p:spPr>
        </p:sp>
        <p:sp>
          <p:nvSpPr>
            <p:cNvPr id="25" name="TextBox 25"/>
            <p:cNvSpPr txBox="1"/>
            <p:nvPr/>
          </p:nvSpPr>
          <p:spPr>
            <a:xfrm>
              <a:off x="0" y="-47625"/>
              <a:ext cx="765528" cy="1567831"/>
            </a:xfrm>
            <a:prstGeom prst="rect">
              <a:avLst/>
            </a:prstGeom>
          </p:spPr>
          <p:txBody>
            <a:bodyPr lIns="50800" tIns="50800" rIns="50800" bIns="50800" rtlCol="0" anchor="ctr"/>
            <a:lstStyle/>
            <a:p>
              <a:pPr algn="ctr">
                <a:lnSpc>
                  <a:spcPts val="2659"/>
                </a:lnSpc>
              </a:pPr>
              <a:endParaRPr/>
            </a:p>
          </p:txBody>
        </p:sp>
      </p:grpSp>
      <p:grpSp>
        <p:nvGrpSpPr>
          <p:cNvPr id="26" name="Group 26"/>
          <p:cNvGrpSpPr/>
          <p:nvPr/>
        </p:nvGrpSpPr>
        <p:grpSpPr>
          <a:xfrm>
            <a:off x="11153767" y="3238879"/>
            <a:ext cx="2628521" cy="2628521"/>
            <a:chOff x="0" y="0"/>
            <a:chExt cx="812800" cy="812800"/>
          </a:xfrm>
        </p:grpSpPr>
        <p:sp>
          <p:nvSpPr>
            <p:cNvPr id="27" name="Freeform 27"/>
            <p:cNvSpPr/>
            <p:nvPr/>
          </p:nvSpPr>
          <p:spPr>
            <a:xfrm>
              <a:off x="0" y="0"/>
              <a:ext cx="812800" cy="812800"/>
            </a:xfrm>
            <a:custGeom>
              <a:avLst/>
              <a:gdLst/>
              <a:ahLst/>
              <a:cxnLst/>
              <a:rect l="l" t="t" r="r" b="b"/>
              <a:pathLst>
                <a:path w="812800" h="812800">
                  <a:moveTo>
                    <a:pt x="67743" y="0"/>
                  </a:moveTo>
                  <a:lnTo>
                    <a:pt x="745057" y="0"/>
                  </a:lnTo>
                  <a:cubicBezTo>
                    <a:pt x="782470" y="0"/>
                    <a:pt x="812800" y="30330"/>
                    <a:pt x="812800" y="67743"/>
                  </a:cubicBezTo>
                  <a:lnTo>
                    <a:pt x="812800" y="745057"/>
                  </a:lnTo>
                  <a:cubicBezTo>
                    <a:pt x="812800" y="782470"/>
                    <a:pt x="782470" y="812800"/>
                    <a:pt x="745057" y="812800"/>
                  </a:cubicBezTo>
                  <a:lnTo>
                    <a:pt x="67743" y="812800"/>
                  </a:lnTo>
                  <a:cubicBezTo>
                    <a:pt x="30330" y="812800"/>
                    <a:pt x="0" y="782470"/>
                    <a:pt x="0" y="745057"/>
                  </a:cubicBezTo>
                  <a:lnTo>
                    <a:pt x="0" y="67743"/>
                  </a:lnTo>
                  <a:cubicBezTo>
                    <a:pt x="0" y="30330"/>
                    <a:pt x="30330" y="0"/>
                    <a:pt x="67743" y="0"/>
                  </a:cubicBezTo>
                  <a:close/>
                </a:path>
              </a:pathLst>
            </a:custGeom>
            <a:blipFill>
              <a:blip r:embed="rId5"/>
              <a:stretch>
                <a:fillRect t="-2546" b="-2546"/>
              </a:stretch>
            </a:blipFill>
          </p:spPr>
        </p:sp>
      </p:grpSp>
      <p:grpSp>
        <p:nvGrpSpPr>
          <p:cNvPr id="28" name="Group 28"/>
          <p:cNvGrpSpPr/>
          <p:nvPr/>
        </p:nvGrpSpPr>
        <p:grpSpPr>
          <a:xfrm>
            <a:off x="14338565" y="3124318"/>
            <a:ext cx="2906616" cy="5772032"/>
            <a:chOff x="0" y="0"/>
            <a:chExt cx="765528" cy="1520206"/>
          </a:xfrm>
        </p:grpSpPr>
        <p:sp>
          <p:nvSpPr>
            <p:cNvPr id="29" name="Freeform 29"/>
            <p:cNvSpPr/>
            <p:nvPr/>
          </p:nvSpPr>
          <p:spPr>
            <a:xfrm>
              <a:off x="0" y="0"/>
              <a:ext cx="765528" cy="1520206"/>
            </a:xfrm>
            <a:custGeom>
              <a:avLst/>
              <a:gdLst/>
              <a:ahLst/>
              <a:cxnLst/>
              <a:rect l="l" t="t" r="r" b="b"/>
              <a:pathLst>
                <a:path w="765528" h="1520206">
                  <a:moveTo>
                    <a:pt x="61262" y="0"/>
                  </a:moveTo>
                  <a:lnTo>
                    <a:pt x="704267" y="0"/>
                  </a:lnTo>
                  <a:cubicBezTo>
                    <a:pt x="738101" y="0"/>
                    <a:pt x="765528" y="27428"/>
                    <a:pt x="765528" y="61262"/>
                  </a:cubicBezTo>
                  <a:lnTo>
                    <a:pt x="765528" y="1458944"/>
                  </a:lnTo>
                  <a:cubicBezTo>
                    <a:pt x="765528" y="1492778"/>
                    <a:pt x="738101" y="1520206"/>
                    <a:pt x="704267" y="1520206"/>
                  </a:cubicBezTo>
                  <a:lnTo>
                    <a:pt x="61262" y="1520206"/>
                  </a:lnTo>
                  <a:cubicBezTo>
                    <a:pt x="27428" y="1520206"/>
                    <a:pt x="0" y="1492778"/>
                    <a:pt x="0" y="1458944"/>
                  </a:cubicBezTo>
                  <a:lnTo>
                    <a:pt x="0" y="61262"/>
                  </a:lnTo>
                  <a:cubicBezTo>
                    <a:pt x="0" y="27428"/>
                    <a:pt x="27428" y="0"/>
                    <a:pt x="61262" y="0"/>
                  </a:cubicBezTo>
                  <a:close/>
                </a:path>
              </a:pathLst>
            </a:custGeom>
            <a:solidFill>
              <a:srgbClr val="EFEFEF"/>
            </a:solidFill>
          </p:spPr>
        </p:sp>
        <p:sp>
          <p:nvSpPr>
            <p:cNvPr id="30" name="TextBox 30"/>
            <p:cNvSpPr txBox="1"/>
            <p:nvPr/>
          </p:nvSpPr>
          <p:spPr>
            <a:xfrm>
              <a:off x="0" y="-47625"/>
              <a:ext cx="765528" cy="1567831"/>
            </a:xfrm>
            <a:prstGeom prst="rect">
              <a:avLst/>
            </a:prstGeom>
          </p:spPr>
          <p:txBody>
            <a:bodyPr lIns="50800" tIns="50800" rIns="50800" bIns="50800" rtlCol="0" anchor="ctr"/>
            <a:lstStyle/>
            <a:p>
              <a:pPr algn="ctr">
                <a:lnSpc>
                  <a:spcPts val="2659"/>
                </a:lnSpc>
              </a:pPr>
              <a:endParaRPr/>
            </a:p>
          </p:txBody>
        </p:sp>
      </p:grpSp>
      <p:grpSp>
        <p:nvGrpSpPr>
          <p:cNvPr id="31" name="Group 31"/>
          <p:cNvGrpSpPr/>
          <p:nvPr/>
        </p:nvGrpSpPr>
        <p:grpSpPr>
          <a:xfrm>
            <a:off x="14477613" y="3238879"/>
            <a:ext cx="2628521" cy="2628521"/>
            <a:chOff x="0" y="0"/>
            <a:chExt cx="812800" cy="812800"/>
          </a:xfrm>
        </p:grpSpPr>
        <p:sp>
          <p:nvSpPr>
            <p:cNvPr id="32" name="Freeform 32"/>
            <p:cNvSpPr/>
            <p:nvPr/>
          </p:nvSpPr>
          <p:spPr>
            <a:xfrm>
              <a:off x="0" y="0"/>
              <a:ext cx="812800" cy="812800"/>
            </a:xfrm>
            <a:custGeom>
              <a:avLst/>
              <a:gdLst/>
              <a:ahLst/>
              <a:cxnLst/>
              <a:rect l="l" t="t" r="r" b="b"/>
              <a:pathLst>
                <a:path w="812800" h="812800">
                  <a:moveTo>
                    <a:pt x="67743" y="0"/>
                  </a:moveTo>
                  <a:lnTo>
                    <a:pt x="745057" y="0"/>
                  </a:lnTo>
                  <a:cubicBezTo>
                    <a:pt x="782470" y="0"/>
                    <a:pt x="812800" y="30330"/>
                    <a:pt x="812800" y="67743"/>
                  </a:cubicBezTo>
                  <a:lnTo>
                    <a:pt x="812800" y="745057"/>
                  </a:lnTo>
                  <a:cubicBezTo>
                    <a:pt x="812800" y="782470"/>
                    <a:pt x="782470" y="812800"/>
                    <a:pt x="745057" y="812800"/>
                  </a:cubicBezTo>
                  <a:lnTo>
                    <a:pt x="67743" y="812800"/>
                  </a:lnTo>
                  <a:cubicBezTo>
                    <a:pt x="30330" y="812800"/>
                    <a:pt x="0" y="782470"/>
                    <a:pt x="0" y="745057"/>
                  </a:cubicBezTo>
                  <a:lnTo>
                    <a:pt x="0" y="67743"/>
                  </a:lnTo>
                  <a:cubicBezTo>
                    <a:pt x="0" y="30330"/>
                    <a:pt x="30330" y="0"/>
                    <a:pt x="67743" y="0"/>
                  </a:cubicBezTo>
                  <a:close/>
                </a:path>
              </a:pathLst>
            </a:custGeom>
            <a:blipFill>
              <a:blip r:embed="rId6"/>
              <a:stretch>
                <a:fillRect t="-2437" b="-2437"/>
              </a:stretch>
            </a:blipFill>
          </p:spPr>
        </p:sp>
      </p:grpSp>
      <p:sp>
        <p:nvSpPr>
          <p:cNvPr id="33" name="TextBox 33"/>
          <p:cNvSpPr txBox="1"/>
          <p:nvPr/>
        </p:nvSpPr>
        <p:spPr>
          <a:xfrm>
            <a:off x="1028700" y="1502528"/>
            <a:ext cx="7603322" cy="1002665"/>
          </a:xfrm>
          <a:prstGeom prst="rect">
            <a:avLst/>
          </a:prstGeom>
        </p:spPr>
        <p:txBody>
          <a:bodyPr lIns="0" tIns="0" rIns="0" bIns="0" rtlCol="0" anchor="t">
            <a:spAutoFit/>
          </a:bodyPr>
          <a:lstStyle/>
          <a:p>
            <a:pPr algn="just">
              <a:lnSpc>
                <a:spcPts val="7930"/>
              </a:lnSpc>
            </a:pPr>
            <a:r>
              <a:rPr lang="en-US" sz="6500" b="1">
                <a:solidFill>
                  <a:srgbClr val="006DAC"/>
                </a:solidFill>
                <a:latin typeface="Proxima Nova Bold"/>
                <a:ea typeface="Proxima Nova Bold"/>
                <a:cs typeface="Proxima Nova Bold"/>
                <a:sym typeface="Proxima Nova Bold"/>
              </a:rPr>
              <a:t>TEAM MEMBERS</a:t>
            </a:r>
          </a:p>
        </p:txBody>
      </p:sp>
      <p:sp>
        <p:nvSpPr>
          <p:cNvPr id="34" name="TextBox 34"/>
          <p:cNvSpPr txBox="1"/>
          <p:nvPr/>
        </p:nvSpPr>
        <p:spPr>
          <a:xfrm>
            <a:off x="13898354" y="1644768"/>
            <a:ext cx="3360946" cy="860424"/>
          </a:xfrm>
          <a:prstGeom prst="rect">
            <a:avLst/>
          </a:prstGeom>
        </p:spPr>
        <p:txBody>
          <a:bodyPr lIns="0" tIns="0" rIns="0" bIns="0" rtlCol="0" anchor="t">
            <a:spAutoFit/>
          </a:bodyPr>
          <a:lstStyle/>
          <a:p>
            <a:pPr algn="r">
              <a:lnSpc>
                <a:spcPts val="3500"/>
              </a:lnSpc>
            </a:pPr>
            <a:r>
              <a:rPr lang="en-US" sz="2500">
                <a:solidFill>
                  <a:srgbClr val="006DAC"/>
                </a:solidFill>
                <a:latin typeface="Proxima Nova"/>
                <a:ea typeface="Proxima Nova"/>
                <a:cs typeface="Proxima Nova"/>
                <a:sym typeface="Proxima Nova"/>
              </a:rPr>
              <a:t>Group 25 </a:t>
            </a:r>
          </a:p>
          <a:p>
            <a:pPr algn="r">
              <a:lnSpc>
                <a:spcPts val="3500"/>
              </a:lnSpc>
            </a:pPr>
            <a:r>
              <a:rPr lang="en-US" sz="2500">
                <a:solidFill>
                  <a:srgbClr val="006DAC"/>
                </a:solidFill>
                <a:latin typeface="Proxima Nova"/>
                <a:ea typeface="Proxima Nova"/>
                <a:cs typeface="Proxima Nova"/>
                <a:sym typeface="Proxima Nova"/>
              </a:rPr>
              <a:t>Link: </a:t>
            </a:r>
            <a:r>
              <a:rPr lang="en-US" sz="2500" u="sng">
                <a:solidFill>
                  <a:srgbClr val="006DAC"/>
                </a:solidFill>
                <a:latin typeface="Proxima Nova"/>
                <a:ea typeface="Proxima Nova"/>
                <a:cs typeface="Proxima Nova"/>
                <a:sym typeface="Proxima Nova"/>
                <a:hlinkClick r:id="rId7" tooltip="https://gitlab.com/belos-e-a-monstra/gps2526_g25"/>
              </a:rPr>
              <a:t>repositorio_gitlab</a:t>
            </a:r>
          </a:p>
        </p:txBody>
      </p:sp>
      <p:sp>
        <p:nvSpPr>
          <p:cNvPr id="35" name="TextBox 35"/>
          <p:cNvSpPr txBox="1"/>
          <p:nvPr/>
        </p:nvSpPr>
        <p:spPr>
          <a:xfrm>
            <a:off x="198311" y="220550"/>
            <a:ext cx="7474008" cy="321267"/>
          </a:xfrm>
          <a:prstGeom prst="rect">
            <a:avLst/>
          </a:prstGeom>
        </p:spPr>
        <p:txBody>
          <a:bodyPr lIns="0" tIns="0" rIns="0" bIns="0" rtlCol="0" anchor="t">
            <a:spAutoFit/>
          </a:bodyPr>
          <a:lstStyle/>
          <a:p>
            <a:pPr algn="l">
              <a:lnSpc>
                <a:spcPts val="2482"/>
              </a:lnSpc>
            </a:pPr>
            <a:r>
              <a:rPr lang="en-US" sz="2364" b="1">
                <a:solidFill>
                  <a:srgbClr val="006DAC"/>
                </a:solidFill>
                <a:latin typeface="Proxima Nova Bold"/>
                <a:ea typeface="Proxima Nova Bold"/>
                <a:cs typeface="Proxima Nova Bold"/>
                <a:sym typeface="Proxima Nova Bold"/>
              </a:rPr>
              <a:t>Presented by → Beatriz Marques</a:t>
            </a:r>
          </a:p>
        </p:txBody>
      </p:sp>
      <p:sp>
        <p:nvSpPr>
          <p:cNvPr id="36" name="TextBox 36"/>
          <p:cNvSpPr txBox="1"/>
          <p:nvPr/>
        </p:nvSpPr>
        <p:spPr>
          <a:xfrm>
            <a:off x="1423700" y="5962709"/>
            <a:ext cx="2144853" cy="422274"/>
          </a:xfrm>
          <a:prstGeom prst="rect">
            <a:avLst/>
          </a:prstGeom>
        </p:spPr>
        <p:txBody>
          <a:bodyPr lIns="0" tIns="0" rIns="0" bIns="0" rtlCol="0" anchor="t">
            <a:spAutoFit/>
          </a:bodyPr>
          <a:lstStyle/>
          <a:p>
            <a:pPr algn="just">
              <a:lnSpc>
                <a:spcPts val="3500"/>
              </a:lnSpc>
            </a:pPr>
            <a:r>
              <a:rPr lang="en-US" sz="2500" b="1">
                <a:solidFill>
                  <a:srgbClr val="006DAC"/>
                </a:solidFill>
                <a:latin typeface="Proxima Nova Bold"/>
                <a:ea typeface="Proxima Nova Bold"/>
                <a:cs typeface="Proxima Nova Bold"/>
                <a:sym typeface="Proxima Nova Bold"/>
              </a:rPr>
              <a:t>Pedro Amorim</a:t>
            </a:r>
          </a:p>
        </p:txBody>
      </p:sp>
      <p:sp>
        <p:nvSpPr>
          <p:cNvPr id="37" name="TextBox 37"/>
          <p:cNvSpPr txBox="1"/>
          <p:nvPr/>
        </p:nvSpPr>
        <p:spPr>
          <a:xfrm>
            <a:off x="4747910" y="5962709"/>
            <a:ext cx="2144853" cy="422274"/>
          </a:xfrm>
          <a:prstGeom prst="rect">
            <a:avLst/>
          </a:prstGeom>
        </p:spPr>
        <p:txBody>
          <a:bodyPr lIns="0" tIns="0" rIns="0" bIns="0" rtlCol="0" anchor="t">
            <a:spAutoFit/>
          </a:bodyPr>
          <a:lstStyle/>
          <a:p>
            <a:pPr algn="just">
              <a:lnSpc>
                <a:spcPts val="3500"/>
              </a:lnSpc>
            </a:pPr>
            <a:r>
              <a:rPr lang="en-US" sz="2500" b="1">
                <a:solidFill>
                  <a:srgbClr val="006DAC"/>
                </a:solidFill>
                <a:latin typeface="Proxima Nova Bold"/>
                <a:ea typeface="Proxima Nova Bold"/>
                <a:cs typeface="Proxima Nova Bold"/>
                <a:sym typeface="Proxima Nova Bold"/>
              </a:rPr>
              <a:t>Tiago Oliveira</a:t>
            </a:r>
          </a:p>
        </p:txBody>
      </p:sp>
      <p:sp>
        <p:nvSpPr>
          <p:cNvPr id="38" name="TextBox 38"/>
          <p:cNvSpPr txBox="1"/>
          <p:nvPr/>
        </p:nvSpPr>
        <p:spPr>
          <a:xfrm>
            <a:off x="7926499" y="5978388"/>
            <a:ext cx="2439106" cy="422274"/>
          </a:xfrm>
          <a:prstGeom prst="rect">
            <a:avLst/>
          </a:prstGeom>
        </p:spPr>
        <p:txBody>
          <a:bodyPr lIns="0" tIns="0" rIns="0" bIns="0" rtlCol="0" anchor="t">
            <a:spAutoFit/>
          </a:bodyPr>
          <a:lstStyle/>
          <a:p>
            <a:pPr algn="just">
              <a:lnSpc>
                <a:spcPts val="3500"/>
              </a:lnSpc>
            </a:pPr>
            <a:r>
              <a:rPr lang="en-US" sz="2500" b="1">
                <a:solidFill>
                  <a:srgbClr val="006DAC"/>
                </a:solidFill>
                <a:latin typeface="Proxima Nova Bold"/>
                <a:ea typeface="Proxima Nova Bold"/>
                <a:cs typeface="Proxima Nova Bold"/>
                <a:sym typeface="Proxima Nova Bold"/>
              </a:rPr>
              <a:t>Beatriz Marques</a:t>
            </a:r>
          </a:p>
        </p:txBody>
      </p:sp>
      <p:sp>
        <p:nvSpPr>
          <p:cNvPr id="39" name="TextBox 39"/>
          <p:cNvSpPr txBox="1"/>
          <p:nvPr/>
        </p:nvSpPr>
        <p:spPr>
          <a:xfrm>
            <a:off x="11248475" y="5962709"/>
            <a:ext cx="2439106" cy="422274"/>
          </a:xfrm>
          <a:prstGeom prst="rect">
            <a:avLst/>
          </a:prstGeom>
        </p:spPr>
        <p:txBody>
          <a:bodyPr lIns="0" tIns="0" rIns="0" bIns="0" rtlCol="0" anchor="t">
            <a:spAutoFit/>
          </a:bodyPr>
          <a:lstStyle/>
          <a:p>
            <a:pPr algn="just">
              <a:lnSpc>
                <a:spcPts val="3500"/>
              </a:lnSpc>
            </a:pPr>
            <a:r>
              <a:rPr lang="en-US" sz="2500" b="1">
                <a:solidFill>
                  <a:srgbClr val="006DAC"/>
                </a:solidFill>
                <a:latin typeface="Proxima Nova Bold"/>
                <a:ea typeface="Proxima Nova Bold"/>
                <a:cs typeface="Proxima Nova Bold"/>
                <a:sym typeface="Proxima Nova Bold"/>
              </a:rPr>
              <a:t>António Correia</a:t>
            </a:r>
          </a:p>
        </p:txBody>
      </p:sp>
      <p:sp>
        <p:nvSpPr>
          <p:cNvPr id="40" name="TextBox 40"/>
          <p:cNvSpPr txBox="1"/>
          <p:nvPr/>
        </p:nvSpPr>
        <p:spPr>
          <a:xfrm>
            <a:off x="14856906" y="5978388"/>
            <a:ext cx="1869933" cy="422274"/>
          </a:xfrm>
          <a:prstGeom prst="rect">
            <a:avLst/>
          </a:prstGeom>
        </p:spPr>
        <p:txBody>
          <a:bodyPr lIns="0" tIns="0" rIns="0" bIns="0" rtlCol="0" anchor="t">
            <a:spAutoFit/>
          </a:bodyPr>
          <a:lstStyle/>
          <a:p>
            <a:pPr algn="just">
              <a:lnSpc>
                <a:spcPts val="3500"/>
              </a:lnSpc>
            </a:pPr>
            <a:r>
              <a:rPr lang="en-US" sz="2500" b="1">
                <a:solidFill>
                  <a:srgbClr val="006DAC"/>
                </a:solidFill>
                <a:latin typeface="Proxima Nova Bold"/>
                <a:ea typeface="Proxima Nova Bold"/>
                <a:cs typeface="Proxima Nova Bold"/>
                <a:sym typeface="Proxima Nova Bold"/>
              </a:rPr>
              <a:t>José Moreira</a:t>
            </a:r>
          </a:p>
        </p:txBody>
      </p:sp>
      <p:sp>
        <p:nvSpPr>
          <p:cNvPr id="41" name="TextBox 41"/>
          <p:cNvSpPr txBox="1"/>
          <p:nvPr/>
        </p:nvSpPr>
        <p:spPr>
          <a:xfrm>
            <a:off x="1596683" y="7327005"/>
            <a:ext cx="1784221" cy="422274"/>
          </a:xfrm>
          <a:prstGeom prst="rect">
            <a:avLst/>
          </a:prstGeom>
        </p:spPr>
        <p:txBody>
          <a:bodyPr lIns="0" tIns="0" rIns="0" bIns="0" rtlCol="0" anchor="t">
            <a:spAutoFit/>
          </a:bodyPr>
          <a:lstStyle/>
          <a:p>
            <a:pPr algn="just">
              <a:lnSpc>
                <a:spcPts val="3500"/>
              </a:lnSpc>
            </a:pPr>
            <a:r>
              <a:rPr lang="en-US" sz="2500">
                <a:solidFill>
                  <a:srgbClr val="006DAC"/>
                </a:solidFill>
                <a:latin typeface="Proxima Nova"/>
                <a:ea typeface="Proxima Nova"/>
                <a:cs typeface="Proxima Nova"/>
                <a:sym typeface="Proxima Nova"/>
              </a:rPr>
              <a:t>2022157609</a:t>
            </a:r>
          </a:p>
        </p:txBody>
      </p:sp>
      <p:sp>
        <p:nvSpPr>
          <p:cNvPr id="42" name="TextBox 42"/>
          <p:cNvSpPr txBox="1"/>
          <p:nvPr/>
        </p:nvSpPr>
        <p:spPr>
          <a:xfrm>
            <a:off x="4928226" y="7332402"/>
            <a:ext cx="1784221" cy="422274"/>
          </a:xfrm>
          <a:prstGeom prst="rect">
            <a:avLst/>
          </a:prstGeom>
        </p:spPr>
        <p:txBody>
          <a:bodyPr lIns="0" tIns="0" rIns="0" bIns="0" rtlCol="0" anchor="t">
            <a:spAutoFit/>
          </a:bodyPr>
          <a:lstStyle/>
          <a:p>
            <a:pPr algn="just">
              <a:lnSpc>
                <a:spcPts val="3500"/>
              </a:lnSpc>
            </a:pPr>
            <a:r>
              <a:rPr lang="en-US" sz="2500">
                <a:solidFill>
                  <a:srgbClr val="006DAC"/>
                </a:solidFill>
                <a:latin typeface="Proxima Nova"/>
                <a:ea typeface="Proxima Nova"/>
                <a:cs typeface="Proxima Nova"/>
                <a:sym typeface="Proxima Nova"/>
              </a:rPr>
              <a:t>2023129464</a:t>
            </a:r>
          </a:p>
        </p:txBody>
      </p:sp>
      <p:sp>
        <p:nvSpPr>
          <p:cNvPr id="43" name="TextBox 43"/>
          <p:cNvSpPr txBox="1"/>
          <p:nvPr/>
        </p:nvSpPr>
        <p:spPr>
          <a:xfrm>
            <a:off x="8251890" y="7327005"/>
            <a:ext cx="1784221" cy="422274"/>
          </a:xfrm>
          <a:prstGeom prst="rect">
            <a:avLst/>
          </a:prstGeom>
        </p:spPr>
        <p:txBody>
          <a:bodyPr lIns="0" tIns="0" rIns="0" bIns="0" rtlCol="0" anchor="t">
            <a:spAutoFit/>
          </a:bodyPr>
          <a:lstStyle/>
          <a:p>
            <a:pPr algn="just">
              <a:lnSpc>
                <a:spcPts val="3500"/>
              </a:lnSpc>
            </a:pPr>
            <a:r>
              <a:rPr lang="en-US" sz="2500">
                <a:solidFill>
                  <a:srgbClr val="006DAC"/>
                </a:solidFill>
                <a:latin typeface="Proxima Nova"/>
                <a:ea typeface="Proxima Nova"/>
                <a:cs typeface="Proxima Nova"/>
                <a:sym typeface="Proxima Nova"/>
              </a:rPr>
              <a:t>2022137934</a:t>
            </a:r>
          </a:p>
        </p:txBody>
      </p:sp>
      <p:sp>
        <p:nvSpPr>
          <p:cNvPr id="44" name="TextBox 44"/>
          <p:cNvSpPr txBox="1"/>
          <p:nvPr/>
        </p:nvSpPr>
        <p:spPr>
          <a:xfrm>
            <a:off x="11589960" y="7327005"/>
            <a:ext cx="1784221" cy="422274"/>
          </a:xfrm>
          <a:prstGeom prst="rect">
            <a:avLst/>
          </a:prstGeom>
        </p:spPr>
        <p:txBody>
          <a:bodyPr lIns="0" tIns="0" rIns="0" bIns="0" rtlCol="0" anchor="t">
            <a:spAutoFit/>
          </a:bodyPr>
          <a:lstStyle/>
          <a:p>
            <a:pPr algn="just">
              <a:lnSpc>
                <a:spcPts val="3500"/>
              </a:lnSpc>
            </a:pPr>
            <a:r>
              <a:rPr lang="en-US" sz="2500">
                <a:solidFill>
                  <a:srgbClr val="006DAC"/>
                </a:solidFill>
                <a:latin typeface="Proxima Nova"/>
                <a:ea typeface="Proxima Nova"/>
                <a:cs typeface="Proxima Nova"/>
                <a:sym typeface="Proxima Nova"/>
              </a:rPr>
              <a:t>2022141330</a:t>
            </a:r>
          </a:p>
        </p:txBody>
      </p:sp>
      <p:sp>
        <p:nvSpPr>
          <p:cNvPr id="45" name="TextBox 45"/>
          <p:cNvSpPr txBox="1"/>
          <p:nvPr/>
        </p:nvSpPr>
        <p:spPr>
          <a:xfrm>
            <a:off x="14899763" y="7332402"/>
            <a:ext cx="1784221" cy="422274"/>
          </a:xfrm>
          <a:prstGeom prst="rect">
            <a:avLst/>
          </a:prstGeom>
        </p:spPr>
        <p:txBody>
          <a:bodyPr lIns="0" tIns="0" rIns="0" bIns="0" rtlCol="0" anchor="t">
            <a:spAutoFit/>
          </a:bodyPr>
          <a:lstStyle/>
          <a:p>
            <a:pPr algn="just">
              <a:lnSpc>
                <a:spcPts val="3500"/>
              </a:lnSpc>
            </a:pPr>
            <a:r>
              <a:rPr lang="en-US" sz="2500">
                <a:solidFill>
                  <a:srgbClr val="006DAC"/>
                </a:solidFill>
                <a:latin typeface="Proxima Nova"/>
                <a:ea typeface="Proxima Nova"/>
                <a:cs typeface="Proxima Nova"/>
                <a:sym typeface="Proxima Nova"/>
              </a:rPr>
              <a:t>2022132718</a:t>
            </a:r>
          </a:p>
        </p:txBody>
      </p:sp>
      <p:sp>
        <p:nvSpPr>
          <p:cNvPr id="46" name="TextBox 46"/>
          <p:cNvSpPr txBox="1"/>
          <p:nvPr/>
        </p:nvSpPr>
        <p:spPr>
          <a:xfrm>
            <a:off x="1181867" y="6864408"/>
            <a:ext cx="2613854" cy="372744"/>
          </a:xfrm>
          <a:prstGeom prst="rect">
            <a:avLst/>
          </a:prstGeom>
        </p:spPr>
        <p:txBody>
          <a:bodyPr lIns="0" tIns="0" rIns="0" bIns="0" rtlCol="0" anchor="t">
            <a:spAutoFit/>
          </a:bodyPr>
          <a:lstStyle/>
          <a:p>
            <a:pPr algn="just">
              <a:lnSpc>
                <a:spcPts val="3080"/>
              </a:lnSpc>
            </a:pPr>
            <a:r>
              <a:rPr lang="en-US" sz="2200">
                <a:solidFill>
                  <a:srgbClr val="006DAC"/>
                </a:solidFill>
                <a:latin typeface="Proxima Nova"/>
                <a:ea typeface="Proxima Nova"/>
                <a:cs typeface="Proxima Nova"/>
                <a:sym typeface="Proxima Nova"/>
              </a:rPr>
              <a:t>2022157609@isec.pt</a:t>
            </a:r>
          </a:p>
        </p:txBody>
      </p:sp>
      <p:sp>
        <p:nvSpPr>
          <p:cNvPr id="47" name="TextBox 47"/>
          <p:cNvSpPr txBox="1"/>
          <p:nvPr/>
        </p:nvSpPr>
        <p:spPr>
          <a:xfrm>
            <a:off x="4506076" y="6864408"/>
            <a:ext cx="2666812" cy="372744"/>
          </a:xfrm>
          <a:prstGeom prst="rect">
            <a:avLst/>
          </a:prstGeom>
        </p:spPr>
        <p:txBody>
          <a:bodyPr lIns="0" tIns="0" rIns="0" bIns="0" rtlCol="0" anchor="t">
            <a:spAutoFit/>
          </a:bodyPr>
          <a:lstStyle/>
          <a:p>
            <a:pPr algn="just">
              <a:lnSpc>
                <a:spcPts val="3080"/>
              </a:lnSpc>
            </a:pPr>
            <a:r>
              <a:rPr lang="en-US" sz="2200">
                <a:solidFill>
                  <a:srgbClr val="006DAC"/>
                </a:solidFill>
                <a:latin typeface="Proxima Nova"/>
                <a:ea typeface="Proxima Nova"/>
                <a:cs typeface="Proxima Nova"/>
                <a:sym typeface="Proxima Nova"/>
              </a:rPr>
              <a:t>2023129464@isec.pt</a:t>
            </a:r>
          </a:p>
        </p:txBody>
      </p:sp>
      <p:sp>
        <p:nvSpPr>
          <p:cNvPr id="48" name="TextBox 48"/>
          <p:cNvSpPr txBox="1"/>
          <p:nvPr/>
        </p:nvSpPr>
        <p:spPr>
          <a:xfrm>
            <a:off x="7855195" y="6839961"/>
            <a:ext cx="2577611" cy="372744"/>
          </a:xfrm>
          <a:prstGeom prst="rect">
            <a:avLst/>
          </a:prstGeom>
        </p:spPr>
        <p:txBody>
          <a:bodyPr lIns="0" tIns="0" rIns="0" bIns="0" rtlCol="0" anchor="t">
            <a:spAutoFit/>
          </a:bodyPr>
          <a:lstStyle/>
          <a:p>
            <a:pPr algn="just">
              <a:lnSpc>
                <a:spcPts val="3080"/>
              </a:lnSpc>
            </a:pPr>
            <a:r>
              <a:rPr lang="en-US" sz="2200">
                <a:solidFill>
                  <a:srgbClr val="006DAC"/>
                </a:solidFill>
                <a:latin typeface="Proxima Nova"/>
                <a:ea typeface="Proxima Nova"/>
                <a:cs typeface="Proxima Nova"/>
                <a:sym typeface="Proxima Nova"/>
              </a:rPr>
              <a:t>2022137934@isec.pt</a:t>
            </a:r>
          </a:p>
        </p:txBody>
      </p:sp>
      <p:sp>
        <p:nvSpPr>
          <p:cNvPr id="49" name="TextBox 49"/>
          <p:cNvSpPr txBox="1"/>
          <p:nvPr/>
        </p:nvSpPr>
        <p:spPr>
          <a:xfrm>
            <a:off x="11179222" y="6864408"/>
            <a:ext cx="2577611" cy="372744"/>
          </a:xfrm>
          <a:prstGeom prst="rect">
            <a:avLst/>
          </a:prstGeom>
        </p:spPr>
        <p:txBody>
          <a:bodyPr lIns="0" tIns="0" rIns="0" bIns="0" rtlCol="0" anchor="t">
            <a:spAutoFit/>
          </a:bodyPr>
          <a:lstStyle/>
          <a:p>
            <a:pPr algn="just">
              <a:lnSpc>
                <a:spcPts val="3080"/>
              </a:lnSpc>
            </a:pPr>
            <a:r>
              <a:rPr lang="en-US" sz="2200">
                <a:solidFill>
                  <a:srgbClr val="006DAC"/>
                </a:solidFill>
                <a:latin typeface="Proxima Nova"/>
                <a:ea typeface="Proxima Nova"/>
                <a:cs typeface="Proxima Nova"/>
                <a:sym typeface="Proxima Nova"/>
              </a:rPr>
              <a:t>2022141330@isec.pt</a:t>
            </a:r>
          </a:p>
        </p:txBody>
      </p:sp>
      <p:sp>
        <p:nvSpPr>
          <p:cNvPr id="50" name="TextBox 50"/>
          <p:cNvSpPr txBox="1"/>
          <p:nvPr/>
        </p:nvSpPr>
        <p:spPr>
          <a:xfrm>
            <a:off x="14503068" y="6839961"/>
            <a:ext cx="2577611" cy="372744"/>
          </a:xfrm>
          <a:prstGeom prst="rect">
            <a:avLst/>
          </a:prstGeom>
        </p:spPr>
        <p:txBody>
          <a:bodyPr lIns="0" tIns="0" rIns="0" bIns="0" rtlCol="0" anchor="t">
            <a:spAutoFit/>
          </a:bodyPr>
          <a:lstStyle/>
          <a:p>
            <a:pPr algn="just">
              <a:lnSpc>
                <a:spcPts val="3080"/>
              </a:lnSpc>
            </a:pPr>
            <a:r>
              <a:rPr lang="en-US" sz="2200">
                <a:solidFill>
                  <a:srgbClr val="006DAC"/>
                </a:solidFill>
                <a:latin typeface="Proxima Nova"/>
                <a:ea typeface="Proxima Nova"/>
                <a:cs typeface="Proxima Nova"/>
                <a:sym typeface="Proxima Nova"/>
              </a:rPr>
              <a:t>2022132718@isec.pt</a:t>
            </a:r>
          </a:p>
        </p:txBody>
      </p:sp>
      <p:sp>
        <p:nvSpPr>
          <p:cNvPr id="51" name="TextBox 51"/>
          <p:cNvSpPr txBox="1"/>
          <p:nvPr/>
        </p:nvSpPr>
        <p:spPr>
          <a:xfrm>
            <a:off x="5446976" y="8221402"/>
            <a:ext cx="746720" cy="332740"/>
          </a:xfrm>
          <a:prstGeom prst="rect">
            <a:avLst/>
          </a:prstGeom>
        </p:spPr>
        <p:txBody>
          <a:bodyPr lIns="0" tIns="0" rIns="0" bIns="0" rtlCol="0" anchor="t">
            <a:spAutoFit/>
          </a:bodyPr>
          <a:lstStyle/>
          <a:p>
            <a:pPr algn="ctr">
              <a:lnSpc>
                <a:spcPts val="2659"/>
              </a:lnSpc>
              <a:spcBef>
                <a:spcPct val="0"/>
              </a:spcBef>
            </a:pPr>
            <a:r>
              <a:rPr lang="en-US" sz="1899">
                <a:solidFill>
                  <a:srgbClr val="006DAC"/>
                </a:solidFill>
                <a:latin typeface="Raleway"/>
                <a:ea typeface="Raleway"/>
                <a:cs typeface="Raleway"/>
                <a:sym typeface="Raleway"/>
              </a:rPr>
              <a:t>@thyi8</a:t>
            </a:r>
          </a:p>
        </p:txBody>
      </p:sp>
      <p:sp>
        <p:nvSpPr>
          <p:cNvPr id="52" name="TextBox 52"/>
          <p:cNvSpPr txBox="1"/>
          <p:nvPr/>
        </p:nvSpPr>
        <p:spPr>
          <a:xfrm>
            <a:off x="8323776" y="8221402"/>
            <a:ext cx="1644551" cy="332740"/>
          </a:xfrm>
          <a:prstGeom prst="rect">
            <a:avLst/>
          </a:prstGeom>
        </p:spPr>
        <p:txBody>
          <a:bodyPr lIns="0" tIns="0" rIns="0" bIns="0" rtlCol="0" anchor="t">
            <a:spAutoFit/>
          </a:bodyPr>
          <a:lstStyle/>
          <a:p>
            <a:pPr algn="ctr">
              <a:lnSpc>
                <a:spcPts val="2659"/>
              </a:lnSpc>
              <a:spcBef>
                <a:spcPct val="0"/>
              </a:spcBef>
            </a:pPr>
            <a:r>
              <a:rPr lang="en-US" sz="1899">
                <a:solidFill>
                  <a:srgbClr val="006DAC"/>
                </a:solidFill>
                <a:latin typeface="Raleway"/>
                <a:ea typeface="Raleway"/>
                <a:cs typeface="Raleway"/>
                <a:sym typeface="Raleway"/>
              </a:rPr>
              <a:t>@beatrizsmrqs</a:t>
            </a:r>
          </a:p>
        </p:txBody>
      </p:sp>
      <p:sp>
        <p:nvSpPr>
          <p:cNvPr id="53" name="TextBox 53"/>
          <p:cNvSpPr txBox="1"/>
          <p:nvPr/>
        </p:nvSpPr>
        <p:spPr>
          <a:xfrm>
            <a:off x="1802786" y="8216005"/>
            <a:ext cx="1386681" cy="332740"/>
          </a:xfrm>
          <a:prstGeom prst="rect">
            <a:avLst/>
          </a:prstGeom>
        </p:spPr>
        <p:txBody>
          <a:bodyPr lIns="0" tIns="0" rIns="0" bIns="0" rtlCol="0" anchor="t">
            <a:spAutoFit/>
          </a:bodyPr>
          <a:lstStyle/>
          <a:p>
            <a:pPr algn="ctr">
              <a:lnSpc>
                <a:spcPts val="2659"/>
              </a:lnSpc>
              <a:spcBef>
                <a:spcPct val="0"/>
              </a:spcBef>
            </a:pPr>
            <a:r>
              <a:rPr lang="en-US" sz="1899">
                <a:solidFill>
                  <a:srgbClr val="006DAC"/>
                </a:solidFill>
                <a:latin typeface="Raleway"/>
                <a:ea typeface="Raleway"/>
                <a:cs typeface="Raleway"/>
                <a:sym typeface="Raleway"/>
              </a:rPr>
              <a:t>@mAd-5864</a:t>
            </a:r>
          </a:p>
        </p:txBody>
      </p:sp>
      <p:sp>
        <p:nvSpPr>
          <p:cNvPr id="54" name="TextBox 54"/>
          <p:cNvSpPr txBox="1"/>
          <p:nvPr/>
        </p:nvSpPr>
        <p:spPr>
          <a:xfrm>
            <a:off x="11436304" y="8216005"/>
            <a:ext cx="2091531" cy="332740"/>
          </a:xfrm>
          <a:prstGeom prst="rect">
            <a:avLst/>
          </a:prstGeom>
        </p:spPr>
        <p:txBody>
          <a:bodyPr lIns="0" tIns="0" rIns="0" bIns="0" rtlCol="0" anchor="t">
            <a:spAutoFit/>
          </a:bodyPr>
          <a:lstStyle/>
          <a:p>
            <a:pPr algn="ctr">
              <a:lnSpc>
                <a:spcPts val="2659"/>
              </a:lnSpc>
              <a:spcBef>
                <a:spcPct val="0"/>
              </a:spcBef>
            </a:pPr>
            <a:r>
              <a:rPr lang="en-US" sz="1899">
                <a:solidFill>
                  <a:srgbClr val="006DAC"/>
                </a:solidFill>
                <a:latin typeface="Raleway"/>
                <a:ea typeface="Raleway"/>
                <a:cs typeface="Raleway"/>
                <a:sym typeface="Raleway"/>
              </a:rPr>
              <a:t>@AntonioCorreia17</a:t>
            </a:r>
          </a:p>
        </p:txBody>
      </p:sp>
      <p:sp>
        <p:nvSpPr>
          <p:cNvPr id="55" name="TextBox 55"/>
          <p:cNvSpPr txBox="1"/>
          <p:nvPr/>
        </p:nvSpPr>
        <p:spPr>
          <a:xfrm>
            <a:off x="15212138" y="8221402"/>
            <a:ext cx="1159470" cy="332740"/>
          </a:xfrm>
          <a:prstGeom prst="rect">
            <a:avLst/>
          </a:prstGeom>
        </p:spPr>
        <p:txBody>
          <a:bodyPr lIns="0" tIns="0" rIns="0" bIns="0" rtlCol="0" anchor="t">
            <a:spAutoFit/>
          </a:bodyPr>
          <a:lstStyle/>
          <a:p>
            <a:pPr algn="ctr">
              <a:lnSpc>
                <a:spcPts val="2659"/>
              </a:lnSpc>
              <a:spcBef>
                <a:spcPct val="0"/>
              </a:spcBef>
            </a:pPr>
            <a:r>
              <a:rPr lang="en-US" sz="1899">
                <a:solidFill>
                  <a:srgbClr val="006DAC"/>
                </a:solidFill>
                <a:latin typeface="Raleway"/>
                <a:ea typeface="Raleway"/>
                <a:cs typeface="Raleway"/>
                <a:sym typeface="Raleway"/>
              </a:rPr>
              <a:t>@jjMoreira</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259300" y="392904"/>
            <a:ext cx="1660777" cy="683592"/>
            <a:chOff x="0" y="0"/>
            <a:chExt cx="437406" cy="180041"/>
          </a:xfrm>
        </p:grpSpPr>
        <p:sp>
          <p:nvSpPr>
            <p:cNvPr id="3" name="Freeform 3"/>
            <p:cNvSpPr/>
            <p:nvPr/>
          </p:nvSpPr>
          <p:spPr>
            <a:xfrm>
              <a:off x="0" y="0"/>
              <a:ext cx="437406" cy="180041"/>
            </a:xfrm>
            <a:custGeom>
              <a:avLst/>
              <a:gdLst/>
              <a:ahLst/>
              <a:cxnLst/>
              <a:rect l="l" t="t" r="r" b="b"/>
              <a:pathLst>
                <a:path w="437406" h="180041">
                  <a:moveTo>
                    <a:pt x="0" y="0"/>
                  </a:moveTo>
                  <a:lnTo>
                    <a:pt x="437406" y="0"/>
                  </a:lnTo>
                  <a:lnTo>
                    <a:pt x="437406" y="180041"/>
                  </a:lnTo>
                  <a:lnTo>
                    <a:pt x="0" y="180041"/>
                  </a:lnTo>
                  <a:close/>
                </a:path>
              </a:pathLst>
            </a:custGeom>
            <a:solidFill>
              <a:srgbClr val="0CC0DF"/>
            </a:solidFill>
          </p:spPr>
        </p:sp>
        <p:sp>
          <p:nvSpPr>
            <p:cNvPr id="4" name="TextBox 4"/>
            <p:cNvSpPr txBox="1"/>
            <p:nvPr/>
          </p:nvSpPr>
          <p:spPr>
            <a:xfrm>
              <a:off x="0" y="-47625"/>
              <a:ext cx="437406" cy="227666"/>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6642384" y="440700"/>
            <a:ext cx="374220" cy="635796"/>
            <a:chOff x="0" y="0"/>
            <a:chExt cx="98560" cy="167453"/>
          </a:xfrm>
        </p:grpSpPr>
        <p:sp>
          <p:nvSpPr>
            <p:cNvPr id="6" name="Freeform 6"/>
            <p:cNvSpPr/>
            <p:nvPr/>
          </p:nvSpPr>
          <p:spPr>
            <a:xfrm>
              <a:off x="0" y="0"/>
              <a:ext cx="98560" cy="167453"/>
            </a:xfrm>
            <a:custGeom>
              <a:avLst/>
              <a:gdLst/>
              <a:ahLst/>
              <a:cxnLst/>
              <a:rect l="l" t="t" r="r" b="b"/>
              <a:pathLst>
                <a:path w="98560" h="167453">
                  <a:moveTo>
                    <a:pt x="0" y="0"/>
                  </a:moveTo>
                  <a:lnTo>
                    <a:pt x="98560" y="0"/>
                  </a:lnTo>
                  <a:lnTo>
                    <a:pt x="98560" y="167453"/>
                  </a:lnTo>
                  <a:lnTo>
                    <a:pt x="0" y="167453"/>
                  </a:lnTo>
                  <a:close/>
                </a:path>
              </a:pathLst>
            </a:custGeom>
            <a:solidFill>
              <a:srgbClr val="006DAC"/>
            </a:solidFill>
          </p:spPr>
        </p:sp>
        <p:sp>
          <p:nvSpPr>
            <p:cNvPr id="7" name="TextBox 7"/>
            <p:cNvSpPr txBox="1"/>
            <p:nvPr/>
          </p:nvSpPr>
          <p:spPr>
            <a:xfrm>
              <a:off x="0" y="-47625"/>
              <a:ext cx="98560" cy="215078"/>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7692744" y="3124318"/>
            <a:ext cx="2906616" cy="6611888"/>
            <a:chOff x="0" y="0"/>
            <a:chExt cx="765528" cy="1741403"/>
          </a:xfrm>
        </p:grpSpPr>
        <p:sp>
          <p:nvSpPr>
            <p:cNvPr id="9" name="Freeform 9"/>
            <p:cNvSpPr/>
            <p:nvPr/>
          </p:nvSpPr>
          <p:spPr>
            <a:xfrm>
              <a:off x="0" y="0"/>
              <a:ext cx="765528" cy="1741403"/>
            </a:xfrm>
            <a:custGeom>
              <a:avLst/>
              <a:gdLst/>
              <a:ahLst/>
              <a:cxnLst/>
              <a:rect l="l" t="t" r="r" b="b"/>
              <a:pathLst>
                <a:path w="765528" h="1741403">
                  <a:moveTo>
                    <a:pt x="61262" y="0"/>
                  </a:moveTo>
                  <a:lnTo>
                    <a:pt x="704267" y="0"/>
                  </a:lnTo>
                  <a:cubicBezTo>
                    <a:pt x="738101" y="0"/>
                    <a:pt x="765528" y="27428"/>
                    <a:pt x="765528" y="61262"/>
                  </a:cubicBezTo>
                  <a:lnTo>
                    <a:pt x="765528" y="1680141"/>
                  </a:lnTo>
                  <a:cubicBezTo>
                    <a:pt x="765528" y="1713975"/>
                    <a:pt x="738101" y="1741403"/>
                    <a:pt x="704267" y="1741403"/>
                  </a:cubicBezTo>
                  <a:lnTo>
                    <a:pt x="61262" y="1741403"/>
                  </a:lnTo>
                  <a:cubicBezTo>
                    <a:pt x="27428" y="1741403"/>
                    <a:pt x="0" y="1713975"/>
                    <a:pt x="0" y="1680141"/>
                  </a:cubicBezTo>
                  <a:lnTo>
                    <a:pt x="0" y="61262"/>
                  </a:lnTo>
                  <a:cubicBezTo>
                    <a:pt x="0" y="27428"/>
                    <a:pt x="27428" y="0"/>
                    <a:pt x="61262" y="0"/>
                  </a:cubicBezTo>
                  <a:close/>
                </a:path>
              </a:pathLst>
            </a:custGeom>
            <a:solidFill>
              <a:srgbClr val="EFEFEF"/>
            </a:solidFill>
          </p:spPr>
        </p:sp>
        <p:sp>
          <p:nvSpPr>
            <p:cNvPr id="10" name="TextBox 10"/>
            <p:cNvSpPr txBox="1"/>
            <p:nvPr/>
          </p:nvSpPr>
          <p:spPr>
            <a:xfrm>
              <a:off x="0" y="-47625"/>
              <a:ext cx="765528" cy="1789028"/>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7829922" y="3238879"/>
            <a:ext cx="2628521" cy="2628521"/>
            <a:chOff x="0" y="0"/>
            <a:chExt cx="812800" cy="812800"/>
          </a:xfrm>
        </p:grpSpPr>
        <p:sp>
          <p:nvSpPr>
            <p:cNvPr id="12" name="Freeform 12"/>
            <p:cNvSpPr/>
            <p:nvPr/>
          </p:nvSpPr>
          <p:spPr>
            <a:xfrm>
              <a:off x="0" y="0"/>
              <a:ext cx="812800" cy="812800"/>
            </a:xfrm>
            <a:custGeom>
              <a:avLst/>
              <a:gdLst/>
              <a:ahLst/>
              <a:cxnLst/>
              <a:rect l="l" t="t" r="r" b="b"/>
              <a:pathLst>
                <a:path w="812800" h="812800">
                  <a:moveTo>
                    <a:pt x="67743" y="0"/>
                  </a:moveTo>
                  <a:lnTo>
                    <a:pt x="745057" y="0"/>
                  </a:lnTo>
                  <a:cubicBezTo>
                    <a:pt x="782470" y="0"/>
                    <a:pt x="812800" y="30330"/>
                    <a:pt x="812800" y="67743"/>
                  </a:cubicBezTo>
                  <a:lnTo>
                    <a:pt x="812800" y="745057"/>
                  </a:lnTo>
                  <a:cubicBezTo>
                    <a:pt x="812800" y="782470"/>
                    <a:pt x="782470" y="812800"/>
                    <a:pt x="745057" y="812800"/>
                  </a:cubicBezTo>
                  <a:lnTo>
                    <a:pt x="67743" y="812800"/>
                  </a:lnTo>
                  <a:cubicBezTo>
                    <a:pt x="30330" y="812800"/>
                    <a:pt x="0" y="782470"/>
                    <a:pt x="0" y="745057"/>
                  </a:cubicBezTo>
                  <a:lnTo>
                    <a:pt x="0" y="67743"/>
                  </a:lnTo>
                  <a:cubicBezTo>
                    <a:pt x="0" y="30330"/>
                    <a:pt x="30330" y="0"/>
                    <a:pt x="67743" y="0"/>
                  </a:cubicBezTo>
                  <a:close/>
                </a:path>
              </a:pathLst>
            </a:custGeom>
            <a:blipFill>
              <a:blip r:embed="rId2"/>
              <a:stretch>
                <a:fillRect l="-419" r="-419"/>
              </a:stretch>
            </a:blipFill>
          </p:spPr>
        </p:sp>
      </p:grpSp>
      <p:grpSp>
        <p:nvGrpSpPr>
          <p:cNvPr id="13" name="Group 13"/>
          <p:cNvGrpSpPr/>
          <p:nvPr/>
        </p:nvGrpSpPr>
        <p:grpSpPr>
          <a:xfrm>
            <a:off x="1042819" y="3124318"/>
            <a:ext cx="2906616" cy="6611888"/>
            <a:chOff x="0" y="0"/>
            <a:chExt cx="765528" cy="1741403"/>
          </a:xfrm>
        </p:grpSpPr>
        <p:sp>
          <p:nvSpPr>
            <p:cNvPr id="14" name="Freeform 14"/>
            <p:cNvSpPr/>
            <p:nvPr/>
          </p:nvSpPr>
          <p:spPr>
            <a:xfrm>
              <a:off x="0" y="0"/>
              <a:ext cx="765528" cy="1741403"/>
            </a:xfrm>
            <a:custGeom>
              <a:avLst/>
              <a:gdLst/>
              <a:ahLst/>
              <a:cxnLst/>
              <a:rect l="l" t="t" r="r" b="b"/>
              <a:pathLst>
                <a:path w="765528" h="1741403">
                  <a:moveTo>
                    <a:pt x="61262" y="0"/>
                  </a:moveTo>
                  <a:lnTo>
                    <a:pt x="704267" y="0"/>
                  </a:lnTo>
                  <a:cubicBezTo>
                    <a:pt x="738101" y="0"/>
                    <a:pt x="765528" y="27428"/>
                    <a:pt x="765528" y="61262"/>
                  </a:cubicBezTo>
                  <a:lnTo>
                    <a:pt x="765528" y="1680141"/>
                  </a:lnTo>
                  <a:cubicBezTo>
                    <a:pt x="765528" y="1713975"/>
                    <a:pt x="738101" y="1741403"/>
                    <a:pt x="704267" y="1741403"/>
                  </a:cubicBezTo>
                  <a:lnTo>
                    <a:pt x="61262" y="1741403"/>
                  </a:lnTo>
                  <a:cubicBezTo>
                    <a:pt x="27428" y="1741403"/>
                    <a:pt x="0" y="1713975"/>
                    <a:pt x="0" y="1680141"/>
                  </a:cubicBezTo>
                  <a:lnTo>
                    <a:pt x="0" y="61262"/>
                  </a:lnTo>
                  <a:cubicBezTo>
                    <a:pt x="0" y="27428"/>
                    <a:pt x="27428" y="0"/>
                    <a:pt x="61262" y="0"/>
                  </a:cubicBezTo>
                  <a:close/>
                </a:path>
              </a:pathLst>
            </a:custGeom>
            <a:solidFill>
              <a:srgbClr val="EFEFEF"/>
            </a:solidFill>
          </p:spPr>
        </p:sp>
        <p:sp>
          <p:nvSpPr>
            <p:cNvPr id="15" name="TextBox 15"/>
            <p:cNvSpPr txBox="1"/>
            <p:nvPr/>
          </p:nvSpPr>
          <p:spPr>
            <a:xfrm>
              <a:off x="0" y="-47625"/>
              <a:ext cx="765528" cy="1789028"/>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4367028" y="3124318"/>
            <a:ext cx="2906616" cy="6611888"/>
            <a:chOff x="0" y="0"/>
            <a:chExt cx="765528" cy="1741403"/>
          </a:xfrm>
        </p:grpSpPr>
        <p:sp>
          <p:nvSpPr>
            <p:cNvPr id="17" name="Freeform 17"/>
            <p:cNvSpPr/>
            <p:nvPr/>
          </p:nvSpPr>
          <p:spPr>
            <a:xfrm>
              <a:off x="0" y="0"/>
              <a:ext cx="765528" cy="1741403"/>
            </a:xfrm>
            <a:custGeom>
              <a:avLst/>
              <a:gdLst/>
              <a:ahLst/>
              <a:cxnLst/>
              <a:rect l="l" t="t" r="r" b="b"/>
              <a:pathLst>
                <a:path w="765528" h="1741403">
                  <a:moveTo>
                    <a:pt x="61262" y="0"/>
                  </a:moveTo>
                  <a:lnTo>
                    <a:pt x="704267" y="0"/>
                  </a:lnTo>
                  <a:cubicBezTo>
                    <a:pt x="738101" y="0"/>
                    <a:pt x="765528" y="27428"/>
                    <a:pt x="765528" y="61262"/>
                  </a:cubicBezTo>
                  <a:lnTo>
                    <a:pt x="765528" y="1680141"/>
                  </a:lnTo>
                  <a:cubicBezTo>
                    <a:pt x="765528" y="1713975"/>
                    <a:pt x="738101" y="1741403"/>
                    <a:pt x="704267" y="1741403"/>
                  </a:cubicBezTo>
                  <a:lnTo>
                    <a:pt x="61262" y="1741403"/>
                  </a:lnTo>
                  <a:cubicBezTo>
                    <a:pt x="27428" y="1741403"/>
                    <a:pt x="0" y="1713975"/>
                    <a:pt x="0" y="1680141"/>
                  </a:cubicBezTo>
                  <a:lnTo>
                    <a:pt x="0" y="61262"/>
                  </a:lnTo>
                  <a:cubicBezTo>
                    <a:pt x="0" y="27428"/>
                    <a:pt x="27428" y="0"/>
                    <a:pt x="61262" y="0"/>
                  </a:cubicBezTo>
                  <a:close/>
                </a:path>
              </a:pathLst>
            </a:custGeom>
            <a:solidFill>
              <a:srgbClr val="EFEFEF"/>
            </a:solidFill>
          </p:spPr>
        </p:sp>
        <p:sp>
          <p:nvSpPr>
            <p:cNvPr id="18" name="TextBox 18"/>
            <p:cNvSpPr txBox="1"/>
            <p:nvPr/>
          </p:nvSpPr>
          <p:spPr>
            <a:xfrm>
              <a:off x="0" y="-47625"/>
              <a:ext cx="765528" cy="1789028"/>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4506076" y="3238879"/>
            <a:ext cx="2628521" cy="2628521"/>
            <a:chOff x="0" y="0"/>
            <a:chExt cx="812800" cy="812800"/>
          </a:xfrm>
        </p:grpSpPr>
        <p:sp>
          <p:nvSpPr>
            <p:cNvPr id="20" name="Freeform 20"/>
            <p:cNvSpPr/>
            <p:nvPr/>
          </p:nvSpPr>
          <p:spPr>
            <a:xfrm>
              <a:off x="0" y="0"/>
              <a:ext cx="812800" cy="812800"/>
            </a:xfrm>
            <a:custGeom>
              <a:avLst/>
              <a:gdLst/>
              <a:ahLst/>
              <a:cxnLst/>
              <a:rect l="l" t="t" r="r" b="b"/>
              <a:pathLst>
                <a:path w="812800" h="812800">
                  <a:moveTo>
                    <a:pt x="67743" y="0"/>
                  </a:moveTo>
                  <a:lnTo>
                    <a:pt x="745057" y="0"/>
                  </a:lnTo>
                  <a:cubicBezTo>
                    <a:pt x="782470" y="0"/>
                    <a:pt x="812800" y="30330"/>
                    <a:pt x="812800" y="67743"/>
                  </a:cubicBezTo>
                  <a:lnTo>
                    <a:pt x="812800" y="745057"/>
                  </a:lnTo>
                  <a:cubicBezTo>
                    <a:pt x="812800" y="782470"/>
                    <a:pt x="782470" y="812800"/>
                    <a:pt x="745057" y="812800"/>
                  </a:cubicBezTo>
                  <a:lnTo>
                    <a:pt x="67743" y="812800"/>
                  </a:lnTo>
                  <a:cubicBezTo>
                    <a:pt x="30330" y="812800"/>
                    <a:pt x="0" y="782470"/>
                    <a:pt x="0" y="745057"/>
                  </a:cubicBezTo>
                  <a:lnTo>
                    <a:pt x="0" y="67743"/>
                  </a:lnTo>
                  <a:cubicBezTo>
                    <a:pt x="0" y="30330"/>
                    <a:pt x="30330" y="0"/>
                    <a:pt x="67743" y="0"/>
                  </a:cubicBezTo>
                  <a:close/>
                </a:path>
              </a:pathLst>
            </a:custGeom>
            <a:blipFill>
              <a:blip r:embed="rId3"/>
              <a:stretch>
                <a:fillRect l="-2325" r="-2325"/>
              </a:stretch>
            </a:blipFill>
          </p:spPr>
        </p:sp>
      </p:grpSp>
      <p:grpSp>
        <p:nvGrpSpPr>
          <p:cNvPr id="21" name="Group 21"/>
          <p:cNvGrpSpPr/>
          <p:nvPr/>
        </p:nvGrpSpPr>
        <p:grpSpPr>
          <a:xfrm>
            <a:off x="1181867" y="3238879"/>
            <a:ext cx="2628521" cy="2628521"/>
            <a:chOff x="0" y="0"/>
            <a:chExt cx="812800" cy="812800"/>
          </a:xfrm>
        </p:grpSpPr>
        <p:sp>
          <p:nvSpPr>
            <p:cNvPr id="22" name="Freeform 22"/>
            <p:cNvSpPr/>
            <p:nvPr/>
          </p:nvSpPr>
          <p:spPr>
            <a:xfrm>
              <a:off x="0" y="0"/>
              <a:ext cx="812800" cy="812800"/>
            </a:xfrm>
            <a:custGeom>
              <a:avLst/>
              <a:gdLst/>
              <a:ahLst/>
              <a:cxnLst/>
              <a:rect l="l" t="t" r="r" b="b"/>
              <a:pathLst>
                <a:path w="812800" h="812800">
                  <a:moveTo>
                    <a:pt x="67743" y="0"/>
                  </a:moveTo>
                  <a:lnTo>
                    <a:pt x="745057" y="0"/>
                  </a:lnTo>
                  <a:cubicBezTo>
                    <a:pt x="782470" y="0"/>
                    <a:pt x="812800" y="30330"/>
                    <a:pt x="812800" y="67743"/>
                  </a:cubicBezTo>
                  <a:lnTo>
                    <a:pt x="812800" y="745057"/>
                  </a:lnTo>
                  <a:cubicBezTo>
                    <a:pt x="812800" y="782470"/>
                    <a:pt x="782470" y="812800"/>
                    <a:pt x="745057" y="812800"/>
                  </a:cubicBezTo>
                  <a:lnTo>
                    <a:pt x="67743" y="812800"/>
                  </a:lnTo>
                  <a:cubicBezTo>
                    <a:pt x="30330" y="812800"/>
                    <a:pt x="0" y="782470"/>
                    <a:pt x="0" y="745057"/>
                  </a:cubicBezTo>
                  <a:lnTo>
                    <a:pt x="0" y="67743"/>
                  </a:lnTo>
                  <a:cubicBezTo>
                    <a:pt x="0" y="30330"/>
                    <a:pt x="30330" y="0"/>
                    <a:pt x="67743" y="0"/>
                  </a:cubicBezTo>
                  <a:close/>
                </a:path>
              </a:pathLst>
            </a:custGeom>
            <a:blipFill>
              <a:blip r:embed="rId4"/>
              <a:stretch>
                <a:fillRect l="-2967" r="-2967"/>
              </a:stretch>
            </a:blipFill>
          </p:spPr>
        </p:sp>
      </p:grpSp>
      <p:grpSp>
        <p:nvGrpSpPr>
          <p:cNvPr id="23" name="Group 23"/>
          <p:cNvGrpSpPr/>
          <p:nvPr/>
        </p:nvGrpSpPr>
        <p:grpSpPr>
          <a:xfrm>
            <a:off x="11014720" y="3124318"/>
            <a:ext cx="2906616" cy="6611888"/>
            <a:chOff x="0" y="0"/>
            <a:chExt cx="765528" cy="1741403"/>
          </a:xfrm>
        </p:grpSpPr>
        <p:sp>
          <p:nvSpPr>
            <p:cNvPr id="24" name="Freeform 24"/>
            <p:cNvSpPr/>
            <p:nvPr/>
          </p:nvSpPr>
          <p:spPr>
            <a:xfrm>
              <a:off x="0" y="0"/>
              <a:ext cx="765528" cy="1741403"/>
            </a:xfrm>
            <a:custGeom>
              <a:avLst/>
              <a:gdLst/>
              <a:ahLst/>
              <a:cxnLst/>
              <a:rect l="l" t="t" r="r" b="b"/>
              <a:pathLst>
                <a:path w="765528" h="1741403">
                  <a:moveTo>
                    <a:pt x="61262" y="0"/>
                  </a:moveTo>
                  <a:lnTo>
                    <a:pt x="704267" y="0"/>
                  </a:lnTo>
                  <a:cubicBezTo>
                    <a:pt x="738101" y="0"/>
                    <a:pt x="765528" y="27428"/>
                    <a:pt x="765528" y="61262"/>
                  </a:cubicBezTo>
                  <a:lnTo>
                    <a:pt x="765528" y="1680141"/>
                  </a:lnTo>
                  <a:cubicBezTo>
                    <a:pt x="765528" y="1713975"/>
                    <a:pt x="738101" y="1741403"/>
                    <a:pt x="704267" y="1741403"/>
                  </a:cubicBezTo>
                  <a:lnTo>
                    <a:pt x="61262" y="1741403"/>
                  </a:lnTo>
                  <a:cubicBezTo>
                    <a:pt x="27428" y="1741403"/>
                    <a:pt x="0" y="1713975"/>
                    <a:pt x="0" y="1680141"/>
                  </a:cubicBezTo>
                  <a:lnTo>
                    <a:pt x="0" y="61262"/>
                  </a:lnTo>
                  <a:cubicBezTo>
                    <a:pt x="0" y="27428"/>
                    <a:pt x="27428" y="0"/>
                    <a:pt x="61262" y="0"/>
                  </a:cubicBezTo>
                  <a:close/>
                </a:path>
              </a:pathLst>
            </a:custGeom>
            <a:solidFill>
              <a:srgbClr val="EFEFEF"/>
            </a:solidFill>
          </p:spPr>
        </p:sp>
        <p:sp>
          <p:nvSpPr>
            <p:cNvPr id="25" name="TextBox 25"/>
            <p:cNvSpPr txBox="1"/>
            <p:nvPr/>
          </p:nvSpPr>
          <p:spPr>
            <a:xfrm>
              <a:off x="0" y="-47625"/>
              <a:ext cx="765528" cy="1789028"/>
            </a:xfrm>
            <a:prstGeom prst="rect">
              <a:avLst/>
            </a:prstGeom>
          </p:spPr>
          <p:txBody>
            <a:bodyPr lIns="50800" tIns="50800" rIns="50800" bIns="50800" rtlCol="0" anchor="ctr"/>
            <a:lstStyle/>
            <a:p>
              <a:pPr algn="ctr">
                <a:lnSpc>
                  <a:spcPts val="2659"/>
                </a:lnSpc>
              </a:pPr>
              <a:endParaRPr/>
            </a:p>
          </p:txBody>
        </p:sp>
      </p:grpSp>
      <p:grpSp>
        <p:nvGrpSpPr>
          <p:cNvPr id="26" name="Group 26"/>
          <p:cNvGrpSpPr/>
          <p:nvPr/>
        </p:nvGrpSpPr>
        <p:grpSpPr>
          <a:xfrm>
            <a:off x="11153767" y="3238879"/>
            <a:ext cx="2628521" cy="2628521"/>
            <a:chOff x="0" y="0"/>
            <a:chExt cx="812800" cy="812800"/>
          </a:xfrm>
        </p:grpSpPr>
        <p:sp>
          <p:nvSpPr>
            <p:cNvPr id="27" name="Freeform 27"/>
            <p:cNvSpPr/>
            <p:nvPr/>
          </p:nvSpPr>
          <p:spPr>
            <a:xfrm>
              <a:off x="0" y="0"/>
              <a:ext cx="812800" cy="812800"/>
            </a:xfrm>
            <a:custGeom>
              <a:avLst/>
              <a:gdLst/>
              <a:ahLst/>
              <a:cxnLst/>
              <a:rect l="l" t="t" r="r" b="b"/>
              <a:pathLst>
                <a:path w="812800" h="812800">
                  <a:moveTo>
                    <a:pt x="67743" y="0"/>
                  </a:moveTo>
                  <a:lnTo>
                    <a:pt x="745057" y="0"/>
                  </a:lnTo>
                  <a:cubicBezTo>
                    <a:pt x="782470" y="0"/>
                    <a:pt x="812800" y="30330"/>
                    <a:pt x="812800" y="67743"/>
                  </a:cubicBezTo>
                  <a:lnTo>
                    <a:pt x="812800" y="745057"/>
                  </a:lnTo>
                  <a:cubicBezTo>
                    <a:pt x="812800" y="782470"/>
                    <a:pt x="782470" y="812800"/>
                    <a:pt x="745057" y="812800"/>
                  </a:cubicBezTo>
                  <a:lnTo>
                    <a:pt x="67743" y="812800"/>
                  </a:lnTo>
                  <a:cubicBezTo>
                    <a:pt x="30330" y="812800"/>
                    <a:pt x="0" y="782470"/>
                    <a:pt x="0" y="745057"/>
                  </a:cubicBezTo>
                  <a:lnTo>
                    <a:pt x="0" y="67743"/>
                  </a:lnTo>
                  <a:cubicBezTo>
                    <a:pt x="0" y="30330"/>
                    <a:pt x="30330" y="0"/>
                    <a:pt x="67743" y="0"/>
                  </a:cubicBezTo>
                  <a:close/>
                </a:path>
              </a:pathLst>
            </a:custGeom>
            <a:blipFill>
              <a:blip r:embed="rId5"/>
              <a:stretch>
                <a:fillRect t="-2546" b="-2546"/>
              </a:stretch>
            </a:blipFill>
          </p:spPr>
        </p:sp>
      </p:grpSp>
      <p:grpSp>
        <p:nvGrpSpPr>
          <p:cNvPr id="28" name="Group 28"/>
          <p:cNvGrpSpPr/>
          <p:nvPr/>
        </p:nvGrpSpPr>
        <p:grpSpPr>
          <a:xfrm>
            <a:off x="14338565" y="3124318"/>
            <a:ext cx="2906616" cy="6611888"/>
            <a:chOff x="0" y="0"/>
            <a:chExt cx="765528" cy="1741403"/>
          </a:xfrm>
        </p:grpSpPr>
        <p:sp>
          <p:nvSpPr>
            <p:cNvPr id="29" name="Freeform 29"/>
            <p:cNvSpPr/>
            <p:nvPr/>
          </p:nvSpPr>
          <p:spPr>
            <a:xfrm>
              <a:off x="0" y="0"/>
              <a:ext cx="765528" cy="1741403"/>
            </a:xfrm>
            <a:custGeom>
              <a:avLst/>
              <a:gdLst/>
              <a:ahLst/>
              <a:cxnLst/>
              <a:rect l="l" t="t" r="r" b="b"/>
              <a:pathLst>
                <a:path w="765528" h="1741403">
                  <a:moveTo>
                    <a:pt x="61262" y="0"/>
                  </a:moveTo>
                  <a:lnTo>
                    <a:pt x="704267" y="0"/>
                  </a:lnTo>
                  <a:cubicBezTo>
                    <a:pt x="738101" y="0"/>
                    <a:pt x="765528" y="27428"/>
                    <a:pt x="765528" y="61262"/>
                  </a:cubicBezTo>
                  <a:lnTo>
                    <a:pt x="765528" y="1680141"/>
                  </a:lnTo>
                  <a:cubicBezTo>
                    <a:pt x="765528" y="1713975"/>
                    <a:pt x="738101" y="1741403"/>
                    <a:pt x="704267" y="1741403"/>
                  </a:cubicBezTo>
                  <a:lnTo>
                    <a:pt x="61262" y="1741403"/>
                  </a:lnTo>
                  <a:cubicBezTo>
                    <a:pt x="27428" y="1741403"/>
                    <a:pt x="0" y="1713975"/>
                    <a:pt x="0" y="1680141"/>
                  </a:cubicBezTo>
                  <a:lnTo>
                    <a:pt x="0" y="61262"/>
                  </a:lnTo>
                  <a:cubicBezTo>
                    <a:pt x="0" y="27428"/>
                    <a:pt x="27428" y="0"/>
                    <a:pt x="61262" y="0"/>
                  </a:cubicBezTo>
                  <a:close/>
                </a:path>
              </a:pathLst>
            </a:custGeom>
            <a:solidFill>
              <a:srgbClr val="EFEFEF"/>
            </a:solidFill>
          </p:spPr>
        </p:sp>
        <p:sp>
          <p:nvSpPr>
            <p:cNvPr id="30" name="TextBox 30"/>
            <p:cNvSpPr txBox="1"/>
            <p:nvPr/>
          </p:nvSpPr>
          <p:spPr>
            <a:xfrm>
              <a:off x="0" y="-47625"/>
              <a:ext cx="765528" cy="1789028"/>
            </a:xfrm>
            <a:prstGeom prst="rect">
              <a:avLst/>
            </a:prstGeom>
          </p:spPr>
          <p:txBody>
            <a:bodyPr lIns="50800" tIns="50800" rIns="50800" bIns="50800" rtlCol="0" anchor="ctr"/>
            <a:lstStyle/>
            <a:p>
              <a:pPr algn="ctr">
                <a:lnSpc>
                  <a:spcPts val="2659"/>
                </a:lnSpc>
              </a:pPr>
              <a:endParaRPr/>
            </a:p>
          </p:txBody>
        </p:sp>
      </p:grpSp>
      <p:grpSp>
        <p:nvGrpSpPr>
          <p:cNvPr id="31" name="Group 31"/>
          <p:cNvGrpSpPr/>
          <p:nvPr/>
        </p:nvGrpSpPr>
        <p:grpSpPr>
          <a:xfrm>
            <a:off x="14477613" y="3238879"/>
            <a:ext cx="2628521" cy="2628521"/>
            <a:chOff x="0" y="0"/>
            <a:chExt cx="812800" cy="812800"/>
          </a:xfrm>
        </p:grpSpPr>
        <p:sp>
          <p:nvSpPr>
            <p:cNvPr id="32" name="Freeform 32"/>
            <p:cNvSpPr/>
            <p:nvPr/>
          </p:nvSpPr>
          <p:spPr>
            <a:xfrm>
              <a:off x="0" y="0"/>
              <a:ext cx="812800" cy="812800"/>
            </a:xfrm>
            <a:custGeom>
              <a:avLst/>
              <a:gdLst/>
              <a:ahLst/>
              <a:cxnLst/>
              <a:rect l="l" t="t" r="r" b="b"/>
              <a:pathLst>
                <a:path w="812800" h="812800">
                  <a:moveTo>
                    <a:pt x="67743" y="0"/>
                  </a:moveTo>
                  <a:lnTo>
                    <a:pt x="745057" y="0"/>
                  </a:lnTo>
                  <a:cubicBezTo>
                    <a:pt x="782470" y="0"/>
                    <a:pt x="812800" y="30330"/>
                    <a:pt x="812800" y="67743"/>
                  </a:cubicBezTo>
                  <a:lnTo>
                    <a:pt x="812800" y="745057"/>
                  </a:lnTo>
                  <a:cubicBezTo>
                    <a:pt x="812800" y="782470"/>
                    <a:pt x="782470" y="812800"/>
                    <a:pt x="745057" y="812800"/>
                  </a:cubicBezTo>
                  <a:lnTo>
                    <a:pt x="67743" y="812800"/>
                  </a:lnTo>
                  <a:cubicBezTo>
                    <a:pt x="30330" y="812800"/>
                    <a:pt x="0" y="782470"/>
                    <a:pt x="0" y="745057"/>
                  </a:cubicBezTo>
                  <a:lnTo>
                    <a:pt x="0" y="67743"/>
                  </a:lnTo>
                  <a:cubicBezTo>
                    <a:pt x="0" y="30330"/>
                    <a:pt x="30330" y="0"/>
                    <a:pt x="67743" y="0"/>
                  </a:cubicBezTo>
                  <a:close/>
                </a:path>
              </a:pathLst>
            </a:custGeom>
            <a:blipFill>
              <a:blip r:embed="rId6"/>
              <a:stretch>
                <a:fillRect t="-2437" b="-2437"/>
              </a:stretch>
            </a:blipFill>
          </p:spPr>
        </p:sp>
      </p:grpSp>
      <p:sp>
        <p:nvSpPr>
          <p:cNvPr id="33" name="TextBox 33"/>
          <p:cNvSpPr txBox="1"/>
          <p:nvPr/>
        </p:nvSpPr>
        <p:spPr>
          <a:xfrm>
            <a:off x="1028700" y="1502528"/>
            <a:ext cx="5282295" cy="1002665"/>
          </a:xfrm>
          <a:prstGeom prst="rect">
            <a:avLst/>
          </a:prstGeom>
        </p:spPr>
        <p:txBody>
          <a:bodyPr lIns="0" tIns="0" rIns="0" bIns="0" rtlCol="0" anchor="t">
            <a:spAutoFit/>
          </a:bodyPr>
          <a:lstStyle/>
          <a:p>
            <a:pPr algn="l">
              <a:lnSpc>
                <a:spcPts val="7930"/>
              </a:lnSpc>
            </a:pPr>
            <a:r>
              <a:rPr lang="en-US" sz="6500" b="1">
                <a:solidFill>
                  <a:srgbClr val="006DAC"/>
                </a:solidFill>
                <a:latin typeface="Proxima Nova Bold"/>
                <a:ea typeface="Proxima Nova Bold"/>
                <a:cs typeface="Proxima Nova Bold"/>
                <a:sym typeface="Proxima Nova Bold"/>
              </a:rPr>
              <a:t>TEAM ROLES</a:t>
            </a:r>
          </a:p>
        </p:txBody>
      </p:sp>
      <p:sp>
        <p:nvSpPr>
          <p:cNvPr id="34" name="TextBox 34"/>
          <p:cNvSpPr txBox="1"/>
          <p:nvPr/>
        </p:nvSpPr>
        <p:spPr>
          <a:xfrm>
            <a:off x="13898354" y="1644768"/>
            <a:ext cx="3360946" cy="860424"/>
          </a:xfrm>
          <a:prstGeom prst="rect">
            <a:avLst/>
          </a:prstGeom>
        </p:spPr>
        <p:txBody>
          <a:bodyPr lIns="0" tIns="0" rIns="0" bIns="0" rtlCol="0" anchor="t">
            <a:spAutoFit/>
          </a:bodyPr>
          <a:lstStyle/>
          <a:p>
            <a:pPr algn="r">
              <a:lnSpc>
                <a:spcPts val="3500"/>
              </a:lnSpc>
            </a:pPr>
            <a:r>
              <a:rPr lang="en-US" sz="2500">
                <a:solidFill>
                  <a:srgbClr val="006DAC"/>
                </a:solidFill>
                <a:latin typeface="Proxima Nova"/>
                <a:ea typeface="Proxima Nova"/>
                <a:cs typeface="Proxima Nova"/>
                <a:sym typeface="Proxima Nova"/>
              </a:rPr>
              <a:t>Group 25 </a:t>
            </a:r>
          </a:p>
          <a:p>
            <a:pPr algn="r">
              <a:lnSpc>
                <a:spcPts val="3500"/>
              </a:lnSpc>
            </a:pPr>
            <a:r>
              <a:rPr lang="en-US" sz="2500">
                <a:solidFill>
                  <a:srgbClr val="006DAC"/>
                </a:solidFill>
                <a:latin typeface="Proxima Nova"/>
                <a:ea typeface="Proxima Nova"/>
                <a:cs typeface="Proxima Nova"/>
                <a:sym typeface="Proxima Nova"/>
              </a:rPr>
              <a:t>Link: </a:t>
            </a:r>
            <a:r>
              <a:rPr lang="en-US" sz="2500" u="sng">
                <a:solidFill>
                  <a:srgbClr val="006DAC"/>
                </a:solidFill>
                <a:latin typeface="Proxima Nova"/>
                <a:ea typeface="Proxima Nova"/>
                <a:cs typeface="Proxima Nova"/>
                <a:sym typeface="Proxima Nova"/>
                <a:hlinkClick r:id="rId7" tooltip="https://gitlab.com/belos-e-a-monstra/gps2526_g25"/>
              </a:rPr>
              <a:t>repositorio_gitlab</a:t>
            </a:r>
          </a:p>
        </p:txBody>
      </p:sp>
      <p:sp>
        <p:nvSpPr>
          <p:cNvPr id="35" name="TextBox 35"/>
          <p:cNvSpPr txBox="1"/>
          <p:nvPr/>
        </p:nvSpPr>
        <p:spPr>
          <a:xfrm>
            <a:off x="198311" y="220550"/>
            <a:ext cx="7474008" cy="321267"/>
          </a:xfrm>
          <a:prstGeom prst="rect">
            <a:avLst/>
          </a:prstGeom>
        </p:spPr>
        <p:txBody>
          <a:bodyPr lIns="0" tIns="0" rIns="0" bIns="0" rtlCol="0" anchor="t">
            <a:spAutoFit/>
          </a:bodyPr>
          <a:lstStyle/>
          <a:p>
            <a:pPr algn="l">
              <a:lnSpc>
                <a:spcPts val="2482"/>
              </a:lnSpc>
            </a:pPr>
            <a:r>
              <a:rPr lang="en-US" sz="2364" b="1">
                <a:solidFill>
                  <a:srgbClr val="006DAC"/>
                </a:solidFill>
                <a:latin typeface="Proxima Nova Bold"/>
                <a:ea typeface="Proxima Nova Bold"/>
                <a:cs typeface="Proxima Nova Bold"/>
                <a:sym typeface="Proxima Nova Bold"/>
              </a:rPr>
              <a:t>Presented by → Beatriz Marques</a:t>
            </a:r>
          </a:p>
        </p:txBody>
      </p:sp>
      <p:sp>
        <p:nvSpPr>
          <p:cNvPr id="36" name="TextBox 36"/>
          <p:cNvSpPr txBox="1"/>
          <p:nvPr/>
        </p:nvSpPr>
        <p:spPr>
          <a:xfrm>
            <a:off x="1423700" y="5962709"/>
            <a:ext cx="2144853" cy="422274"/>
          </a:xfrm>
          <a:prstGeom prst="rect">
            <a:avLst/>
          </a:prstGeom>
        </p:spPr>
        <p:txBody>
          <a:bodyPr lIns="0" tIns="0" rIns="0" bIns="0" rtlCol="0" anchor="t">
            <a:spAutoFit/>
          </a:bodyPr>
          <a:lstStyle/>
          <a:p>
            <a:pPr algn="just">
              <a:lnSpc>
                <a:spcPts val="3500"/>
              </a:lnSpc>
            </a:pPr>
            <a:r>
              <a:rPr lang="en-US" sz="2500" b="1">
                <a:solidFill>
                  <a:srgbClr val="006DAC"/>
                </a:solidFill>
                <a:latin typeface="Proxima Nova Bold"/>
                <a:ea typeface="Proxima Nova Bold"/>
                <a:cs typeface="Proxima Nova Bold"/>
                <a:sym typeface="Proxima Nova Bold"/>
              </a:rPr>
              <a:t>Pedro Amorim</a:t>
            </a:r>
          </a:p>
        </p:txBody>
      </p:sp>
      <p:sp>
        <p:nvSpPr>
          <p:cNvPr id="37" name="TextBox 37"/>
          <p:cNvSpPr txBox="1"/>
          <p:nvPr/>
        </p:nvSpPr>
        <p:spPr>
          <a:xfrm>
            <a:off x="4747910" y="5962709"/>
            <a:ext cx="2144853" cy="422274"/>
          </a:xfrm>
          <a:prstGeom prst="rect">
            <a:avLst/>
          </a:prstGeom>
        </p:spPr>
        <p:txBody>
          <a:bodyPr lIns="0" tIns="0" rIns="0" bIns="0" rtlCol="0" anchor="t">
            <a:spAutoFit/>
          </a:bodyPr>
          <a:lstStyle/>
          <a:p>
            <a:pPr algn="just">
              <a:lnSpc>
                <a:spcPts val="3500"/>
              </a:lnSpc>
            </a:pPr>
            <a:r>
              <a:rPr lang="en-US" sz="2500" b="1">
                <a:solidFill>
                  <a:srgbClr val="006DAC"/>
                </a:solidFill>
                <a:latin typeface="Proxima Nova Bold"/>
                <a:ea typeface="Proxima Nova Bold"/>
                <a:cs typeface="Proxima Nova Bold"/>
                <a:sym typeface="Proxima Nova Bold"/>
              </a:rPr>
              <a:t>Tiago Oliveira</a:t>
            </a:r>
          </a:p>
        </p:txBody>
      </p:sp>
      <p:sp>
        <p:nvSpPr>
          <p:cNvPr id="38" name="TextBox 38"/>
          <p:cNvSpPr txBox="1"/>
          <p:nvPr/>
        </p:nvSpPr>
        <p:spPr>
          <a:xfrm>
            <a:off x="7926499" y="5978388"/>
            <a:ext cx="2439106" cy="422274"/>
          </a:xfrm>
          <a:prstGeom prst="rect">
            <a:avLst/>
          </a:prstGeom>
        </p:spPr>
        <p:txBody>
          <a:bodyPr lIns="0" tIns="0" rIns="0" bIns="0" rtlCol="0" anchor="t">
            <a:spAutoFit/>
          </a:bodyPr>
          <a:lstStyle/>
          <a:p>
            <a:pPr algn="just">
              <a:lnSpc>
                <a:spcPts val="3500"/>
              </a:lnSpc>
            </a:pPr>
            <a:r>
              <a:rPr lang="en-US" sz="2500" b="1">
                <a:solidFill>
                  <a:srgbClr val="006DAC"/>
                </a:solidFill>
                <a:latin typeface="Proxima Nova Bold"/>
                <a:ea typeface="Proxima Nova Bold"/>
                <a:cs typeface="Proxima Nova Bold"/>
                <a:sym typeface="Proxima Nova Bold"/>
              </a:rPr>
              <a:t>Beatriz Marques</a:t>
            </a:r>
          </a:p>
        </p:txBody>
      </p:sp>
      <p:sp>
        <p:nvSpPr>
          <p:cNvPr id="39" name="TextBox 39"/>
          <p:cNvSpPr txBox="1"/>
          <p:nvPr/>
        </p:nvSpPr>
        <p:spPr>
          <a:xfrm>
            <a:off x="11248475" y="5962709"/>
            <a:ext cx="2439106" cy="422274"/>
          </a:xfrm>
          <a:prstGeom prst="rect">
            <a:avLst/>
          </a:prstGeom>
        </p:spPr>
        <p:txBody>
          <a:bodyPr lIns="0" tIns="0" rIns="0" bIns="0" rtlCol="0" anchor="t">
            <a:spAutoFit/>
          </a:bodyPr>
          <a:lstStyle/>
          <a:p>
            <a:pPr algn="just">
              <a:lnSpc>
                <a:spcPts val="3500"/>
              </a:lnSpc>
            </a:pPr>
            <a:r>
              <a:rPr lang="en-US" sz="2500" b="1">
                <a:solidFill>
                  <a:srgbClr val="006DAC"/>
                </a:solidFill>
                <a:latin typeface="Proxima Nova Bold"/>
                <a:ea typeface="Proxima Nova Bold"/>
                <a:cs typeface="Proxima Nova Bold"/>
                <a:sym typeface="Proxima Nova Bold"/>
              </a:rPr>
              <a:t>António Correia</a:t>
            </a:r>
          </a:p>
        </p:txBody>
      </p:sp>
      <p:sp>
        <p:nvSpPr>
          <p:cNvPr id="40" name="TextBox 40"/>
          <p:cNvSpPr txBox="1"/>
          <p:nvPr/>
        </p:nvSpPr>
        <p:spPr>
          <a:xfrm>
            <a:off x="14856906" y="5978388"/>
            <a:ext cx="1869933" cy="422274"/>
          </a:xfrm>
          <a:prstGeom prst="rect">
            <a:avLst/>
          </a:prstGeom>
        </p:spPr>
        <p:txBody>
          <a:bodyPr lIns="0" tIns="0" rIns="0" bIns="0" rtlCol="0" anchor="t">
            <a:spAutoFit/>
          </a:bodyPr>
          <a:lstStyle/>
          <a:p>
            <a:pPr algn="just">
              <a:lnSpc>
                <a:spcPts val="3500"/>
              </a:lnSpc>
            </a:pPr>
            <a:r>
              <a:rPr lang="en-US" sz="2500" b="1">
                <a:solidFill>
                  <a:srgbClr val="006DAC"/>
                </a:solidFill>
                <a:latin typeface="Proxima Nova Bold"/>
                <a:ea typeface="Proxima Nova Bold"/>
                <a:cs typeface="Proxima Nova Bold"/>
                <a:sym typeface="Proxima Nova Bold"/>
              </a:rPr>
              <a:t>José Moreira</a:t>
            </a:r>
          </a:p>
        </p:txBody>
      </p:sp>
      <p:sp>
        <p:nvSpPr>
          <p:cNvPr id="41" name="TextBox 41"/>
          <p:cNvSpPr txBox="1"/>
          <p:nvPr/>
        </p:nvSpPr>
        <p:spPr>
          <a:xfrm>
            <a:off x="291395" y="6581351"/>
            <a:ext cx="737305" cy="372744"/>
          </a:xfrm>
          <a:prstGeom prst="rect">
            <a:avLst/>
          </a:prstGeom>
        </p:spPr>
        <p:txBody>
          <a:bodyPr lIns="0" tIns="0" rIns="0" bIns="0" rtlCol="0" anchor="t">
            <a:spAutoFit/>
          </a:bodyPr>
          <a:lstStyle/>
          <a:p>
            <a:pPr algn="just">
              <a:lnSpc>
                <a:spcPts val="3080"/>
              </a:lnSpc>
            </a:pPr>
            <a:r>
              <a:rPr lang="en-US" sz="2200">
                <a:solidFill>
                  <a:srgbClr val="006DAC"/>
                </a:solidFill>
                <a:latin typeface="Proxima Nova"/>
                <a:ea typeface="Proxima Nova"/>
                <a:cs typeface="Proxima Nova"/>
                <a:sym typeface="Proxima Nova"/>
              </a:rPr>
              <a:t>S0 → </a:t>
            </a:r>
          </a:p>
        </p:txBody>
      </p:sp>
      <p:sp>
        <p:nvSpPr>
          <p:cNvPr id="42" name="TextBox 42"/>
          <p:cNvSpPr txBox="1"/>
          <p:nvPr/>
        </p:nvSpPr>
        <p:spPr>
          <a:xfrm>
            <a:off x="1577918" y="6581351"/>
            <a:ext cx="1836417" cy="372744"/>
          </a:xfrm>
          <a:prstGeom prst="rect">
            <a:avLst/>
          </a:prstGeom>
        </p:spPr>
        <p:txBody>
          <a:bodyPr lIns="0" tIns="0" rIns="0" bIns="0" rtlCol="0" anchor="t">
            <a:spAutoFit/>
          </a:bodyPr>
          <a:lstStyle/>
          <a:p>
            <a:pPr algn="just">
              <a:lnSpc>
                <a:spcPts val="3080"/>
              </a:lnSpc>
            </a:pPr>
            <a:r>
              <a:rPr lang="en-US" sz="2200">
                <a:solidFill>
                  <a:srgbClr val="006DAC"/>
                </a:solidFill>
                <a:latin typeface="Proxima Nova"/>
                <a:ea typeface="Proxima Nova"/>
                <a:cs typeface="Proxima Nova"/>
                <a:sym typeface="Proxima Nova"/>
              </a:rPr>
              <a:t>Scrum Master </a:t>
            </a:r>
          </a:p>
        </p:txBody>
      </p:sp>
      <p:sp>
        <p:nvSpPr>
          <p:cNvPr id="43" name="TextBox 43"/>
          <p:cNvSpPr txBox="1"/>
          <p:nvPr/>
        </p:nvSpPr>
        <p:spPr>
          <a:xfrm>
            <a:off x="5543276" y="6581351"/>
            <a:ext cx="554120" cy="372744"/>
          </a:xfrm>
          <a:prstGeom prst="rect">
            <a:avLst/>
          </a:prstGeom>
        </p:spPr>
        <p:txBody>
          <a:bodyPr lIns="0" tIns="0" rIns="0" bIns="0" rtlCol="0" anchor="t">
            <a:spAutoFit/>
          </a:bodyPr>
          <a:lstStyle/>
          <a:p>
            <a:pPr algn="just">
              <a:lnSpc>
                <a:spcPts val="3080"/>
              </a:lnSpc>
            </a:pPr>
            <a:r>
              <a:rPr lang="en-US" sz="2200">
                <a:solidFill>
                  <a:srgbClr val="006DAC"/>
                </a:solidFill>
                <a:latin typeface="Proxima Nova"/>
                <a:ea typeface="Proxima Nova"/>
                <a:cs typeface="Proxima Nova"/>
                <a:sym typeface="Proxima Nova"/>
              </a:rPr>
              <a:t>Dev</a:t>
            </a:r>
          </a:p>
        </p:txBody>
      </p:sp>
      <p:sp>
        <p:nvSpPr>
          <p:cNvPr id="44" name="TextBox 44"/>
          <p:cNvSpPr txBox="1"/>
          <p:nvPr/>
        </p:nvSpPr>
        <p:spPr>
          <a:xfrm>
            <a:off x="8174414" y="6581351"/>
            <a:ext cx="1943275" cy="372744"/>
          </a:xfrm>
          <a:prstGeom prst="rect">
            <a:avLst/>
          </a:prstGeom>
        </p:spPr>
        <p:txBody>
          <a:bodyPr lIns="0" tIns="0" rIns="0" bIns="0" rtlCol="0" anchor="t">
            <a:spAutoFit/>
          </a:bodyPr>
          <a:lstStyle/>
          <a:p>
            <a:pPr algn="just">
              <a:lnSpc>
                <a:spcPts val="3080"/>
              </a:lnSpc>
            </a:pPr>
            <a:r>
              <a:rPr lang="en-US" sz="2200">
                <a:solidFill>
                  <a:srgbClr val="006DAC"/>
                </a:solidFill>
                <a:latin typeface="Proxima Nova"/>
                <a:ea typeface="Proxima Nova"/>
                <a:cs typeface="Proxima Nova"/>
                <a:sym typeface="Proxima Nova"/>
              </a:rPr>
              <a:t>Product Owner</a:t>
            </a:r>
          </a:p>
        </p:txBody>
      </p:sp>
      <p:sp>
        <p:nvSpPr>
          <p:cNvPr id="45" name="TextBox 45"/>
          <p:cNvSpPr txBox="1"/>
          <p:nvPr/>
        </p:nvSpPr>
        <p:spPr>
          <a:xfrm>
            <a:off x="12191903" y="6581351"/>
            <a:ext cx="554120" cy="372744"/>
          </a:xfrm>
          <a:prstGeom prst="rect">
            <a:avLst/>
          </a:prstGeom>
        </p:spPr>
        <p:txBody>
          <a:bodyPr lIns="0" tIns="0" rIns="0" bIns="0" rtlCol="0" anchor="t">
            <a:spAutoFit/>
          </a:bodyPr>
          <a:lstStyle/>
          <a:p>
            <a:pPr algn="just">
              <a:lnSpc>
                <a:spcPts val="3080"/>
              </a:lnSpc>
            </a:pPr>
            <a:r>
              <a:rPr lang="en-US" sz="2200">
                <a:solidFill>
                  <a:srgbClr val="006DAC"/>
                </a:solidFill>
                <a:latin typeface="Proxima Nova"/>
                <a:ea typeface="Proxima Nova"/>
                <a:cs typeface="Proxima Nova"/>
                <a:sym typeface="Proxima Nova"/>
              </a:rPr>
              <a:t>Dev</a:t>
            </a:r>
          </a:p>
        </p:txBody>
      </p:sp>
      <p:sp>
        <p:nvSpPr>
          <p:cNvPr id="46" name="TextBox 46"/>
          <p:cNvSpPr txBox="1"/>
          <p:nvPr/>
        </p:nvSpPr>
        <p:spPr>
          <a:xfrm>
            <a:off x="14994812" y="6581351"/>
            <a:ext cx="1594123" cy="372744"/>
          </a:xfrm>
          <a:prstGeom prst="rect">
            <a:avLst/>
          </a:prstGeom>
        </p:spPr>
        <p:txBody>
          <a:bodyPr lIns="0" tIns="0" rIns="0" bIns="0" rtlCol="0" anchor="t">
            <a:spAutoFit/>
          </a:bodyPr>
          <a:lstStyle/>
          <a:p>
            <a:pPr algn="just">
              <a:lnSpc>
                <a:spcPts val="3080"/>
              </a:lnSpc>
            </a:pPr>
            <a:r>
              <a:rPr lang="en-US" sz="2200">
                <a:solidFill>
                  <a:srgbClr val="006DAC"/>
                </a:solidFill>
                <a:latin typeface="Proxima Nova"/>
                <a:ea typeface="Proxima Nova"/>
                <a:cs typeface="Proxima Nova"/>
                <a:sym typeface="Proxima Nova"/>
              </a:rPr>
              <a:t>QA Engineer</a:t>
            </a:r>
          </a:p>
        </p:txBody>
      </p:sp>
      <p:sp>
        <p:nvSpPr>
          <p:cNvPr id="47" name="TextBox 47"/>
          <p:cNvSpPr txBox="1"/>
          <p:nvPr/>
        </p:nvSpPr>
        <p:spPr>
          <a:xfrm>
            <a:off x="291395" y="7197200"/>
            <a:ext cx="737305" cy="372744"/>
          </a:xfrm>
          <a:prstGeom prst="rect">
            <a:avLst/>
          </a:prstGeom>
        </p:spPr>
        <p:txBody>
          <a:bodyPr lIns="0" tIns="0" rIns="0" bIns="0" rtlCol="0" anchor="t">
            <a:spAutoFit/>
          </a:bodyPr>
          <a:lstStyle/>
          <a:p>
            <a:pPr algn="just">
              <a:lnSpc>
                <a:spcPts val="3080"/>
              </a:lnSpc>
            </a:pPr>
            <a:r>
              <a:rPr lang="en-US" sz="2200">
                <a:solidFill>
                  <a:srgbClr val="006DAC"/>
                </a:solidFill>
                <a:latin typeface="Proxima Nova"/>
                <a:ea typeface="Proxima Nova"/>
                <a:cs typeface="Proxima Nova"/>
                <a:sym typeface="Proxima Nova"/>
              </a:rPr>
              <a:t>S1  → </a:t>
            </a:r>
          </a:p>
        </p:txBody>
      </p:sp>
      <p:sp>
        <p:nvSpPr>
          <p:cNvPr id="48" name="TextBox 48"/>
          <p:cNvSpPr txBox="1"/>
          <p:nvPr/>
        </p:nvSpPr>
        <p:spPr>
          <a:xfrm>
            <a:off x="291395" y="7817595"/>
            <a:ext cx="737305" cy="372744"/>
          </a:xfrm>
          <a:prstGeom prst="rect">
            <a:avLst/>
          </a:prstGeom>
        </p:spPr>
        <p:txBody>
          <a:bodyPr lIns="0" tIns="0" rIns="0" bIns="0" rtlCol="0" anchor="t">
            <a:spAutoFit/>
          </a:bodyPr>
          <a:lstStyle/>
          <a:p>
            <a:pPr algn="just">
              <a:lnSpc>
                <a:spcPts val="3080"/>
              </a:lnSpc>
            </a:pPr>
            <a:r>
              <a:rPr lang="en-US" sz="2200">
                <a:solidFill>
                  <a:srgbClr val="006DAC"/>
                </a:solidFill>
                <a:latin typeface="Proxima Nova"/>
                <a:ea typeface="Proxima Nova"/>
                <a:cs typeface="Proxima Nova"/>
                <a:sym typeface="Proxima Nova"/>
              </a:rPr>
              <a:t>S2 → </a:t>
            </a:r>
          </a:p>
        </p:txBody>
      </p:sp>
      <p:sp>
        <p:nvSpPr>
          <p:cNvPr id="49" name="TextBox 49"/>
          <p:cNvSpPr txBox="1"/>
          <p:nvPr/>
        </p:nvSpPr>
        <p:spPr>
          <a:xfrm>
            <a:off x="291395" y="8437989"/>
            <a:ext cx="737305" cy="372744"/>
          </a:xfrm>
          <a:prstGeom prst="rect">
            <a:avLst/>
          </a:prstGeom>
        </p:spPr>
        <p:txBody>
          <a:bodyPr lIns="0" tIns="0" rIns="0" bIns="0" rtlCol="0" anchor="t">
            <a:spAutoFit/>
          </a:bodyPr>
          <a:lstStyle/>
          <a:p>
            <a:pPr algn="just">
              <a:lnSpc>
                <a:spcPts val="3080"/>
              </a:lnSpc>
            </a:pPr>
            <a:r>
              <a:rPr lang="en-US" sz="2200">
                <a:solidFill>
                  <a:srgbClr val="006DAC"/>
                </a:solidFill>
                <a:latin typeface="Proxima Nova"/>
                <a:ea typeface="Proxima Nova"/>
                <a:cs typeface="Proxima Nova"/>
                <a:sym typeface="Proxima Nova"/>
              </a:rPr>
              <a:t>S3 → </a:t>
            </a:r>
          </a:p>
        </p:txBody>
      </p:sp>
      <p:sp>
        <p:nvSpPr>
          <p:cNvPr id="50" name="TextBox 50"/>
          <p:cNvSpPr txBox="1"/>
          <p:nvPr/>
        </p:nvSpPr>
        <p:spPr>
          <a:xfrm>
            <a:off x="305514" y="9052878"/>
            <a:ext cx="737305" cy="372744"/>
          </a:xfrm>
          <a:prstGeom prst="rect">
            <a:avLst/>
          </a:prstGeom>
        </p:spPr>
        <p:txBody>
          <a:bodyPr lIns="0" tIns="0" rIns="0" bIns="0" rtlCol="0" anchor="t">
            <a:spAutoFit/>
          </a:bodyPr>
          <a:lstStyle/>
          <a:p>
            <a:pPr algn="just">
              <a:lnSpc>
                <a:spcPts val="3080"/>
              </a:lnSpc>
            </a:pPr>
            <a:r>
              <a:rPr lang="en-US" sz="2200">
                <a:solidFill>
                  <a:srgbClr val="006DAC"/>
                </a:solidFill>
                <a:latin typeface="Proxima Nova"/>
                <a:ea typeface="Proxima Nova"/>
                <a:cs typeface="Proxima Nova"/>
                <a:sym typeface="Proxima Nova"/>
              </a:rPr>
              <a:t>S4 → </a:t>
            </a:r>
          </a:p>
        </p:txBody>
      </p:sp>
      <p:sp>
        <p:nvSpPr>
          <p:cNvPr id="51" name="TextBox 51"/>
          <p:cNvSpPr txBox="1"/>
          <p:nvPr/>
        </p:nvSpPr>
        <p:spPr>
          <a:xfrm>
            <a:off x="4902128" y="7197200"/>
            <a:ext cx="1836417" cy="372744"/>
          </a:xfrm>
          <a:prstGeom prst="rect">
            <a:avLst/>
          </a:prstGeom>
        </p:spPr>
        <p:txBody>
          <a:bodyPr lIns="0" tIns="0" rIns="0" bIns="0" rtlCol="0" anchor="t">
            <a:spAutoFit/>
          </a:bodyPr>
          <a:lstStyle/>
          <a:p>
            <a:pPr algn="just">
              <a:lnSpc>
                <a:spcPts val="3080"/>
              </a:lnSpc>
            </a:pPr>
            <a:r>
              <a:rPr lang="en-US" sz="2200">
                <a:solidFill>
                  <a:srgbClr val="006DAC"/>
                </a:solidFill>
                <a:latin typeface="Proxima Nova"/>
                <a:ea typeface="Proxima Nova"/>
                <a:cs typeface="Proxima Nova"/>
                <a:sym typeface="Proxima Nova"/>
              </a:rPr>
              <a:t>Scrum Master </a:t>
            </a:r>
          </a:p>
        </p:txBody>
      </p:sp>
      <p:sp>
        <p:nvSpPr>
          <p:cNvPr id="52" name="TextBox 52"/>
          <p:cNvSpPr txBox="1"/>
          <p:nvPr/>
        </p:nvSpPr>
        <p:spPr>
          <a:xfrm>
            <a:off x="2219067" y="7197200"/>
            <a:ext cx="554120" cy="372744"/>
          </a:xfrm>
          <a:prstGeom prst="rect">
            <a:avLst/>
          </a:prstGeom>
        </p:spPr>
        <p:txBody>
          <a:bodyPr lIns="0" tIns="0" rIns="0" bIns="0" rtlCol="0" anchor="t">
            <a:spAutoFit/>
          </a:bodyPr>
          <a:lstStyle/>
          <a:p>
            <a:pPr algn="just">
              <a:lnSpc>
                <a:spcPts val="3080"/>
              </a:lnSpc>
            </a:pPr>
            <a:r>
              <a:rPr lang="en-US" sz="2200">
                <a:solidFill>
                  <a:srgbClr val="006DAC"/>
                </a:solidFill>
                <a:latin typeface="Proxima Nova"/>
                <a:ea typeface="Proxima Nova"/>
                <a:cs typeface="Proxima Nova"/>
                <a:sym typeface="Proxima Nova"/>
              </a:rPr>
              <a:t>Dev</a:t>
            </a:r>
          </a:p>
        </p:txBody>
      </p:sp>
      <p:sp>
        <p:nvSpPr>
          <p:cNvPr id="53" name="TextBox 53"/>
          <p:cNvSpPr txBox="1"/>
          <p:nvPr/>
        </p:nvSpPr>
        <p:spPr>
          <a:xfrm>
            <a:off x="15578827" y="7197200"/>
            <a:ext cx="554120" cy="372744"/>
          </a:xfrm>
          <a:prstGeom prst="rect">
            <a:avLst/>
          </a:prstGeom>
        </p:spPr>
        <p:txBody>
          <a:bodyPr lIns="0" tIns="0" rIns="0" bIns="0" rtlCol="0" anchor="t">
            <a:spAutoFit/>
          </a:bodyPr>
          <a:lstStyle/>
          <a:p>
            <a:pPr algn="just">
              <a:lnSpc>
                <a:spcPts val="3080"/>
              </a:lnSpc>
            </a:pPr>
            <a:r>
              <a:rPr lang="en-US" sz="2200">
                <a:solidFill>
                  <a:srgbClr val="006DAC"/>
                </a:solidFill>
                <a:latin typeface="Proxima Nova"/>
                <a:ea typeface="Proxima Nova"/>
                <a:cs typeface="Proxima Nova"/>
                <a:sym typeface="Proxima Nova"/>
              </a:rPr>
              <a:t>Dev</a:t>
            </a:r>
          </a:p>
        </p:txBody>
      </p:sp>
      <p:sp>
        <p:nvSpPr>
          <p:cNvPr id="54" name="TextBox 54"/>
          <p:cNvSpPr txBox="1"/>
          <p:nvPr/>
        </p:nvSpPr>
        <p:spPr>
          <a:xfrm>
            <a:off x="11551860" y="7197200"/>
            <a:ext cx="1943275" cy="372744"/>
          </a:xfrm>
          <a:prstGeom prst="rect">
            <a:avLst/>
          </a:prstGeom>
        </p:spPr>
        <p:txBody>
          <a:bodyPr lIns="0" tIns="0" rIns="0" bIns="0" rtlCol="0" anchor="t">
            <a:spAutoFit/>
          </a:bodyPr>
          <a:lstStyle/>
          <a:p>
            <a:pPr algn="just">
              <a:lnSpc>
                <a:spcPts val="3080"/>
              </a:lnSpc>
            </a:pPr>
            <a:r>
              <a:rPr lang="en-US" sz="2200">
                <a:solidFill>
                  <a:srgbClr val="006DAC"/>
                </a:solidFill>
                <a:latin typeface="Proxima Nova"/>
                <a:ea typeface="Proxima Nova"/>
                <a:cs typeface="Proxima Nova"/>
                <a:sym typeface="Proxima Nova"/>
              </a:rPr>
              <a:t>Product Owner</a:t>
            </a:r>
          </a:p>
        </p:txBody>
      </p:sp>
      <p:sp>
        <p:nvSpPr>
          <p:cNvPr id="55" name="TextBox 55"/>
          <p:cNvSpPr txBox="1"/>
          <p:nvPr/>
        </p:nvSpPr>
        <p:spPr>
          <a:xfrm>
            <a:off x="8348990" y="7197200"/>
            <a:ext cx="1594123" cy="372744"/>
          </a:xfrm>
          <a:prstGeom prst="rect">
            <a:avLst/>
          </a:prstGeom>
        </p:spPr>
        <p:txBody>
          <a:bodyPr lIns="0" tIns="0" rIns="0" bIns="0" rtlCol="0" anchor="t">
            <a:spAutoFit/>
          </a:bodyPr>
          <a:lstStyle/>
          <a:p>
            <a:pPr algn="just">
              <a:lnSpc>
                <a:spcPts val="3080"/>
              </a:lnSpc>
            </a:pPr>
            <a:r>
              <a:rPr lang="en-US" sz="2200">
                <a:solidFill>
                  <a:srgbClr val="006DAC"/>
                </a:solidFill>
                <a:latin typeface="Proxima Nova"/>
                <a:ea typeface="Proxima Nova"/>
                <a:cs typeface="Proxima Nova"/>
                <a:sym typeface="Proxima Nova"/>
              </a:rPr>
              <a:t>QA Engineer</a:t>
            </a:r>
          </a:p>
        </p:txBody>
      </p:sp>
      <p:sp>
        <p:nvSpPr>
          <p:cNvPr id="56" name="TextBox 56"/>
          <p:cNvSpPr txBox="1"/>
          <p:nvPr/>
        </p:nvSpPr>
        <p:spPr>
          <a:xfrm>
            <a:off x="8227843" y="7817595"/>
            <a:ext cx="1836417" cy="372744"/>
          </a:xfrm>
          <a:prstGeom prst="rect">
            <a:avLst/>
          </a:prstGeom>
        </p:spPr>
        <p:txBody>
          <a:bodyPr lIns="0" tIns="0" rIns="0" bIns="0" rtlCol="0" anchor="t">
            <a:spAutoFit/>
          </a:bodyPr>
          <a:lstStyle/>
          <a:p>
            <a:pPr algn="just">
              <a:lnSpc>
                <a:spcPts val="3080"/>
              </a:lnSpc>
            </a:pPr>
            <a:r>
              <a:rPr lang="en-US" sz="2200">
                <a:solidFill>
                  <a:srgbClr val="006DAC"/>
                </a:solidFill>
                <a:latin typeface="Proxima Nova"/>
                <a:ea typeface="Proxima Nova"/>
                <a:cs typeface="Proxima Nova"/>
                <a:sym typeface="Proxima Nova"/>
              </a:rPr>
              <a:t>Scrum Master </a:t>
            </a:r>
          </a:p>
        </p:txBody>
      </p:sp>
      <p:sp>
        <p:nvSpPr>
          <p:cNvPr id="57" name="TextBox 57"/>
          <p:cNvSpPr txBox="1"/>
          <p:nvPr/>
        </p:nvSpPr>
        <p:spPr>
          <a:xfrm>
            <a:off x="5543276" y="7817595"/>
            <a:ext cx="554120" cy="372744"/>
          </a:xfrm>
          <a:prstGeom prst="rect">
            <a:avLst/>
          </a:prstGeom>
        </p:spPr>
        <p:txBody>
          <a:bodyPr lIns="0" tIns="0" rIns="0" bIns="0" rtlCol="0" anchor="t">
            <a:spAutoFit/>
          </a:bodyPr>
          <a:lstStyle/>
          <a:p>
            <a:pPr algn="just">
              <a:lnSpc>
                <a:spcPts val="3080"/>
              </a:lnSpc>
            </a:pPr>
            <a:r>
              <a:rPr lang="en-US" sz="2200">
                <a:solidFill>
                  <a:srgbClr val="006DAC"/>
                </a:solidFill>
                <a:latin typeface="Proxima Nova"/>
                <a:ea typeface="Proxima Nova"/>
                <a:cs typeface="Proxima Nova"/>
                <a:sym typeface="Proxima Nova"/>
              </a:rPr>
              <a:t>Dev</a:t>
            </a:r>
          </a:p>
        </p:txBody>
      </p:sp>
      <p:sp>
        <p:nvSpPr>
          <p:cNvPr id="58" name="TextBox 58"/>
          <p:cNvSpPr txBox="1"/>
          <p:nvPr/>
        </p:nvSpPr>
        <p:spPr>
          <a:xfrm>
            <a:off x="12246437" y="7817595"/>
            <a:ext cx="554120" cy="372744"/>
          </a:xfrm>
          <a:prstGeom prst="rect">
            <a:avLst/>
          </a:prstGeom>
        </p:spPr>
        <p:txBody>
          <a:bodyPr lIns="0" tIns="0" rIns="0" bIns="0" rtlCol="0" anchor="t">
            <a:spAutoFit/>
          </a:bodyPr>
          <a:lstStyle/>
          <a:p>
            <a:pPr algn="just">
              <a:lnSpc>
                <a:spcPts val="3080"/>
              </a:lnSpc>
            </a:pPr>
            <a:r>
              <a:rPr lang="en-US" sz="2200">
                <a:solidFill>
                  <a:srgbClr val="006DAC"/>
                </a:solidFill>
                <a:latin typeface="Proxima Nova"/>
                <a:ea typeface="Proxima Nova"/>
                <a:cs typeface="Proxima Nova"/>
                <a:sym typeface="Proxima Nova"/>
              </a:rPr>
              <a:t>Dev</a:t>
            </a:r>
          </a:p>
        </p:txBody>
      </p:sp>
      <p:sp>
        <p:nvSpPr>
          <p:cNvPr id="59" name="TextBox 59"/>
          <p:cNvSpPr txBox="1"/>
          <p:nvPr/>
        </p:nvSpPr>
        <p:spPr>
          <a:xfrm>
            <a:off x="1699065" y="7817595"/>
            <a:ext cx="1594123" cy="372744"/>
          </a:xfrm>
          <a:prstGeom prst="rect">
            <a:avLst/>
          </a:prstGeom>
        </p:spPr>
        <p:txBody>
          <a:bodyPr lIns="0" tIns="0" rIns="0" bIns="0" rtlCol="0" anchor="t">
            <a:spAutoFit/>
          </a:bodyPr>
          <a:lstStyle/>
          <a:p>
            <a:pPr algn="just">
              <a:lnSpc>
                <a:spcPts val="3080"/>
              </a:lnSpc>
            </a:pPr>
            <a:r>
              <a:rPr lang="en-US" sz="2200">
                <a:solidFill>
                  <a:srgbClr val="006DAC"/>
                </a:solidFill>
                <a:latin typeface="Proxima Nova"/>
                <a:ea typeface="Proxima Nova"/>
                <a:cs typeface="Proxima Nova"/>
                <a:sym typeface="Proxima Nova"/>
              </a:rPr>
              <a:t>QA Engineer</a:t>
            </a:r>
          </a:p>
        </p:txBody>
      </p:sp>
      <p:sp>
        <p:nvSpPr>
          <p:cNvPr id="60" name="TextBox 60"/>
          <p:cNvSpPr txBox="1"/>
          <p:nvPr/>
        </p:nvSpPr>
        <p:spPr>
          <a:xfrm>
            <a:off x="14856906" y="7817595"/>
            <a:ext cx="1943275" cy="372744"/>
          </a:xfrm>
          <a:prstGeom prst="rect">
            <a:avLst/>
          </a:prstGeom>
        </p:spPr>
        <p:txBody>
          <a:bodyPr lIns="0" tIns="0" rIns="0" bIns="0" rtlCol="0" anchor="t">
            <a:spAutoFit/>
          </a:bodyPr>
          <a:lstStyle/>
          <a:p>
            <a:pPr algn="just">
              <a:lnSpc>
                <a:spcPts val="3080"/>
              </a:lnSpc>
            </a:pPr>
            <a:r>
              <a:rPr lang="en-US" sz="2200">
                <a:solidFill>
                  <a:srgbClr val="006DAC"/>
                </a:solidFill>
                <a:latin typeface="Proxima Nova"/>
                <a:ea typeface="Proxima Nova"/>
                <a:cs typeface="Proxima Nova"/>
                <a:sym typeface="Proxima Nova"/>
              </a:rPr>
              <a:t>Product Owner</a:t>
            </a:r>
          </a:p>
        </p:txBody>
      </p:sp>
      <p:sp>
        <p:nvSpPr>
          <p:cNvPr id="61" name="TextBox 61"/>
          <p:cNvSpPr txBox="1"/>
          <p:nvPr/>
        </p:nvSpPr>
        <p:spPr>
          <a:xfrm>
            <a:off x="14910336" y="8371314"/>
            <a:ext cx="1836417" cy="372744"/>
          </a:xfrm>
          <a:prstGeom prst="rect">
            <a:avLst/>
          </a:prstGeom>
        </p:spPr>
        <p:txBody>
          <a:bodyPr lIns="0" tIns="0" rIns="0" bIns="0" rtlCol="0" anchor="t">
            <a:spAutoFit/>
          </a:bodyPr>
          <a:lstStyle/>
          <a:p>
            <a:pPr algn="just">
              <a:lnSpc>
                <a:spcPts val="3080"/>
              </a:lnSpc>
            </a:pPr>
            <a:r>
              <a:rPr lang="en-US" sz="2200">
                <a:solidFill>
                  <a:srgbClr val="006DAC"/>
                </a:solidFill>
                <a:latin typeface="Proxima Nova"/>
                <a:ea typeface="Proxima Nova"/>
                <a:cs typeface="Proxima Nova"/>
                <a:sym typeface="Proxima Nova"/>
              </a:rPr>
              <a:t>Scrum Master </a:t>
            </a:r>
          </a:p>
        </p:txBody>
      </p:sp>
      <p:sp>
        <p:nvSpPr>
          <p:cNvPr id="62" name="TextBox 62"/>
          <p:cNvSpPr txBox="1"/>
          <p:nvPr/>
        </p:nvSpPr>
        <p:spPr>
          <a:xfrm>
            <a:off x="4849452" y="8437989"/>
            <a:ext cx="1943275" cy="372744"/>
          </a:xfrm>
          <a:prstGeom prst="rect">
            <a:avLst/>
          </a:prstGeom>
        </p:spPr>
        <p:txBody>
          <a:bodyPr lIns="0" tIns="0" rIns="0" bIns="0" rtlCol="0" anchor="t">
            <a:spAutoFit/>
          </a:bodyPr>
          <a:lstStyle/>
          <a:p>
            <a:pPr algn="just">
              <a:lnSpc>
                <a:spcPts val="3080"/>
              </a:lnSpc>
            </a:pPr>
            <a:r>
              <a:rPr lang="en-US" sz="2200">
                <a:solidFill>
                  <a:srgbClr val="006DAC"/>
                </a:solidFill>
                <a:latin typeface="Proxima Nova"/>
                <a:ea typeface="Proxima Nova"/>
                <a:cs typeface="Proxima Nova"/>
                <a:sym typeface="Proxima Nova"/>
              </a:rPr>
              <a:t>Product Owner</a:t>
            </a:r>
          </a:p>
        </p:txBody>
      </p:sp>
      <p:sp>
        <p:nvSpPr>
          <p:cNvPr id="63" name="TextBox 63"/>
          <p:cNvSpPr txBox="1"/>
          <p:nvPr/>
        </p:nvSpPr>
        <p:spPr>
          <a:xfrm>
            <a:off x="11670966" y="8371314"/>
            <a:ext cx="1594123" cy="372744"/>
          </a:xfrm>
          <a:prstGeom prst="rect">
            <a:avLst/>
          </a:prstGeom>
        </p:spPr>
        <p:txBody>
          <a:bodyPr lIns="0" tIns="0" rIns="0" bIns="0" rtlCol="0" anchor="t">
            <a:spAutoFit/>
          </a:bodyPr>
          <a:lstStyle/>
          <a:p>
            <a:pPr algn="just">
              <a:lnSpc>
                <a:spcPts val="3080"/>
              </a:lnSpc>
            </a:pPr>
            <a:r>
              <a:rPr lang="en-US" sz="2200">
                <a:solidFill>
                  <a:srgbClr val="006DAC"/>
                </a:solidFill>
                <a:latin typeface="Proxima Nova"/>
                <a:ea typeface="Proxima Nova"/>
                <a:cs typeface="Proxima Nova"/>
                <a:sym typeface="Proxima Nova"/>
              </a:rPr>
              <a:t>QA Engineer</a:t>
            </a:r>
          </a:p>
        </p:txBody>
      </p:sp>
      <p:sp>
        <p:nvSpPr>
          <p:cNvPr id="64" name="TextBox 64"/>
          <p:cNvSpPr txBox="1"/>
          <p:nvPr/>
        </p:nvSpPr>
        <p:spPr>
          <a:xfrm>
            <a:off x="2219067" y="8437989"/>
            <a:ext cx="554120" cy="372744"/>
          </a:xfrm>
          <a:prstGeom prst="rect">
            <a:avLst/>
          </a:prstGeom>
        </p:spPr>
        <p:txBody>
          <a:bodyPr lIns="0" tIns="0" rIns="0" bIns="0" rtlCol="0" anchor="t">
            <a:spAutoFit/>
          </a:bodyPr>
          <a:lstStyle/>
          <a:p>
            <a:pPr algn="just">
              <a:lnSpc>
                <a:spcPts val="3080"/>
              </a:lnSpc>
            </a:pPr>
            <a:r>
              <a:rPr lang="en-US" sz="2200">
                <a:solidFill>
                  <a:srgbClr val="006DAC"/>
                </a:solidFill>
                <a:latin typeface="Proxima Nova"/>
                <a:ea typeface="Proxima Nova"/>
                <a:cs typeface="Proxima Nova"/>
                <a:sym typeface="Proxima Nova"/>
              </a:rPr>
              <a:t>Dev</a:t>
            </a:r>
          </a:p>
        </p:txBody>
      </p:sp>
      <p:sp>
        <p:nvSpPr>
          <p:cNvPr id="65" name="TextBox 65"/>
          <p:cNvSpPr txBox="1"/>
          <p:nvPr/>
        </p:nvSpPr>
        <p:spPr>
          <a:xfrm>
            <a:off x="8868992" y="8437989"/>
            <a:ext cx="554120" cy="372744"/>
          </a:xfrm>
          <a:prstGeom prst="rect">
            <a:avLst/>
          </a:prstGeom>
        </p:spPr>
        <p:txBody>
          <a:bodyPr lIns="0" tIns="0" rIns="0" bIns="0" rtlCol="0" anchor="t">
            <a:spAutoFit/>
          </a:bodyPr>
          <a:lstStyle/>
          <a:p>
            <a:pPr algn="just">
              <a:lnSpc>
                <a:spcPts val="3080"/>
              </a:lnSpc>
            </a:pPr>
            <a:r>
              <a:rPr lang="en-US" sz="2200">
                <a:solidFill>
                  <a:srgbClr val="006DAC"/>
                </a:solidFill>
                <a:latin typeface="Proxima Nova"/>
                <a:ea typeface="Proxima Nova"/>
                <a:cs typeface="Proxima Nova"/>
                <a:sym typeface="Proxima Nova"/>
              </a:rPr>
              <a:t>Dev</a:t>
            </a:r>
          </a:p>
        </p:txBody>
      </p:sp>
      <p:sp>
        <p:nvSpPr>
          <p:cNvPr id="66" name="TextBox 66"/>
          <p:cNvSpPr txBox="1"/>
          <p:nvPr/>
        </p:nvSpPr>
        <p:spPr>
          <a:xfrm>
            <a:off x="8868992" y="9058383"/>
            <a:ext cx="554120" cy="372744"/>
          </a:xfrm>
          <a:prstGeom prst="rect">
            <a:avLst/>
          </a:prstGeom>
        </p:spPr>
        <p:txBody>
          <a:bodyPr lIns="0" tIns="0" rIns="0" bIns="0" rtlCol="0" anchor="t">
            <a:spAutoFit/>
          </a:bodyPr>
          <a:lstStyle/>
          <a:p>
            <a:pPr algn="just">
              <a:lnSpc>
                <a:spcPts val="3080"/>
              </a:lnSpc>
            </a:pPr>
            <a:r>
              <a:rPr lang="en-US" sz="2200">
                <a:solidFill>
                  <a:srgbClr val="006DAC"/>
                </a:solidFill>
                <a:latin typeface="Proxima Nova"/>
                <a:ea typeface="Proxima Nova"/>
                <a:cs typeface="Proxima Nova"/>
                <a:sym typeface="Proxima Nova"/>
              </a:rPr>
              <a:t>Dev</a:t>
            </a:r>
          </a:p>
        </p:txBody>
      </p:sp>
      <p:sp>
        <p:nvSpPr>
          <p:cNvPr id="67" name="TextBox 67"/>
          <p:cNvSpPr txBox="1"/>
          <p:nvPr/>
        </p:nvSpPr>
        <p:spPr>
          <a:xfrm>
            <a:off x="15551484" y="9052878"/>
            <a:ext cx="554120" cy="372744"/>
          </a:xfrm>
          <a:prstGeom prst="rect">
            <a:avLst/>
          </a:prstGeom>
        </p:spPr>
        <p:txBody>
          <a:bodyPr lIns="0" tIns="0" rIns="0" bIns="0" rtlCol="0" anchor="t">
            <a:spAutoFit/>
          </a:bodyPr>
          <a:lstStyle/>
          <a:p>
            <a:pPr algn="just">
              <a:lnSpc>
                <a:spcPts val="3080"/>
              </a:lnSpc>
            </a:pPr>
            <a:r>
              <a:rPr lang="en-US" sz="2200">
                <a:solidFill>
                  <a:srgbClr val="006DAC"/>
                </a:solidFill>
                <a:latin typeface="Proxima Nova"/>
                <a:ea typeface="Proxima Nova"/>
                <a:cs typeface="Proxima Nova"/>
                <a:sym typeface="Proxima Nova"/>
              </a:rPr>
              <a:t>Dev</a:t>
            </a:r>
          </a:p>
        </p:txBody>
      </p:sp>
      <p:sp>
        <p:nvSpPr>
          <p:cNvPr id="68" name="TextBox 68"/>
          <p:cNvSpPr txBox="1"/>
          <p:nvPr/>
        </p:nvSpPr>
        <p:spPr>
          <a:xfrm>
            <a:off x="1524489" y="9052878"/>
            <a:ext cx="1943275" cy="372744"/>
          </a:xfrm>
          <a:prstGeom prst="rect">
            <a:avLst/>
          </a:prstGeom>
        </p:spPr>
        <p:txBody>
          <a:bodyPr lIns="0" tIns="0" rIns="0" bIns="0" rtlCol="0" anchor="t">
            <a:spAutoFit/>
          </a:bodyPr>
          <a:lstStyle/>
          <a:p>
            <a:pPr algn="just">
              <a:lnSpc>
                <a:spcPts val="3080"/>
              </a:lnSpc>
            </a:pPr>
            <a:r>
              <a:rPr lang="en-US" sz="2200">
                <a:solidFill>
                  <a:srgbClr val="006DAC"/>
                </a:solidFill>
                <a:latin typeface="Proxima Nova"/>
                <a:ea typeface="Proxima Nova"/>
                <a:cs typeface="Proxima Nova"/>
                <a:sym typeface="Proxima Nova"/>
              </a:rPr>
              <a:t>Product Owner</a:t>
            </a:r>
          </a:p>
        </p:txBody>
      </p:sp>
      <p:sp>
        <p:nvSpPr>
          <p:cNvPr id="69" name="TextBox 69"/>
          <p:cNvSpPr txBox="1"/>
          <p:nvPr/>
        </p:nvSpPr>
        <p:spPr>
          <a:xfrm>
            <a:off x="5023275" y="9058383"/>
            <a:ext cx="1594123" cy="372744"/>
          </a:xfrm>
          <a:prstGeom prst="rect">
            <a:avLst/>
          </a:prstGeom>
        </p:spPr>
        <p:txBody>
          <a:bodyPr lIns="0" tIns="0" rIns="0" bIns="0" rtlCol="0" anchor="t">
            <a:spAutoFit/>
          </a:bodyPr>
          <a:lstStyle/>
          <a:p>
            <a:pPr algn="just">
              <a:lnSpc>
                <a:spcPts val="3080"/>
              </a:lnSpc>
            </a:pPr>
            <a:r>
              <a:rPr lang="en-US" sz="2200">
                <a:solidFill>
                  <a:srgbClr val="006DAC"/>
                </a:solidFill>
                <a:latin typeface="Proxima Nova"/>
                <a:ea typeface="Proxima Nova"/>
                <a:cs typeface="Proxima Nova"/>
                <a:sym typeface="Proxima Nova"/>
              </a:rPr>
              <a:t>QA Engineer</a:t>
            </a:r>
          </a:p>
        </p:txBody>
      </p:sp>
      <p:sp>
        <p:nvSpPr>
          <p:cNvPr id="70" name="TextBox 70"/>
          <p:cNvSpPr txBox="1"/>
          <p:nvPr/>
        </p:nvSpPr>
        <p:spPr>
          <a:xfrm>
            <a:off x="11675685" y="9058383"/>
            <a:ext cx="1836417" cy="372744"/>
          </a:xfrm>
          <a:prstGeom prst="rect">
            <a:avLst/>
          </a:prstGeom>
        </p:spPr>
        <p:txBody>
          <a:bodyPr lIns="0" tIns="0" rIns="0" bIns="0" rtlCol="0" anchor="t">
            <a:spAutoFit/>
          </a:bodyPr>
          <a:lstStyle/>
          <a:p>
            <a:pPr algn="just">
              <a:lnSpc>
                <a:spcPts val="3080"/>
              </a:lnSpc>
            </a:pPr>
            <a:r>
              <a:rPr lang="en-US" sz="2200">
                <a:solidFill>
                  <a:srgbClr val="006DAC"/>
                </a:solidFill>
                <a:latin typeface="Proxima Nova"/>
                <a:ea typeface="Proxima Nova"/>
                <a:cs typeface="Proxima Nova"/>
                <a:sym typeface="Proxima Nova"/>
              </a:rPr>
              <a:t>Scrum Master </a:t>
            </a:r>
          </a:p>
        </p:txBody>
      </p:sp>
    </p:spTree>
  </p:cSld>
  <p:clrMapOvr>
    <a:masterClrMapping/>
  </p:clrMapOvr>
  <p:transition spd="slow">
    <p:push dir="d"/>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3AFCA"/>
        </a:solidFill>
        <a:effectLst/>
      </p:bgPr>
    </p:bg>
    <p:spTree>
      <p:nvGrpSpPr>
        <p:cNvPr id="1" name=""/>
        <p:cNvGrpSpPr/>
        <p:nvPr/>
      </p:nvGrpSpPr>
      <p:grpSpPr>
        <a:xfrm>
          <a:off x="0" y="0"/>
          <a:ext cx="0" cy="0"/>
          <a:chOff x="0" y="0"/>
          <a:chExt cx="0" cy="0"/>
        </a:xfrm>
      </p:grpSpPr>
      <p:sp>
        <p:nvSpPr>
          <p:cNvPr id="2" name="TextBox 2"/>
          <p:cNvSpPr txBox="1"/>
          <p:nvPr/>
        </p:nvSpPr>
        <p:spPr>
          <a:xfrm>
            <a:off x="4648490" y="4632643"/>
            <a:ext cx="8991020" cy="1002665"/>
          </a:xfrm>
          <a:prstGeom prst="rect">
            <a:avLst/>
          </a:prstGeom>
        </p:spPr>
        <p:txBody>
          <a:bodyPr lIns="0" tIns="0" rIns="0" bIns="0" rtlCol="0" anchor="t">
            <a:spAutoFit/>
          </a:bodyPr>
          <a:lstStyle/>
          <a:p>
            <a:pPr algn="l">
              <a:lnSpc>
                <a:spcPts val="7930"/>
              </a:lnSpc>
              <a:spcBef>
                <a:spcPct val="0"/>
              </a:spcBef>
            </a:pPr>
            <a:r>
              <a:rPr lang="en-US" sz="6500" b="1">
                <a:solidFill>
                  <a:srgbClr val="FFFFFF"/>
                </a:solidFill>
                <a:latin typeface="Proxima Nova Heavy"/>
                <a:ea typeface="Proxima Nova Heavy"/>
                <a:cs typeface="Proxima Nova Heavy"/>
                <a:sym typeface="Proxima Nova Heavy"/>
              </a:rPr>
              <a:t>2. VISION AND SCOPE</a:t>
            </a:r>
          </a:p>
        </p:txBody>
      </p:sp>
      <p:sp>
        <p:nvSpPr>
          <p:cNvPr id="3" name="Freeform 3"/>
          <p:cNvSpPr/>
          <p:nvPr/>
        </p:nvSpPr>
        <p:spPr>
          <a:xfrm>
            <a:off x="-753219" y="6663269"/>
            <a:ext cx="16347068" cy="1328199"/>
          </a:xfrm>
          <a:custGeom>
            <a:avLst/>
            <a:gdLst/>
            <a:ahLst/>
            <a:cxnLst/>
            <a:rect l="l" t="t" r="r" b="b"/>
            <a:pathLst>
              <a:path w="16347068" h="1328199">
                <a:moveTo>
                  <a:pt x="0" y="0"/>
                </a:moveTo>
                <a:lnTo>
                  <a:pt x="16347068" y="0"/>
                </a:lnTo>
                <a:lnTo>
                  <a:pt x="16347068" y="1328199"/>
                </a:lnTo>
                <a:lnTo>
                  <a:pt x="0" y="132819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rot="-10800000">
            <a:off x="3708004" y="1928403"/>
            <a:ext cx="16347068" cy="1328199"/>
          </a:xfrm>
          <a:custGeom>
            <a:avLst/>
            <a:gdLst/>
            <a:ahLst/>
            <a:cxnLst/>
            <a:rect l="l" t="t" r="r" b="b"/>
            <a:pathLst>
              <a:path w="16347068" h="1328199">
                <a:moveTo>
                  <a:pt x="0" y="0"/>
                </a:moveTo>
                <a:lnTo>
                  <a:pt x="16347068" y="0"/>
                </a:lnTo>
                <a:lnTo>
                  <a:pt x="16347068" y="1328199"/>
                </a:lnTo>
                <a:lnTo>
                  <a:pt x="0" y="132819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Tree>
  </p:cSld>
  <p:clrMapOvr>
    <a:masterClrMapping/>
  </p:clrMapOvr>
  <p:transition spd="slow">
    <p:push/>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2077" y="662561"/>
            <a:ext cx="1660777" cy="1469400"/>
            <a:chOff x="0" y="0"/>
            <a:chExt cx="437406" cy="387002"/>
          </a:xfrm>
        </p:grpSpPr>
        <p:sp>
          <p:nvSpPr>
            <p:cNvPr id="3" name="Freeform 3"/>
            <p:cNvSpPr/>
            <p:nvPr/>
          </p:nvSpPr>
          <p:spPr>
            <a:xfrm>
              <a:off x="0" y="0"/>
              <a:ext cx="437406" cy="387002"/>
            </a:xfrm>
            <a:custGeom>
              <a:avLst/>
              <a:gdLst/>
              <a:ahLst/>
              <a:cxnLst/>
              <a:rect l="l" t="t" r="r" b="b"/>
              <a:pathLst>
                <a:path w="437406" h="387002">
                  <a:moveTo>
                    <a:pt x="0" y="0"/>
                  </a:moveTo>
                  <a:lnTo>
                    <a:pt x="437406" y="0"/>
                  </a:lnTo>
                  <a:lnTo>
                    <a:pt x="437406" y="387002"/>
                  </a:lnTo>
                  <a:lnTo>
                    <a:pt x="0" y="387002"/>
                  </a:lnTo>
                  <a:close/>
                </a:path>
              </a:pathLst>
            </a:custGeom>
            <a:solidFill>
              <a:srgbClr val="0CC0DF"/>
            </a:solidFill>
          </p:spPr>
        </p:sp>
        <p:sp>
          <p:nvSpPr>
            <p:cNvPr id="4" name="TextBox 4"/>
            <p:cNvSpPr txBox="1"/>
            <p:nvPr/>
          </p:nvSpPr>
          <p:spPr>
            <a:xfrm>
              <a:off x="0" y="-47625"/>
              <a:ext cx="437406" cy="434627"/>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5299271" y="9621587"/>
            <a:ext cx="1660777" cy="1469400"/>
            <a:chOff x="0" y="0"/>
            <a:chExt cx="437406" cy="387002"/>
          </a:xfrm>
        </p:grpSpPr>
        <p:sp>
          <p:nvSpPr>
            <p:cNvPr id="6" name="Freeform 6"/>
            <p:cNvSpPr/>
            <p:nvPr/>
          </p:nvSpPr>
          <p:spPr>
            <a:xfrm>
              <a:off x="0" y="0"/>
              <a:ext cx="437406" cy="387002"/>
            </a:xfrm>
            <a:custGeom>
              <a:avLst/>
              <a:gdLst/>
              <a:ahLst/>
              <a:cxnLst/>
              <a:rect l="l" t="t" r="r" b="b"/>
              <a:pathLst>
                <a:path w="437406" h="387002">
                  <a:moveTo>
                    <a:pt x="0" y="0"/>
                  </a:moveTo>
                  <a:lnTo>
                    <a:pt x="437406" y="0"/>
                  </a:lnTo>
                  <a:lnTo>
                    <a:pt x="437406" y="387002"/>
                  </a:lnTo>
                  <a:lnTo>
                    <a:pt x="0" y="387002"/>
                  </a:lnTo>
                  <a:close/>
                </a:path>
              </a:pathLst>
            </a:custGeom>
            <a:solidFill>
              <a:srgbClr val="0CC0DF"/>
            </a:solidFill>
          </p:spPr>
        </p:sp>
        <p:sp>
          <p:nvSpPr>
            <p:cNvPr id="7" name="TextBox 7"/>
            <p:cNvSpPr txBox="1"/>
            <p:nvPr/>
          </p:nvSpPr>
          <p:spPr>
            <a:xfrm>
              <a:off x="0" y="-47625"/>
              <a:ext cx="437406" cy="434627"/>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113241" y="662561"/>
            <a:ext cx="489701" cy="1469400"/>
            <a:chOff x="0" y="0"/>
            <a:chExt cx="128975" cy="387002"/>
          </a:xfrm>
        </p:grpSpPr>
        <p:sp>
          <p:nvSpPr>
            <p:cNvPr id="9" name="Freeform 9"/>
            <p:cNvSpPr/>
            <p:nvPr/>
          </p:nvSpPr>
          <p:spPr>
            <a:xfrm>
              <a:off x="0" y="0"/>
              <a:ext cx="128975" cy="387002"/>
            </a:xfrm>
            <a:custGeom>
              <a:avLst/>
              <a:gdLst/>
              <a:ahLst/>
              <a:cxnLst/>
              <a:rect l="l" t="t" r="r" b="b"/>
              <a:pathLst>
                <a:path w="128975" h="387002">
                  <a:moveTo>
                    <a:pt x="0" y="0"/>
                  </a:moveTo>
                  <a:lnTo>
                    <a:pt x="128975" y="0"/>
                  </a:lnTo>
                  <a:lnTo>
                    <a:pt x="128975" y="387002"/>
                  </a:lnTo>
                  <a:lnTo>
                    <a:pt x="0" y="387002"/>
                  </a:lnTo>
                  <a:close/>
                </a:path>
              </a:pathLst>
            </a:custGeom>
            <a:solidFill>
              <a:srgbClr val="006DAC"/>
            </a:solidFill>
          </p:spPr>
        </p:sp>
        <p:sp>
          <p:nvSpPr>
            <p:cNvPr id="10" name="TextBox 10"/>
            <p:cNvSpPr txBox="1"/>
            <p:nvPr/>
          </p:nvSpPr>
          <p:spPr>
            <a:xfrm>
              <a:off x="0" y="-47625"/>
              <a:ext cx="128975" cy="434627"/>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a:off x="17044589" y="9621587"/>
            <a:ext cx="489701" cy="1469400"/>
            <a:chOff x="0" y="0"/>
            <a:chExt cx="128975" cy="387002"/>
          </a:xfrm>
        </p:grpSpPr>
        <p:sp>
          <p:nvSpPr>
            <p:cNvPr id="12" name="Freeform 12"/>
            <p:cNvSpPr/>
            <p:nvPr/>
          </p:nvSpPr>
          <p:spPr>
            <a:xfrm>
              <a:off x="0" y="0"/>
              <a:ext cx="128975" cy="387002"/>
            </a:xfrm>
            <a:custGeom>
              <a:avLst/>
              <a:gdLst/>
              <a:ahLst/>
              <a:cxnLst/>
              <a:rect l="l" t="t" r="r" b="b"/>
              <a:pathLst>
                <a:path w="128975" h="387002">
                  <a:moveTo>
                    <a:pt x="0" y="0"/>
                  </a:moveTo>
                  <a:lnTo>
                    <a:pt x="128975" y="0"/>
                  </a:lnTo>
                  <a:lnTo>
                    <a:pt x="128975" y="387002"/>
                  </a:lnTo>
                  <a:lnTo>
                    <a:pt x="0" y="387002"/>
                  </a:lnTo>
                  <a:close/>
                </a:path>
              </a:pathLst>
            </a:custGeom>
            <a:solidFill>
              <a:srgbClr val="006DAC"/>
            </a:solidFill>
          </p:spPr>
        </p:sp>
        <p:sp>
          <p:nvSpPr>
            <p:cNvPr id="13" name="TextBox 13"/>
            <p:cNvSpPr txBox="1"/>
            <p:nvPr/>
          </p:nvSpPr>
          <p:spPr>
            <a:xfrm>
              <a:off x="0" y="-47625"/>
              <a:ext cx="128975" cy="434627"/>
            </a:xfrm>
            <a:prstGeom prst="rect">
              <a:avLst/>
            </a:prstGeom>
          </p:spPr>
          <p:txBody>
            <a:bodyPr lIns="50800" tIns="50800" rIns="50800" bIns="50800" rtlCol="0" anchor="ctr"/>
            <a:lstStyle/>
            <a:p>
              <a:pPr algn="ctr">
                <a:lnSpc>
                  <a:spcPts val="2659"/>
                </a:lnSpc>
                <a:spcBef>
                  <a:spcPct val="0"/>
                </a:spcBef>
              </a:pPr>
              <a:endParaRPr/>
            </a:p>
          </p:txBody>
        </p:sp>
      </p:grpSp>
      <p:grpSp>
        <p:nvGrpSpPr>
          <p:cNvPr id="14" name="Group 14"/>
          <p:cNvGrpSpPr/>
          <p:nvPr/>
        </p:nvGrpSpPr>
        <p:grpSpPr>
          <a:xfrm>
            <a:off x="524504" y="2853373"/>
            <a:ext cx="5357568" cy="6497756"/>
            <a:chOff x="0" y="0"/>
            <a:chExt cx="1411047" cy="1711343"/>
          </a:xfrm>
        </p:grpSpPr>
        <p:sp>
          <p:nvSpPr>
            <p:cNvPr id="15" name="Freeform 15"/>
            <p:cNvSpPr/>
            <p:nvPr/>
          </p:nvSpPr>
          <p:spPr>
            <a:xfrm>
              <a:off x="0" y="0"/>
              <a:ext cx="1411047" cy="1711343"/>
            </a:xfrm>
            <a:custGeom>
              <a:avLst/>
              <a:gdLst/>
              <a:ahLst/>
              <a:cxnLst/>
              <a:rect l="l" t="t" r="r" b="b"/>
              <a:pathLst>
                <a:path w="1411047" h="1711343">
                  <a:moveTo>
                    <a:pt x="31791" y="0"/>
                  </a:moveTo>
                  <a:lnTo>
                    <a:pt x="1379256" y="0"/>
                  </a:lnTo>
                  <a:cubicBezTo>
                    <a:pt x="1387687" y="0"/>
                    <a:pt x="1395773" y="3349"/>
                    <a:pt x="1401735" y="9311"/>
                  </a:cubicBezTo>
                  <a:cubicBezTo>
                    <a:pt x="1407697" y="15273"/>
                    <a:pt x="1411047" y="23359"/>
                    <a:pt x="1411047" y="31791"/>
                  </a:cubicBezTo>
                  <a:lnTo>
                    <a:pt x="1411047" y="1679552"/>
                  </a:lnTo>
                  <a:cubicBezTo>
                    <a:pt x="1411047" y="1687984"/>
                    <a:pt x="1407697" y="1696070"/>
                    <a:pt x="1401735" y="1702032"/>
                  </a:cubicBezTo>
                  <a:cubicBezTo>
                    <a:pt x="1395773" y="1707994"/>
                    <a:pt x="1387687" y="1711343"/>
                    <a:pt x="1379256" y="1711343"/>
                  </a:cubicBezTo>
                  <a:lnTo>
                    <a:pt x="31791" y="1711343"/>
                  </a:lnTo>
                  <a:cubicBezTo>
                    <a:pt x="23359" y="1711343"/>
                    <a:pt x="15273" y="1707994"/>
                    <a:pt x="9311" y="1702032"/>
                  </a:cubicBezTo>
                  <a:cubicBezTo>
                    <a:pt x="3349" y="1696070"/>
                    <a:pt x="0" y="1687984"/>
                    <a:pt x="0" y="1679552"/>
                  </a:cubicBezTo>
                  <a:lnTo>
                    <a:pt x="0" y="31791"/>
                  </a:lnTo>
                  <a:cubicBezTo>
                    <a:pt x="0" y="23359"/>
                    <a:pt x="3349" y="15273"/>
                    <a:pt x="9311" y="9311"/>
                  </a:cubicBezTo>
                  <a:cubicBezTo>
                    <a:pt x="15273" y="3349"/>
                    <a:pt x="23359" y="0"/>
                    <a:pt x="31791" y="0"/>
                  </a:cubicBezTo>
                  <a:close/>
                </a:path>
              </a:pathLst>
            </a:custGeom>
            <a:solidFill>
              <a:srgbClr val="000000">
                <a:alpha val="0"/>
              </a:srgbClr>
            </a:solidFill>
            <a:ln w="28575" cap="rnd">
              <a:solidFill>
                <a:srgbClr val="00306D"/>
              </a:solidFill>
              <a:prstDash val="solid"/>
              <a:round/>
            </a:ln>
          </p:spPr>
        </p:sp>
        <p:sp>
          <p:nvSpPr>
            <p:cNvPr id="16" name="TextBox 16"/>
            <p:cNvSpPr txBox="1"/>
            <p:nvPr/>
          </p:nvSpPr>
          <p:spPr>
            <a:xfrm>
              <a:off x="0" y="-38100"/>
              <a:ext cx="1411047" cy="1749443"/>
            </a:xfrm>
            <a:prstGeom prst="rect">
              <a:avLst/>
            </a:prstGeom>
          </p:spPr>
          <p:txBody>
            <a:bodyPr lIns="50800" tIns="50800" rIns="50800" bIns="50800" rtlCol="0" anchor="ctr"/>
            <a:lstStyle/>
            <a:p>
              <a:pPr algn="ctr">
                <a:lnSpc>
                  <a:spcPts val="3080"/>
                </a:lnSpc>
              </a:pPr>
              <a:endParaRPr/>
            </a:p>
          </p:txBody>
        </p:sp>
      </p:grpSp>
      <p:sp>
        <p:nvSpPr>
          <p:cNvPr id="17" name="TextBox 17"/>
          <p:cNvSpPr txBox="1"/>
          <p:nvPr/>
        </p:nvSpPr>
        <p:spPr>
          <a:xfrm>
            <a:off x="2223727" y="1121041"/>
            <a:ext cx="10897186" cy="2002790"/>
          </a:xfrm>
          <a:prstGeom prst="rect">
            <a:avLst/>
          </a:prstGeom>
        </p:spPr>
        <p:txBody>
          <a:bodyPr lIns="0" tIns="0" rIns="0" bIns="0" rtlCol="0" anchor="t">
            <a:spAutoFit/>
          </a:bodyPr>
          <a:lstStyle/>
          <a:p>
            <a:pPr algn="l">
              <a:lnSpc>
                <a:spcPts val="7930"/>
              </a:lnSpc>
            </a:pPr>
            <a:r>
              <a:rPr lang="en-US" sz="6500" b="1">
                <a:solidFill>
                  <a:srgbClr val="006DAC"/>
                </a:solidFill>
                <a:latin typeface="Proxima Nova Heavy"/>
                <a:ea typeface="Proxima Nova Heavy"/>
                <a:cs typeface="Proxima Nova Heavy"/>
                <a:sym typeface="Proxima Nova Heavy"/>
              </a:rPr>
              <a:t>VISION AND SCOPE</a:t>
            </a:r>
          </a:p>
          <a:p>
            <a:pPr marL="0" lvl="0" indent="0" algn="l">
              <a:lnSpc>
                <a:spcPts val="7930"/>
              </a:lnSpc>
              <a:spcBef>
                <a:spcPct val="0"/>
              </a:spcBef>
            </a:pPr>
            <a:endParaRPr lang="en-US" sz="6500" b="1">
              <a:solidFill>
                <a:srgbClr val="006DAC"/>
              </a:solidFill>
              <a:latin typeface="Proxima Nova Heavy"/>
              <a:ea typeface="Proxima Nova Heavy"/>
              <a:cs typeface="Proxima Nova Heavy"/>
              <a:sym typeface="Proxima Nova Heavy"/>
            </a:endParaRPr>
          </a:p>
        </p:txBody>
      </p:sp>
      <p:grpSp>
        <p:nvGrpSpPr>
          <p:cNvPr id="18" name="Group 18"/>
          <p:cNvGrpSpPr/>
          <p:nvPr/>
        </p:nvGrpSpPr>
        <p:grpSpPr>
          <a:xfrm>
            <a:off x="12405928" y="2853373"/>
            <a:ext cx="5357568" cy="6497756"/>
            <a:chOff x="0" y="0"/>
            <a:chExt cx="1411047" cy="1711343"/>
          </a:xfrm>
        </p:grpSpPr>
        <p:sp>
          <p:nvSpPr>
            <p:cNvPr id="19" name="Freeform 19"/>
            <p:cNvSpPr/>
            <p:nvPr/>
          </p:nvSpPr>
          <p:spPr>
            <a:xfrm>
              <a:off x="0" y="0"/>
              <a:ext cx="1411047" cy="1711343"/>
            </a:xfrm>
            <a:custGeom>
              <a:avLst/>
              <a:gdLst/>
              <a:ahLst/>
              <a:cxnLst/>
              <a:rect l="l" t="t" r="r" b="b"/>
              <a:pathLst>
                <a:path w="1411047" h="1711343">
                  <a:moveTo>
                    <a:pt x="31791" y="0"/>
                  </a:moveTo>
                  <a:lnTo>
                    <a:pt x="1379256" y="0"/>
                  </a:lnTo>
                  <a:cubicBezTo>
                    <a:pt x="1387687" y="0"/>
                    <a:pt x="1395773" y="3349"/>
                    <a:pt x="1401735" y="9311"/>
                  </a:cubicBezTo>
                  <a:cubicBezTo>
                    <a:pt x="1407697" y="15273"/>
                    <a:pt x="1411047" y="23359"/>
                    <a:pt x="1411047" y="31791"/>
                  </a:cubicBezTo>
                  <a:lnTo>
                    <a:pt x="1411047" y="1679552"/>
                  </a:lnTo>
                  <a:cubicBezTo>
                    <a:pt x="1411047" y="1687984"/>
                    <a:pt x="1407697" y="1696070"/>
                    <a:pt x="1401735" y="1702032"/>
                  </a:cubicBezTo>
                  <a:cubicBezTo>
                    <a:pt x="1395773" y="1707994"/>
                    <a:pt x="1387687" y="1711343"/>
                    <a:pt x="1379256" y="1711343"/>
                  </a:cubicBezTo>
                  <a:lnTo>
                    <a:pt x="31791" y="1711343"/>
                  </a:lnTo>
                  <a:cubicBezTo>
                    <a:pt x="23359" y="1711343"/>
                    <a:pt x="15273" y="1707994"/>
                    <a:pt x="9311" y="1702032"/>
                  </a:cubicBezTo>
                  <a:cubicBezTo>
                    <a:pt x="3349" y="1696070"/>
                    <a:pt x="0" y="1687984"/>
                    <a:pt x="0" y="1679552"/>
                  </a:cubicBezTo>
                  <a:lnTo>
                    <a:pt x="0" y="31791"/>
                  </a:lnTo>
                  <a:cubicBezTo>
                    <a:pt x="0" y="23359"/>
                    <a:pt x="3349" y="15273"/>
                    <a:pt x="9311" y="9311"/>
                  </a:cubicBezTo>
                  <a:cubicBezTo>
                    <a:pt x="15273" y="3349"/>
                    <a:pt x="23359" y="0"/>
                    <a:pt x="31791" y="0"/>
                  </a:cubicBezTo>
                  <a:close/>
                </a:path>
              </a:pathLst>
            </a:custGeom>
            <a:solidFill>
              <a:srgbClr val="000000">
                <a:alpha val="0"/>
              </a:srgbClr>
            </a:solidFill>
            <a:ln w="28575" cap="rnd">
              <a:solidFill>
                <a:srgbClr val="00306D"/>
              </a:solidFill>
              <a:prstDash val="solid"/>
              <a:round/>
            </a:ln>
          </p:spPr>
        </p:sp>
        <p:sp>
          <p:nvSpPr>
            <p:cNvPr id="20" name="TextBox 20"/>
            <p:cNvSpPr txBox="1"/>
            <p:nvPr/>
          </p:nvSpPr>
          <p:spPr>
            <a:xfrm>
              <a:off x="0" y="-38100"/>
              <a:ext cx="1411047" cy="1749443"/>
            </a:xfrm>
            <a:prstGeom prst="rect">
              <a:avLst/>
            </a:prstGeom>
          </p:spPr>
          <p:txBody>
            <a:bodyPr lIns="50800" tIns="50800" rIns="50800" bIns="50800" rtlCol="0" anchor="ctr"/>
            <a:lstStyle/>
            <a:p>
              <a:pPr algn="ctr">
                <a:lnSpc>
                  <a:spcPts val="3080"/>
                </a:lnSpc>
              </a:pPr>
              <a:endParaRPr/>
            </a:p>
          </p:txBody>
        </p:sp>
      </p:grpSp>
      <p:grpSp>
        <p:nvGrpSpPr>
          <p:cNvPr id="21" name="Group 21"/>
          <p:cNvGrpSpPr/>
          <p:nvPr/>
        </p:nvGrpSpPr>
        <p:grpSpPr>
          <a:xfrm>
            <a:off x="6467336" y="2853373"/>
            <a:ext cx="5357568" cy="6497756"/>
            <a:chOff x="0" y="0"/>
            <a:chExt cx="1411047" cy="1711343"/>
          </a:xfrm>
        </p:grpSpPr>
        <p:sp>
          <p:nvSpPr>
            <p:cNvPr id="22" name="Freeform 22"/>
            <p:cNvSpPr/>
            <p:nvPr/>
          </p:nvSpPr>
          <p:spPr>
            <a:xfrm>
              <a:off x="0" y="0"/>
              <a:ext cx="1411047" cy="1711343"/>
            </a:xfrm>
            <a:custGeom>
              <a:avLst/>
              <a:gdLst/>
              <a:ahLst/>
              <a:cxnLst/>
              <a:rect l="l" t="t" r="r" b="b"/>
              <a:pathLst>
                <a:path w="1411047" h="1711343">
                  <a:moveTo>
                    <a:pt x="31791" y="0"/>
                  </a:moveTo>
                  <a:lnTo>
                    <a:pt x="1379256" y="0"/>
                  </a:lnTo>
                  <a:cubicBezTo>
                    <a:pt x="1387687" y="0"/>
                    <a:pt x="1395773" y="3349"/>
                    <a:pt x="1401735" y="9311"/>
                  </a:cubicBezTo>
                  <a:cubicBezTo>
                    <a:pt x="1407697" y="15273"/>
                    <a:pt x="1411047" y="23359"/>
                    <a:pt x="1411047" y="31791"/>
                  </a:cubicBezTo>
                  <a:lnTo>
                    <a:pt x="1411047" y="1679552"/>
                  </a:lnTo>
                  <a:cubicBezTo>
                    <a:pt x="1411047" y="1687984"/>
                    <a:pt x="1407697" y="1696070"/>
                    <a:pt x="1401735" y="1702032"/>
                  </a:cubicBezTo>
                  <a:cubicBezTo>
                    <a:pt x="1395773" y="1707994"/>
                    <a:pt x="1387687" y="1711343"/>
                    <a:pt x="1379256" y="1711343"/>
                  </a:cubicBezTo>
                  <a:lnTo>
                    <a:pt x="31791" y="1711343"/>
                  </a:lnTo>
                  <a:cubicBezTo>
                    <a:pt x="23359" y="1711343"/>
                    <a:pt x="15273" y="1707994"/>
                    <a:pt x="9311" y="1702032"/>
                  </a:cubicBezTo>
                  <a:cubicBezTo>
                    <a:pt x="3349" y="1696070"/>
                    <a:pt x="0" y="1687984"/>
                    <a:pt x="0" y="1679552"/>
                  </a:cubicBezTo>
                  <a:lnTo>
                    <a:pt x="0" y="31791"/>
                  </a:lnTo>
                  <a:cubicBezTo>
                    <a:pt x="0" y="23359"/>
                    <a:pt x="3349" y="15273"/>
                    <a:pt x="9311" y="9311"/>
                  </a:cubicBezTo>
                  <a:cubicBezTo>
                    <a:pt x="15273" y="3349"/>
                    <a:pt x="23359" y="0"/>
                    <a:pt x="31791" y="0"/>
                  </a:cubicBezTo>
                  <a:close/>
                </a:path>
              </a:pathLst>
            </a:custGeom>
            <a:solidFill>
              <a:srgbClr val="000000">
                <a:alpha val="0"/>
              </a:srgbClr>
            </a:solidFill>
            <a:ln w="28575" cap="rnd">
              <a:solidFill>
                <a:srgbClr val="00306D"/>
              </a:solidFill>
              <a:prstDash val="solid"/>
              <a:round/>
            </a:ln>
          </p:spPr>
        </p:sp>
        <p:sp>
          <p:nvSpPr>
            <p:cNvPr id="23" name="TextBox 23"/>
            <p:cNvSpPr txBox="1"/>
            <p:nvPr/>
          </p:nvSpPr>
          <p:spPr>
            <a:xfrm>
              <a:off x="0" y="-38100"/>
              <a:ext cx="1411047" cy="1749443"/>
            </a:xfrm>
            <a:prstGeom prst="rect">
              <a:avLst/>
            </a:prstGeom>
          </p:spPr>
          <p:txBody>
            <a:bodyPr lIns="50800" tIns="50800" rIns="50800" bIns="50800" rtlCol="0" anchor="ctr"/>
            <a:lstStyle/>
            <a:p>
              <a:pPr algn="ctr">
                <a:lnSpc>
                  <a:spcPts val="3080"/>
                </a:lnSpc>
              </a:pPr>
              <a:endParaRPr/>
            </a:p>
          </p:txBody>
        </p:sp>
      </p:grpSp>
      <p:sp>
        <p:nvSpPr>
          <p:cNvPr id="24" name="Freeform 24"/>
          <p:cNvSpPr/>
          <p:nvPr/>
        </p:nvSpPr>
        <p:spPr>
          <a:xfrm>
            <a:off x="4958760" y="3236194"/>
            <a:ext cx="759992" cy="656357"/>
          </a:xfrm>
          <a:custGeom>
            <a:avLst/>
            <a:gdLst/>
            <a:ahLst/>
            <a:cxnLst/>
            <a:rect l="l" t="t" r="r" b="b"/>
            <a:pathLst>
              <a:path w="759992" h="656357">
                <a:moveTo>
                  <a:pt x="0" y="0"/>
                </a:moveTo>
                <a:lnTo>
                  <a:pt x="759991" y="0"/>
                </a:lnTo>
                <a:lnTo>
                  <a:pt x="759991" y="656357"/>
                </a:lnTo>
                <a:lnTo>
                  <a:pt x="0" y="65635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5" name="Freeform 25"/>
          <p:cNvSpPr/>
          <p:nvPr/>
        </p:nvSpPr>
        <p:spPr>
          <a:xfrm>
            <a:off x="10845002" y="3181620"/>
            <a:ext cx="789101" cy="871497"/>
          </a:xfrm>
          <a:custGeom>
            <a:avLst/>
            <a:gdLst/>
            <a:ahLst/>
            <a:cxnLst/>
            <a:rect l="l" t="t" r="r" b="b"/>
            <a:pathLst>
              <a:path w="789101" h="871497">
                <a:moveTo>
                  <a:pt x="0" y="0"/>
                </a:moveTo>
                <a:lnTo>
                  <a:pt x="789101" y="0"/>
                </a:lnTo>
                <a:lnTo>
                  <a:pt x="789101" y="871497"/>
                </a:lnTo>
                <a:lnTo>
                  <a:pt x="0" y="87149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6" name="Freeform 26"/>
          <p:cNvSpPr/>
          <p:nvPr/>
        </p:nvSpPr>
        <p:spPr>
          <a:xfrm>
            <a:off x="16588854" y="3267076"/>
            <a:ext cx="700585" cy="700585"/>
          </a:xfrm>
          <a:custGeom>
            <a:avLst/>
            <a:gdLst/>
            <a:ahLst/>
            <a:cxnLst/>
            <a:rect l="l" t="t" r="r" b="b"/>
            <a:pathLst>
              <a:path w="700585" h="700585">
                <a:moveTo>
                  <a:pt x="0" y="0"/>
                </a:moveTo>
                <a:lnTo>
                  <a:pt x="700585" y="0"/>
                </a:lnTo>
                <a:lnTo>
                  <a:pt x="700585" y="700585"/>
                </a:lnTo>
                <a:lnTo>
                  <a:pt x="0" y="70058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7" name="TextBox 27"/>
          <p:cNvSpPr txBox="1"/>
          <p:nvPr/>
        </p:nvSpPr>
        <p:spPr>
          <a:xfrm>
            <a:off x="485631" y="4454526"/>
            <a:ext cx="4853125" cy="4803774"/>
          </a:xfrm>
          <a:prstGeom prst="rect">
            <a:avLst/>
          </a:prstGeom>
        </p:spPr>
        <p:txBody>
          <a:bodyPr lIns="0" tIns="0" rIns="0" bIns="0" rtlCol="0" anchor="t">
            <a:spAutoFit/>
          </a:bodyPr>
          <a:lstStyle/>
          <a:p>
            <a:pPr algn="l">
              <a:lnSpc>
                <a:spcPts val="3500"/>
              </a:lnSpc>
              <a:spcBef>
                <a:spcPct val="0"/>
              </a:spcBef>
            </a:pPr>
            <a:endParaRPr/>
          </a:p>
          <a:p>
            <a:pPr marL="539754" lvl="1" indent="-269877" algn="l">
              <a:lnSpc>
                <a:spcPts val="3500"/>
              </a:lnSpc>
              <a:spcBef>
                <a:spcPct val="0"/>
              </a:spcBef>
              <a:buFont typeface="Arial"/>
              <a:buChar char="•"/>
            </a:pPr>
            <a:r>
              <a:rPr lang="en-US" sz="2500" b="1" u="none" strike="noStrike">
                <a:solidFill>
                  <a:srgbClr val="006DAC"/>
                </a:solidFill>
                <a:latin typeface="Proxima Nova Bold"/>
                <a:ea typeface="Proxima Nova Bold"/>
                <a:cs typeface="Proxima Nova Bold"/>
                <a:sym typeface="Proxima Nova Bold"/>
              </a:rPr>
              <a:t>No Inspiration</a:t>
            </a:r>
            <a:r>
              <a:rPr lang="en-US" sz="2500" u="none" strike="noStrike">
                <a:solidFill>
                  <a:srgbClr val="006DAC"/>
                </a:solidFill>
                <a:latin typeface="Proxima Nova"/>
                <a:ea typeface="Proxima Nova"/>
                <a:cs typeface="Proxima Nova"/>
                <a:sym typeface="Proxima Nova"/>
              </a:rPr>
              <a:t> →  Focuses only on logistics (dates/prices), ignoring discovery.</a:t>
            </a:r>
          </a:p>
          <a:p>
            <a:pPr algn="l">
              <a:lnSpc>
                <a:spcPts val="3500"/>
              </a:lnSpc>
              <a:spcBef>
                <a:spcPct val="0"/>
              </a:spcBef>
            </a:pPr>
            <a:endParaRPr lang="en-US" sz="2500" u="none" strike="noStrike">
              <a:solidFill>
                <a:srgbClr val="006DAC"/>
              </a:solidFill>
              <a:latin typeface="Proxima Nova"/>
              <a:ea typeface="Proxima Nova"/>
              <a:cs typeface="Proxima Nova"/>
              <a:sym typeface="Proxima Nova"/>
            </a:endParaRPr>
          </a:p>
          <a:p>
            <a:pPr marL="539754" lvl="1" indent="-269877" algn="l">
              <a:lnSpc>
                <a:spcPts val="3500"/>
              </a:lnSpc>
              <a:spcBef>
                <a:spcPct val="0"/>
              </a:spcBef>
              <a:buFont typeface="Arial"/>
              <a:buChar char="•"/>
            </a:pPr>
            <a:r>
              <a:rPr lang="en-US" sz="2500" b="1" u="none" strike="noStrike">
                <a:solidFill>
                  <a:srgbClr val="006DAC"/>
                </a:solidFill>
                <a:latin typeface="Proxima Nova Bold"/>
                <a:ea typeface="Proxima Nova Bold"/>
                <a:cs typeface="Proxima Nova Bold"/>
                <a:sym typeface="Proxima Nova Bold"/>
              </a:rPr>
              <a:t>One-Size-Fits-All</a:t>
            </a:r>
            <a:r>
              <a:rPr lang="en-US" sz="2500" u="none" strike="noStrike">
                <a:solidFill>
                  <a:srgbClr val="006DAC"/>
                </a:solidFill>
                <a:latin typeface="Proxima Nova"/>
                <a:ea typeface="Proxima Nova"/>
                <a:cs typeface="Proxima Nova"/>
                <a:sym typeface="Proxima Nova"/>
              </a:rPr>
              <a:t> →  Ignores user history and preferences.</a:t>
            </a:r>
          </a:p>
          <a:p>
            <a:pPr algn="l">
              <a:lnSpc>
                <a:spcPts val="3500"/>
              </a:lnSpc>
              <a:spcBef>
                <a:spcPct val="0"/>
              </a:spcBef>
            </a:pPr>
            <a:endParaRPr lang="en-US" sz="2500" u="none" strike="noStrike">
              <a:solidFill>
                <a:srgbClr val="006DAC"/>
              </a:solidFill>
              <a:latin typeface="Proxima Nova"/>
              <a:ea typeface="Proxima Nova"/>
              <a:cs typeface="Proxima Nova"/>
              <a:sym typeface="Proxima Nova"/>
            </a:endParaRPr>
          </a:p>
          <a:p>
            <a:pPr marL="539754" lvl="1" indent="-269877" algn="l">
              <a:lnSpc>
                <a:spcPts val="3500"/>
              </a:lnSpc>
              <a:spcBef>
                <a:spcPct val="0"/>
              </a:spcBef>
              <a:buFont typeface="Arial"/>
              <a:buChar char="•"/>
            </a:pPr>
            <a:r>
              <a:rPr lang="en-US" sz="2500" b="1" u="none" strike="noStrike">
                <a:solidFill>
                  <a:srgbClr val="006DAC"/>
                </a:solidFill>
                <a:latin typeface="Proxima Nova Bold"/>
                <a:ea typeface="Proxima Nova Bold"/>
                <a:cs typeface="Proxima Nova Bold"/>
                <a:sym typeface="Proxima Nova Bold"/>
              </a:rPr>
              <a:t>Tedious</a:t>
            </a:r>
            <a:r>
              <a:rPr lang="en-US" sz="2500" u="none" strike="noStrike">
                <a:solidFill>
                  <a:srgbClr val="006DAC"/>
                </a:solidFill>
                <a:latin typeface="Proxima Nova"/>
                <a:ea typeface="Proxima Nova"/>
                <a:cs typeface="Proxima Nova"/>
                <a:sym typeface="Proxima Nova"/>
              </a:rPr>
              <a:t> →  Planning feels like a chore, not an experience.</a:t>
            </a:r>
          </a:p>
          <a:p>
            <a:pPr marL="0" lvl="0" indent="0" algn="l">
              <a:lnSpc>
                <a:spcPts val="3500"/>
              </a:lnSpc>
              <a:spcBef>
                <a:spcPct val="0"/>
              </a:spcBef>
            </a:pPr>
            <a:endParaRPr lang="en-US" sz="2500" u="none" strike="noStrike">
              <a:solidFill>
                <a:srgbClr val="006DAC"/>
              </a:solidFill>
              <a:latin typeface="Proxima Nova"/>
              <a:ea typeface="Proxima Nova"/>
              <a:cs typeface="Proxima Nova"/>
              <a:sym typeface="Proxima Nova"/>
            </a:endParaRPr>
          </a:p>
        </p:txBody>
      </p:sp>
      <p:sp>
        <p:nvSpPr>
          <p:cNvPr id="28" name="TextBox 28"/>
          <p:cNvSpPr txBox="1"/>
          <p:nvPr/>
        </p:nvSpPr>
        <p:spPr>
          <a:xfrm>
            <a:off x="198311" y="220550"/>
            <a:ext cx="7474008" cy="321267"/>
          </a:xfrm>
          <a:prstGeom prst="rect">
            <a:avLst/>
          </a:prstGeom>
        </p:spPr>
        <p:txBody>
          <a:bodyPr lIns="0" tIns="0" rIns="0" bIns="0" rtlCol="0" anchor="t">
            <a:spAutoFit/>
          </a:bodyPr>
          <a:lstStyle/>
          <a:p>
            <a:pPr algn="l">
              <a:lnSpc>
                <a:spcPts val="2482"/>
              </a:lnSpc>
            </a:pPr>
            <a:r>
              <a:rPr lang="en-US" sz="2364" b="1">
                <a:solidFill>
                  <a:srgbClr val="006DAC"/>
                </a:solidFill>
                <a:latin typeface="Proxima Nova Bold"/>
                <a:ea typeface="Proxima Nova Bold"/>
                <a:cs typeface="Proxima Nova Bold"/>
                <a:sym typeface="Proxima Nova Bold"/>
              </a:rPr>
              <a:t>Presented by → António Correia</a:t>
            </a:r>
          </a:p>
        </p:txBody>
      </p:sp>
      <p:sp>
        <p:nvSpPr>
          <p:cNvPr id="29" name="TextBox 29"/>
          <p:cNvSpPr txBox="1"/>
          <p:nvPr/>
        </p:nvSpPr>
        <p:spPr>
          <a:xfrm>
            <a:off x="726366" y="3219451"/>
            <a:ext cx="4371655" cy="1298574"/>
          </a:xfrm>
          <a:prstGeom prst="rect">
            <a:avLst/>
          </a:prstGeom>
        </p:spPr>
        <p:txBody>
          <a:bodyPr lIns="0" tIns="0" rIns="0" bIns="0" rtlCol="0" anchor="t">
            <a:spAutoFit/>
          </a:bodyPr>
          <a:lstStyle/>
          <a:p>
            <a:pPr algn="l">
              <a:lnSpc>
                <a:spcPts val="3500"/>
              </a:lnSpc>
              <a:spcBef>
                <a:spcPct val="0"/>
              </a:spcBef>
            </a:pPr>
            <a:r>
              <a:rPr lang="en-US" sz="2500" b="1">
                <a:solidFill>
                  <a:srgbClr val="006DAC"/>
                </a:solidFill>
                <a:latin typeface="Proxima Nova Bold"/>
                <a:ea typeface="Proxima Nova Bold"/>
                <a:cs typeface="Proxima Nova Bold"/>
                <a:sym typeface="Proxima Nova Bold"/>
              </a:rPr>
              <a:t>THE PROBLEM : Generic &amp; Transactional</a:t>
            </a:r>
          </a:p>
          <a:p>
            <a:pPr marL="0" lvl="0" indent="0" algn="l">
              <a:lnSpc>
                <a:spcPts val="3500"/>
              </a:lnSpc>
              <a:spcBef>
                <a:spcPct val="0"/>
              </a:spcBef>
            </a:pPr>
            <a:endParaRPr lang="en-US" sz="2500" b="1">
              <a:solidFill>
                <a:srgbClr val="006DAC"/>
              </a:solidFill>
              <a:latin typeface="Proxima Nova Bold"/>
              <a:ea typeface="Proxima Nova Bold"/>
              <a:cs typeface="Proxima Nova Bold"/>
              <a:sym typeface="Proxima Nova Bold"/>
            </a:endParaRPr>
          </a:p>
        </p:txBody>
      </p:sp>
      <p:sp>
        <p:nvSpPr>
          <p:cNvPr id="30" name="TextBox 30"/>
          <p:cNvSpPr txBox="1"/>
          <p:nvPr/>
        </p:nvSpPr>
        <p:spPr>
          <a:xfrm>
            <a:off x="6777621" y="3219451"/>
            <a:ext cx="4461931" cy="860424"/>
          </a:xfrm>
          <a:prstGeom prst="rect">
            <a:avLst/>
          </a:prstGeom>
        </p:spPr>
        <p:txBody>
          <a:bodyPr lIns="0" tIns="0" rIns="0" bIns="0" rtlCol="0" anchor="t">
            <a:spAutoFit/>
          </a:bodyPr>
          <a:lstStyle/>
          <a:p>
            <a:pPr algn="l">
              <a:lnSpc>
                <a:spcPts val="3500"/>
              </a:lnSpc>
            </a:pPr>
            <a:r>
              <a:rPr lang="en-US" sz="2500" b="1">
                <a:solidFill>
                  <a:srgbClr val="006DAC"/>
                </a:solidFill>
                <a:latin typeface="Proxima Nova Bold"/>
                <a:ea typeface="Proxima Nova Bold"/>
                <a:cs typeface="Proxima Nova Bold"/>
                <a:sym typeface="Proxima Nova Bold"/>
              </a:rPr>
              <a:t>THE VISION: Your </a:t>
            </a:r>
          </a:p>
          <a:p>
            <a:pPr marL="0" lvl="0" indent="0" algn="l">
              <a:lnSpc>
                <a:spcPts val="3500"/>
              </a:lnSpc>
              <a:spcBef>
                <a:spcPct val="0"/>
              </a:spcBef>
            </a:pPr>
            <a:r>
              <a:rPr lang="en-US" sz="2500" b="1">
                <a:solidFill>
                  <a:srgbClr val="006DAC"/>
                </a:solidFill>
                <a:latin typeface="Proxima Nova Bold"/>
                <a:ea typeface="Proxima Nova Bold"/>
                <a:cs typeface="Proxima Nova Bold"/>
                <a:sym typeface="Proxima Nova Bold"/>
              </a:rPr>
              <a:t>Intelligent Travel Companion</a:t>
            </a:r>
          </a:p>
        </p:txBody>
      </p:sp>
      <p:sp>
        <p:nvSpPr>
          <p:cNvPr id="31" name="TextBox 31"/>
          <p:cNvSpPr txBox="1"/>
          <p:nvPr/>
        </p:nvSpPr>
        <p:spPr>
          <a:xfrm>
            <a:off x="6467336" y="4632325"/>
            <a:ext cx="5042139" cy="4803774"/>
          </a:xfrm>
          <a:prstGeom prst="rect">
            <a:avLst/>
          </a:prstGeom>
        </p:spPr>
        <p:txBody>
          <a:bodyPr lIns="0" tIns="0" rIns="0" bIns="0" rtlCol="0" anchor="t">
            <a:spAutoFit/>
          </a:bodyPr>
          <a:lstStyle/>
          <a:p>
            <a:pPr marL="539754" lvl="1" indent="-269877" algn="l">
              <a:lnSpc>
                <a:spcPts val="3500"/>
              </a:lnSpc>
              <a:spcBef>
                <a:spcPct val="0"/>
              </a:spcBef>
              <a:buFont typeface="Arial"/>
              <a:buChar char="•"/>
            </a:pPr>
            <a:r>
              <a:rPr lang="en-US" sz="2500" b="1">
                <a:solidFill>
                  <a:srgbClr val="006DAC"/>
                </a:solidFill>
                <a:latin typeface="Proxima Nova Bold"/>
                <a:ea typeface="Proxima Nova Bold"/>
                <a:cs typeface="Proxima Nova Bold"/>
                <a:sym typeface="Proxima Nova Bold"/>
              </a:rPr>
              <a:t>Person</a:t>
            </a:r>
            <a:r>
              <a:rPr lang="en-US" sz="2500" b="1" u="none" strike="noStrike">
                <a:solidFill>
                  <a:srgbClr val="006DAC"/>
                </a:solidFill>
                <a:latin typeface="Proxima Nova Bold"/>
                <a:ea typeface="Proxima Nova Bold"/>
                <a:cs typeface="Proxima Nova Bold"/>
                <a:sym typeface="Proxima Nova Bold"/>
              </a:rPr>
              <a:t>al</a:t>
            </a:r>
            <a:r>
              <a:rPr lang="en-US" sz="2500" b="1">
                <a:solidFill>
                  <a:srgbClr val="006DAC"/>
                </a:solidFill>
                <a:latin typeface="Proxima Nova Bold"/>
                <a:ea typeface="Proxima Nova Bold"/>
                <a:cs typeface="Proxima Nova Bold"/>
                <a:sym typeface="Proxima Nova Bold"/>
              </a:rPr>
              <a:t>i</a:t>
            </a:r>
            <a:r>
              <a:rPr lang="en-US" sz="2500" b="1" u="none" strike="noStrike">
                <a:solidFill>
                  <a:srgbClr val="006DAC"/>
                </a:solidFill>
                <a:latin typeface="Proxima Nova Bold"/>
                <a:ea typeface="Proxima Nova Bold"/>
                <a:cs typeface="Proxima Nova Bold"/>
                <a:sym typeface="Proxima Nova Bold"/>
              </a:rPr>
              <a:t>zed → </a:t>
            </a:r>
            <a:r>
              <a:rPr lang="en-US" sz="2500" u="none" strike="noStrike">
                <a:solidFill>
                  <a:srgbClr val="006DAC"/>
                </a:solidFill>
                <a:latin typeface="Proxima Nova"/>
                <a:ea typeface="Proxima Nova"/>
                <a:cs typeface="Proxima Nova"/>
                <a:sym typeface="Proxima Nova"/>
              </a:rPr>
              <a:t>Unde</a:t>
            </a:r>
            <a:r>
              <a:rPr lang="en-US" sz="2500">
                <a:solidFill>
                  <a:srgbClr val="006DAC"/>
                </a:solidFill>
                <a:latin typeface="Proxima Nova"/>
                <a:ea typeface="Proxima Nova"/>
                <a:cs typeface="Proxima Nova"/>
                <a:sym typeface="Proxima Nova"/>
              </a:rPr>
              <a:t>r</a:t>
            </a:r>
            <a:r>
              <a:rPr lang="en-US" sz="2500" u="none" strike="noStrike">
                <a:solidFill>
                  <a:srgbClr val="006DAC"/>
                </a:solidFill>
                <a:latin typeface="Proxima Nova"/>
                <a:ea typeface="Proxima Nova"/>
                <a:cs typeface="Proxima Nova"/>
                <a:sym typeface="Proxima Nova"/>
              </a:rPr>
              <a:t>st</a:t>
            </a:r>
            <a:r>
              <a:rPr lang="en-US" sz="2500">
                <a:solidFill>
                  <a:srgbClr val="006DAC"/>
                </a:solidFill>
                <a:latin typeface="Proxima Nova"/>
                <a:ea typeface="Proxima Nova"/>
                <a:cs typeface="Proxima Nova"/>
                <a:sym typeface="Proxima Nova"/>
              </a:rPr>
              <a:t>an</a:t>
            </a:r>
            <a:r>
              <a:rPr lang="en-US" sz="2500" u="none" strike="noStrike">
                <a:solidFill>
                  <a:srgbClr val="006DAC"/>
                </a:solidFill>
                <a:latin typeface="Proxima Nova"/>
                <a:ea typeface="Proxima Nova"/>
                <a:cs typeface="Proxima Nova"/>
                <a:sym typeface="Proxima Nova"/>
              </a:rPr>
              <a:t>ds</a:t>
            </a:r>
            <a:r>
              <a:rPr lang="en-US" sz="2500">
                <a:solidFill>
                  <a:srgbClr val="006DAC"/>
                </a:solidFill>
                <a:latin typeface="Proxima Nova"/>
                <a:ea typeface="Proxima Nova"/>
                <a:cs typeface="Proxima Nova"/>
                <a:sym typeface="Proxima Nova"/>
              </a:rPr>
              <a:t> </a:t>
            </a:r>
            <a:r>
              <a:rPr lang="en-US" sz="2500" u="none" strike="noStrike">
                <a:solidFill>
                  <a:srgbClr val="006DAC"/>
                </a:solidFill>
                <a:latin typeface="Proxima Nova"/>
                <a:ea typeface="Proxima Nova"/>
                <a:cs typeface="Proxima Nova"/>
                <a:sym typeface="Proxima Nova"/>
              </a:rPr>
              <a:t>your</a:t>
            </a:r>
            <a:r>
              <a:rPr lang="en-US" sz="2500">
                <a:solidFill>
                  <a:srgbClr val="006DAC"/>
                </a:solidFill>
                <a:latin typeface="Proxima Nova"/>
                <a:ea typeface="Proxima Nova"/>
                <a:cs typeface="Proxima Nova"/>
                <a:sym typeface="Proxima Nova"/>
              </a:rPr>
              <a:t> </a:t>
            </a:r>
            <a:r>
              <a:rPr lang="en-US" sz="2500" u="none" strike="noStrike">
                <a:solidFill>
                  <a:srgbClr val="006DAC"/>
                </a:solidFill>
                <a:latin typeface="Proxima Nova"/>
                <a:ea typeface="Proxima Nova"/>
                <a:cs typeface="Proxima Nova"/>
                <a:sym typeface="Proxima Nova"/>
              </a:rPr>
              <a:t>uniq</a:t>
            </a:r>
            <a:r>
              <a:rPr lang="en-US" sz="2500">
                <a:solidFill>
                  <a:srgbClr val="006DAC"/>
                </a:solidFill>
                <a:latin typeface="Proxima Nova"/>
                <a:ea typeface="Proxima Nova"/>
                <a:cs typeface="Proxima Nova"/>
                <a:sym typeface="Proxima Nova"/>
              </a:rPr>
              <a:t>ue </a:t>
            </a:r>
            <a:r>
              <a:rPr lang="en-US" sz="2500" u="none" strike="noStrike">
                <a:solidFill>
                  <a:srgbClr val="006DAC"/>
                </a:solidFill>
                <a:latin typeface="Proxima Nova"/>
                <a:ea typeface="Proxima Nova"/>
                <a:cs typeface="Proxima Nova"/>
                <a:sym typeface="Proxima Nova"/>
              </a:rPr>
              <a:t>"Trave</a:t>
            </a:r>
            <a:r>
              <a:rPr lang="en-US" sz="2500">
                <a:solidFill>
                  <a:srgbClr val="006DAC"/>
                </a:solidFill>
                <a:latin typeface="Proxima Nova"/>
                <a:ea typeface="Proxima Nova"/>
                <a:cs typeface="Proxima Nova"/>
                <a:sym typeface="Proxima Nova"/>
              </a:rPr>
              <a:t>l </a:t>
            </a:r>
            <a:r>
              <a:rPr lang="en-US" sz="2500" u="none" strike="noStrike">
                <a:solidFill>
                  <a:srgbClr val="006DAC"/>
                </a:solidFill>
                <a:latin typeface="Proxima Nova"/>
                <a:ea typeface="Proxima Nova"/>
                <a:cs typeface="Proxima Nova"/>
                <a:sym typeface="Proxima Nova"/>
              </a:rPr>
              <a:t>Pers</a:t>
            </a:r>
            <a:r>
              <a:rPr lang="en-US" sz="2500">
                <a:solidFill>
                  <a:srgbClr val="006DAC"/>
                </a:solidFill>
                <a:latin typeface="Proxima Nova"/>
                <a:ea typeface="Proxima Nova"/>
                <a:cs typeface="Proxima Nova"/>
                <a:sym typeface="Proxima Nova"/>
              </a:rPr>
              <a:t>on</a:t>
            </a:r>
            <a:r>
              <a:rPr lang="en-US" sz="2500" u="none" strike="noStrike">
                <a:solidFill>
                  <a:srgbClr val="006DAC"/>
                </a:solidFill>
                <a:latin typeface="Proxima Nova"/>
                <a:ea typeface="Proxima Nova"/>
                <a:cs typeface="Proxima Nova"/>
                <a:sym typeface="Proxima Nova"/>
              </a:rPr>
              <a:t>a</a:t>
            </a:r>
            <a:r>
              <a:rPr lang="en-US" sz="2500">
                <a:solidFill>
                  <a:srgbClr val="006DAC"/>
                </a:solidFill>
                <a:latin typeface="Proxima Nova"/>
                <a:ea typeface="Proxima Nova"/>
                <a:cs typeface="Proxima Nova"/>
                <a:sym typeface="Proxima Nova"/>
              </a:rPr>
              <a:t>lit</a:t>
            </a:r>
            <a:r>
              <a:rPr lang="en-US" sz="2500" u="none" strike="noStrike">
                <a:solidFill>
                  <a:srgbClr val="006DAC"/>
                </a:solidFill>
                <a:latin typeface="Proxima Nova"/>
                <a:ea typeface="Proxima Nova"/>
                <a:cs typeface="Proxima Nova"/>
                <a:sym typeface="Proxima Nova"/>
              </a:rPr>
              <a:t>y".</a:t>
            </a:r>
          </a:p>
          <a:p>
            <a:pPr algn="l">
              <a:lnSpc>
                <a:spcPts val="3500"/>
              </a:lnSpc>
              <a:spcBef>
                <a:spcPct val="0"/>
              </a:spcBef>
            </a:pPr>
            <a:endParaRPr lang="en-US" sz="2500" u="none" strike="noStrike">
              <a:solidFill>
                <a:srgbClr val="006DAC"/>
              </a:solidFill>
              <a:latin typeface="Proxima Nova"/>
              <a:ea typeface="Proxima Nova"/>
              <a:cs typeface="Proxima Nova"/>
              <a:sym typeface="Proxima Nova"/>
            </a:endParaRPr>
          </a:p>
          <a:p>
            <a:pPr marL="539754" lvl="1" indent="-269877" algn="l">
              <a:lnSpc>
                <a:spcPts val="3500"/>
              </a:lnSpc>
              <a:spcBef>
                <a:spcPct val="0"/>
              </a:spcBef>
              <a:buFont typeface="Arial"/>
              <a:buChar char="•"/>
            </a:pPr>
            <a:r>
              <a:rPr lang="en-US" sz="2500" b="1" u="none" strike="noStrike">
                <a:solidFill>
                  <a:srgbClr val="006DAC"/>
                </a:solidFill>
                <a:latin typeface="Proxima Nova Bold"/>
                <a:ea typeface="Proxima Nova Bold"/>
                <a:cs typeface="Proxima Nova Bold"/>
                <a:sym typeface="Proxima Nova Bold"/>
              </a:rPr>
              <a:t>Pro</a:t>
            </a:r>
            <a:r>
              <a:rPr lang="en-US" sz="2500" b="1">
                <a:solidFill>
                  <a:srgbClr val="006DAC"/>
                </a:solidFill>
                <a:latin typeface="Proxima Nova Bold"/>
                <a:ea typeface="Proxima Nova Bold"/>
                <a:cs typeface="Proxima Nova Bold"/>
                <a:sym typeface="Proxima Nova Bold"/>
              </a:rPr>
              <a:t>a</a:t>
            </a:r>
            <a:r>
              <a:rPr lang="en-US" sz="2500" b="1" u="none" strike="noStrike">
                <a:solidFill>
                  <a:srgbClr val="006DAC"/>
                </a:solidFill>
                <a:latin typeface="Proxima Nova Bold"/>
                <a:ea typeface="Proxima Nova Bold"/>
                <a:cs typeface="Proxima Nova Bold"/>
                <a:sym typeface="Proxima Nova Bold"/>
              </a:rPr>
              <a:t>c</a:t>
            </a:r>
            <a:r>
              <a:rPr lang="en-US" sz="2500" b="1">
                <a:solidFill>
                  <a:srgbClr val="006DAC"/>
                </a:solidFill>
                <a:latin typeface="Proxima Nova Bold"/>
                <a:ea typeface="Proxima Nova Bold"/>
                <a:cs typeface="Proxima Nova Bold"/>
                <a:sym typeface="Proxima Nova Bold"/>
              </a:rPr>
              <a:t>ti</a:t>
            </a:r>
            <a:r>
              <a:rPr lang="en-US" sz="2500" b="1" u="none" strike="noStrike">
                <a:solidFill>
                  <a:srgbClr val="006DAC"/>
                </a:solidFill>
                <a:latin typeface="Proxima Nova Bold"/>
                <a:ea typeface="Proxima Nova Bold"/>
                <a:cs typeface="Proxima Nova Bold"/>
                <a:sym typeface="Proxima Nova Bold"/>
              </a:rPr>
              <a:t>v</a:t>
            </a:r>
            <a:r>
              <a:rPr lang="en-US" sz="2500" b="1">
                <a:solidFill>
                  <a:srgbClr val="006DAC"/>
                </a:solidFill>
                <a:latin typeface="Proxima Nova Bold"/>
                <a:ea typeface="Proxima Nova Bold"/>
                <a:cs typeface="Proxima Nova Bold"/>
                <a:sym typeface="Proxima Nova Bold"/>
              </a:rPr>
              <a:t>e → </a:t>
            </a:r>
            <a:r>
              <a:rPr lang="en-US" sz="2500" u="none" strike="noStrike">
                <a:solidFill>
                  <a:srgbClr val="006DAC"/>
                </a:solidFill>
                <a:latin typeface="Proxima Nova"/>
                <a:ea typeface="Proxima Nova"/>
                <a:cs typeface="Proxima Nova"/>
                <a:sym typeface="Proxima Nova"/>
              </a:rPr>
              <a:t>Su</a:t>
            </a:r>
            <a:r>
              <a:rPr lang="en-US" sz="2500">
                <a:solidFill>
                  <a:srgbClr val="006DAC"/>
                </a:solidFill>
                <a:latin typeface="Proxima Nova"/>
                <a:ea typeface="Proxima Nova"/>
                <a:cs typeface="Proxima Nova"/>
                <a:sym typeface="Proxima Nova"/>
              </a:rPr>
              <a:t>gg</a:t>
            </a:r>
            <a:r>
              <a:rPr lang="en-US" sz="2500" u="none" strike="noStrike">
                <a:solidFill>
                  <a:srgbClr val="006DAC"/>
                </a:solidFill>
                <a:latin typeface="Proxima Nova"/>
                <a:ea typeface="Proxima Nova"/>
                <a:cs typeface="Proxima Nova"/>
                <a:sym typeface="Proxima Nova"/>
              </a:rPr>
              <a:t>ests</a:t>
            </a:r>
            <a:r>
              <a:rPr lang="en-US" sz="2500">
                <a:solidFill>
                  <a:srgbClr val="006DAC"/>
                </a:solidFill>
                <a:latin typeface="Proxima Nova"/>
                <a:ea typeface="Proxima Nova"/>
                <a:cs typeface="Proxima Nova"/>
                <a:sym typeface="Proxima Nova"/>
              </a:rPr>
              <a:t> de</a:t>
            </a:r>
            <a:r>
              <a:rPr lang="en-US" sz="2500" u="none" strike="noStrike">
                <a:solidFill>
                  <a:srgbClr val="006DAC"/>
                </a:solidFill>
                <a:latin typeface="Proxima Nova"/>
                <a:ea typeface="Proxima Nova"/>
                <a:cs typeface="Proxima Nova"/>
                <a:sym typeface="Proxima Nova"/>
              </a:rPr>
              <a:t>st</a:t>
            </a:r>
            <a:r>
              <a:rPr lang="en-US" sz="2500">
                <a:solidFill>
                  <a:srgbClr val="006DAC"/>
                </a:solidFill>
                <a:latin typeface="Proxima Nova"/>
                <a:ea typeface="Proxima Nova"/>
                <a:cs typeface="Proxima Nova"/>
                <a:sym typeface="Proxima Nova"/>
              </a:rPr>
              <a:t>i</a:t>
            </a:r>
            <a:r>
              <a:rPr lang="en-US" sz="2500" u="none" strike="noStrike">
                <a:solidFill>
                  <a:srgbClr val="006DAC"/>
                </a:solidFill>
                <a:latin typeface="Proxima Nova"/>
                <a:ea typeface="Proxima Nova"/>
                <a:cs typeface="Proxima Nova"/>
                <a:sym typeface="Proxima Nova"/>
              </a:rPr>
              <a:t>na</a:t>
            </a:r>
            <a:r>
              <a:rPr lang="en-US" sz="2500">
                <a:solidFill>
                  <a:srgbClr val="006DAC"/>
                </a:solidFill>
                <a:latin typeface="Proxima Nova"/>
                <a:ea typeface="Proxima Nova"/>
                <a:cs typeface="Proxima Nova"/>
                <a:sym typeface="Proxima Nova"/>
              </a:rPr>
              <a:t>t</a:t>
            </a:r>
            <a:r>
              <a:rPr lang="en-US" sz="2500" u="none" strike="noStrike">
                <a:solidFill>
                  <a:srgbClr val="006DAC"/>
                </a:solidFill>
                <a:latin typeface="Proxima Nova"/>
                <a:ea typeface="Proxima Nova"/>
                <a:cs typeface="Proxima Nova"/>
                <a:sym typeface="Proxima Nova"/>
              </a:rPr>
              <a:t>ion</a:t>
            </a:r>
            <a:r>
              <a:rPr lang="en-US" sz="2500">
                <a:solidFill>
                  <a:srgbClr val="006DAC"/>
                </a:solidFill>
                <a:latin typeface="Proxima Nova"/>
                <a:ea typeface="Proxima Nova"/>
                <a:cs typeface="Proxima Nova"/>
                <a:sym typeface="Proxima Nova"/>
              </a:rPr>
              <a:t>s </a:t>
            </a:r>
            <a:r>
              <a:rPr lang="en-US" sz="2500" u="none" strike="noStrike">
                <a:solidFill>
                  <a:srgbClr val="006DAC"/>
                </a:solidFill>
                <a:latin typeface="Proxima Nova"/>
                <a:ea typeface="Proxima Nova"/>
                <a:cs typeface="Proxima Nova"/>
                <a:sym typeface="Proxima Nova"/>
              </a:rPr>
              <a:t>bef</a:t>
            </a:r>
            <a:r>
              <a:rPr lang="en-US" sz="2500">
                <a:solidFill>
                  <a:srgbClr val="006DAC"/>
                </a:solidFill>
                <a:latin typeface="Proxima Nova"/>
                <a:ea typeface="Proxima Nova"/>
                <a:cs typeface="Proxima Nova"/>
                <a:sym typeface="Proxima Nova"/>
              </a:rPr>
              <a:t>ore </a:t>
            </a:r>
            <a:r>
              <a:rPr lang="en-US" sz="2500" u="none" strike="noStrike">
                <a:solidFill>
                  <a:srgbClr val="006DAC"/>
                </a:solidFill>
                <a:latin typeface="Proxima Nova"/>
                <a:ea typeface="Proxima Nova"/>
                <a:cs typeface="Proxima Nova"/>
                <a:sym typeface="Proxima Nova"/>
              </a:rPr>
              <a:t>yo</a:t>
            </a:r>
            <a:r>
              <a:rPr lang="en-US" sz="2500">
                <a:solidFill>
                  <a:srgbClr val="006DAC"/>
                </a:solidFill>
                <a:latin typeface="Proxima Nova"/>
                <a:ea typeface="Proxima Nova"/>
                <a:cs typeface="Proxima Nova"/>
                <a:sym typeface="Proxima Nova"/>
              </a:rPr>
              <a:t>u</a:t>
            </a:r>
            <a:r>
              <a:rPr lang="en-US" sz="2500" u="none" strike="noStrike">
                <a:solidFill>
                  <a:srgbClr val="006DAC"/>
                </a:solidFill>
                <a:latin typeface="Proxima Nova"/>
                <a:ea typeface="Proxima Nova"/>
                <a:cs typeface="Proxima Nova"/>
                <a:sym typeface="Proxima Nova"/>
              </a:rPr>
              <a:t> even </a:t>
            </a:r>
            <a:r>
              <a:rPr lang="en-US" sz="2500">
                <a:solidFill>
                  <a:srgbClr val="006DAC"/>
                </a:solidFill>
                <a:latin typeface="Proxima Nova"/>
                <a:ea typeface="Proxima Nova"/>
                <a:cs typeface="Proxima Nova"/>
                <a:sym typeface="Proxima Nova"/>
              </a:rPr>
              <a:t>se</a:t>
            </a:r>
            <a:r>
              <a:rPr lang="en-US" sz="2500" u="none" strike="noStrike">
                <a:solidFill>
                  <a:srgbClr val="006DAC"/>
                </a:solidFill>
                <a:latin typeface="Proxima Nova"/>
                <a:ea typeface="Proxima Nova"/>
                <a:cs typeface="Proxima Nova"/>
                <a:sym typeface="Proxima Nova"/>
              </a:rPr>
              <a:t>a</a:t>
            </a:r>
            <a:r>
              <a:rPr lang="en-US" sz="2500">
                <a:solidFill>
                  <a:srgbClr val="006DAC"/>
                </a:solidFill>
                <a:latin typeface="Proxima Nova"/>
                <a:ea typeface="Proxima Nova"/>
                <a:cs typeface="Proxima Nova"/>
                <a:sym typeface="Proxima Nova"/>
              </a:rPr>
              <a:t>r</a:t>
            </a:r>
            <a:r>
              <a:rPr lang="en-US" sz="2500" u="none" strike="noStrike">
                <a:solidFill>
                  <a:srgbClr val="006DAC"/>
                </a:solidFill>
                <a:latin typeface="Proxima Nova"/>
                <a:ea typeface="Proxima Nova"/>
                <a:cs typeface="Proxima Nova"/>
                <a:sym typeface="Proxima Nova"/>
              </a:rPr>
              <a:t>c</a:t>
            </a:r>
            <a:r>
              <a:rPr lang="en-US" sz="2500">
                <a:solidFill>
                  <a:srgbClr val="006DAC"/>
                </a:solidFill>
                <a:latin typeface="Proxima Nova"/>
                <a:ea typeface="Proxima Nova"/>
                <a:cs typeface="Proxima Nova"/>
                <a:sym typeface="Proxima Nova"/>
              </a:rPr>
              <a:t>h</a:t>
            </a:r>
            <a:r>
              <a:rPr lang="en-US" sz="2500" u="none" strike="noStrike">
                <a:solidFill>
                  <a:srgbClr val="006DAC"/>
                </a:solidFill>
                <a:latin typeface="Proxima Nova"/>
                <a:ea typeface="Proxima Nova"/>
                <a:cs typeface="Proxima Nova"/>
                <a:sym typeface="Proxima Nova"/>
              </a:rPr>
              <a:t>.</a:t>
            </a:r>
          </a:p>
          <a:p>
            <a:pPr algn="l">
              <a:lnSpc>
                <a:spcPts val="3500"/>
              </a:lnSpc>
              <a:spcBef>
                <a:spcPct val="0"/>
              </a:spcBef>
            </a:pPr>
            <a:endParaRPr lang="en-US" sz="2500" u="none" strike="noStrike">
              <a:solidFill>
                <a:srgbClr val="006DAC"/>
              </a:solidFill>
              <a:latin typeface="Proxima Nova"/>
              <a:ea typeface="Proxima Nova"/>
              <a:cs typeface="Proxima Nova"/>
              <a:sym typeface="Proxima Nova"/>
            </a:endParaRPr>
          </a:p>
          <a:p>
            <a:pPr marL="539754" lvl="1" indent="-269877" algn="l">
              <a:lnSpc>
                <a:spcPts val="3500"/>
              </a:lnSpc>
              <a:spcBef>
                <a:spcPct val="0"/>
              </a:spcBef>
              <a:buFont typeface="Arial"/>
              <a:buChar char="•"/>
            </a:pPr>
            <a:r>
              <a:rPr lang="en-US" sz="2500" b="1" u="none" strike="noStrike">
                <a:solidFill>
                  <a:srgbClr val="006DAC"/>
                </a:solidFill>
                <a:latin typeface="Proxima Nova Bold"/>
                <a:ea typeface="Proxima Nova Bold"/>
                <a:cs typeface="Proxima Nova Bold"/>
                <a:sym typeface="Proxima Nova Bold"/>
              </a:rPr>
              <a:t>Insp</a:t>
            </a:r>
            <a:r>
              <a:rPr lang="en-US" sz="2500" b="1">
                <a:solidFill>
                  <a:srgbClr val="006DAC"/>
                </a:solidFill>
                <a:latin typeface="Proxima Nova Bold"/>
                <a:ea typeface="Proxima Nova Bold"/>
                <a:cs typeface="Proxima Nova Bold"/>
                <a:sym typeface="Proxima Nova Bold"/>
              </a:rPr>
              <a:t>ir</a:t>
            </a:r>
            <a:r>
              <a:rPr lang="en-US" sz="2500" b="1" u="none" strike="noStrike">
                <a:solidFill>
                  <a:srgbClr val="006DAC"/>
                </a:solidFill>
                <a:latin typeface="Proxima Nova Bold"/>
                <a:ea typeface="Proxima Nova Bold"/>
                <a:cs typeface="Proxima Nova Bold"/>
                <a:sym typeface="Proxima Nova Bold"/>
              </a:rPr>
              <a:t>i</a:t>
            </a:r>
            <a:r>
              <a:rPr lang="en-US" sz="2500" b="1">
                <a:solidFill>
                  <a:srgbClr val="006DAC"/>
                </a:solidFill>
                <a:latin typeface="Proxima Nova Bold"/>
                <a:ea typeface="Proxima Nova Bold"/>
                <a:cs typeface="Proxima Nova Bold"/>
                <a:sym typeface="Proxima Nova Bold"/>
              </a:rPr>
              <a:t>n</a:t>
            </a:r>
            <a:r>
              <a:rPr lang="en-US" sz="2500" b="1" u="none" strike="noStrike">
                <a:solidFill>
                  <a:srgbClr val="006DAC"/>
                </a:solidFill>
                <a:latin typeface="Proxima Nova Bold"/>
                <a:ea typeface="Proxima Nova Bold"/>
                <a:cs typeface="Proxima Nova Bold"/>
                <a:sym typeface="Proxima Nova Bold"/>
              </a:rPr>
              <a:t>g → </a:t>
            </a:r>
            <a:r>
              <a:rPr lang="en-US" sz="2500" u="none" strike="noStrike">
                <a:solidFill>
                  <a:srgbClr val="006DAC"/>
                </a:solidFill>
                <a:latin typeface="Proxima Nova"/>
                <a:ea typeface="Proxima Nova"/>
                <a:cs typeface="Proxima Nova"/>
                <a:sym typeface="Proxima Nova"/>
              </a:rPr>
              <a:t>T</a:t>
            </a:r>
            <a:r>
              <a:rPr lang="en-US" sz="2500">
                <a:solidFill>
                  <a:srgbClr val="006DAC"/>
                </a:solidFill>
                <a:latin typeface="Proxima Nova"/>
                <a:ea typeface="Proxima Nova"/>
                <a:cs typeface="Proxima Nova"/>
                <a:sym typeface="Proxima Nova"/>
              </a:rPr>
              <a:t>r</a:t>
            </a:r>
            <a:r>
              <a:rPr lang="en-US" sz="2500" u="none" strike="noStrike">
                <a:solidFill>
                  <a:srgbClr val="006DAC"/>
                </a:solidFill>
                <a:latin typeface="Proxima Nova"/>
                <a:ea typeface="Proxima Nova"/>
                <a:cs typeface="Proxima Nova"/>
                <a:sym typeface="Proxima Nova"/>
              </a:rPr>
              <a:t>a</a:t>
            </a:r>
            <a:r>
              <a:rPr lang="en-US" sz="2500">
                <a:solidFill>
                  <a:srgbClr val="006DAC"/>
                </a:solidFill>
                <a:latin typeface="Proxima Nova"/>
                <a:ea typeface="Proxima Nova"/>
                <a:cs typeface="Proxima Nova"/>
                <a:sym typeface="Proxima Nova"/>
              </a:rPr>
              <a:t>ns</a:t>
            </a:r>
            <a:r>
              <a:rPr lang="en-US" sz="2500" u="none" strike="noStrike">
                <a:solidFill>
                  <a:srgbClr val="006DAC"/>
                </a:solidFill>
                <a:latin typeface="Proxima Nova"/>
                <a:ea typeface="Proxima Nova"/>
                <a:cs typeface="Proxima Nova"/>
                <a:sym typeface="Proxima Nova"/>
              </a:rPr>
              <a:t>f</a:t>
            </a:r>
            <a:r>
              <a:rPr lang="en-US" sz="2500">
                <a:solidFill>
                  <a:srgbClr val="006DAC"/>
                </a:solidFill>
                <a:latin typeface="Proxima Nova"/>
                <a:ea typeface="Proxima Nova"/>
                <a:cs typeface="Proxima Nova"/>
                <a:sym typeface="Proxima Nova"/>
              </a:rPr>
              <a:t>o</a:t>
            </a:r>
            <a:r>
              <a:rPr lang="en-US" sz="2500" u="none" strike="noStrike">
                <a:solidFill>
                  <a:srgbClr val="006DAC"/>
                </a:solidFill>
                <a:latin typeface="Proxima Nova"/>
                <a:ea typeface="Proxima Nova"/>
                <a:cs typeface="Proxima Nova"/>
                <a:sym typeface="Proxima Nova"/>
              </a:rPr>
              <a:t>rm</a:t>
            </a:r>
            <a:r>
              <a:rPr lang="en-US" sz="2500">
                <a:solidFill>
                  <a:srgbClr val="006DAC"/>
                </a:solidFill>
                <a:latin typeface="Proxima Nova"/>
                <a:ea typeface="Proxima Nova"/>
                <a:cs typeface="Proxima Nova"/>
                <a:sym typeface="Proxima Nova"/>
              </a:rPr>
              <a:t>s </a:t>
            </a:r>
            <a:r>
              <a:rPr lang="en-US" sz="2500" u="none" strike="noStrike">
                <a:solidFill>
                  <a:srgbClr val="006DAC"/>
                </a:solidFill>
                <a:latin typeface="Proxima Nova"/>
                <a:ea typeface="Proxima Nova"/>
                <a:cs typeface="Proxima Nova"/>
                <a:sym typeface="Proxima Nova"/>
              </a:rPr>
              <a:t>book</a:t>
            </a:r>
            <a:r>
              <a:rPr lang="en-US" sz="2500">
                <a:solidFill>
                  <a:srgbClr val="006DAC"/>
                </a:solidFill>
                <a:latin typeface="Proxima Nova"/>
                <a:ea typeface="Proxima Nova"/>
                <a:cs typeface="Proxima Nova"/>
                <a:sym typeface="Proxima Nova"/>
              </a:rPr>
              <a:t>ing i</a:t>
            </a:r>
            <a:r>
              <a:rPr lang="en-US" sz="2500" u="none" strike="noStrike">
                <a:solidFill>
                  <a:srgbClr val="006DAC"/>
                </a:solidFill>
                <a:latin typeface="Proxima Nova"/>
                <a:ea typeface="Proxima Nova"/>
                <a:cs typeface="Proxima Nova"/>
                <a:sym typeface="Proxima Nova"/>
              </a:rPr>
              <a:t>nto</a:t>
            </a:r>
            <a:r>
              <a:rPr lang="en-US" sz="2500">
                <a:solidFill>
                  <a:srgbClr val="006DAC"/>
                </a:solidFill>
                <a:latin typeface="Proxima Nova"/>
                <a:ea typeface="Proxima Nova"/>
                <a:cs typeface="Proxima Nova"/>
                <a:sym typeface="Proxima Nova"/>
              </a:rPr>
              <a:t> a</a:t>
            </a:r>
            <a:r>
              <a:rPr lang="en-US" sz="2500" u="none" strike="noStrike">
                <a:solidFill>
                  <a:srgbClr val="006DAC"/>
                </a:solidFill>
                <a:latin typeface="Proxima Nova"/>
                <a:ea typeface="Proxima Nova"/>
                <a:cs typeface="Proxima Nova"/>
                <a:sym typeface="Proxima Nova"/>
              </a:rPr>
              <a:t>n</a:t>
            </a:r>
            <a:r>
              <a:rPr lang="en-US" sz="2500">
                <a:solidFill>
                  <a:srgbClr val="006DAC"/>
                </a:solidFill>
                <a:latin typeface="Proxima Nova"/>
                <a:ea typeface="Proxima Nova"/>
                <a:cs typeface="Proxima Nova"/>
                <a:sym typeface="Proxima Nova"/>
              </a:rPr>
              <a:t> en</a:t>
            </a:r>
            <a:r>
              <a:rPr lang="en-US" sz="2500" u="none" strike="noStrike">
                <a:solidFill>
                  <a:srgbClr val="006DAC"/>
                </a:solidFill>
                <a:latin typeface="Proxima Nova"/>
                <a:ea typeface="Proxima Nova"/>
                <a:cs typeface="Proxima Nova"/>
                <a:sym typeface="Proxima Nova"/>
              </a:rPr>
              <a:t>g</a:t>
            </a:r>
            <a:r>
              <a:rPr lang="en-US" sz="2500">
                <a:solidFill>
                  <a:srgbClr val="006DAC"/>
                </a:solidFill>
                <a:latin typeface="Proxima Nova"/>
                <a:ea typeface="Proxima Nova"/>
                <a:cs typeface="Proxima Nova"/>
                <a:sym typeface="Proxima Nova"/>
              </a:rPr>
              <a:t>a</a:t>
            </a:r>
            <a:r>
              <a:rPr lang="en-US" sz="2500" u="none" strike="noStrike">
                <a:solidFill>
                  <a:srgbClr val="006DAC"/>
                </a:solidFill>
                <a:latin typeface="Proxima Nova"/>
                <a:ea typeface="Proxima Nova"/>
                <a:cs typeface="Proxima Nova"/>
                <a:sym typeface="Proxima Nova"/>
              </a:rPr>
              <a:t>gi</a:t>
            </a:r>
            <a:r>
              <a:rPr lang="en-US" sz="2500">
                <a:solidFill>
                  <a:srgbClr val="006DAC"/>
                </a:solidFill>
                <a:latin typeface="Proxima Nova"/>
                <a:ea typeface="Proxima Nova"/>
                <a:cs typeface="Proxima Nova"/>
                <a:sym typeface="Proxima Nova"/>
              </a:rPr>
              <a:t>n</a:t>
            </a:r>
            <a:r>
              <a:rPr lang="en-US" sz="2500" u="none" strike="noStrike">
                <a:solidFill>
                  <a:srgbClr val="006DAC"/>
                </a:solidFill>
                <a:latin typeface="Proxima Nova"/>
                <a:ea typeface="Proxima Nova"/>
                <a:cs typeface="Proxima Nova"/>
                <a:sym typeface="Proxima Nova"/>
              </a:rPr>
              <a:t>g</a:t>
            </a:r>
            <a:r>
              <a:rPr lang="en-US" sz="2500">
                <a:solidFill>
                  <a:srgbClr val="006DAC"/>
                </a:solidFill>
                <a:latin typeface="Proxima Nova"/>
                <a:ea typeface="Proxima Nova"/>
                <a:cs typeface="Proxima Nova"/>
                <a:sym typeface="Proxima Nova"/>
              </a:rPr>
              <a:t> </a:t>
            </a:r>
            <a:r>
              <a:rPr lang="en-US" sz="2500" u="none" strike="noStrike">
                <a:solidFill>
                  <a:srgbClr val="006DAC"/>
                </a:solidFill>
                <a:latin typeface="Proxima Nova"/>
                <a:ea typeface="Proxima Nova"/>
                <a:cs typeface="Proxima Nova"/>
                <a:sym typeface="Proxima Nova"/>
              </a:rPr>
              <a:t>jou</a:t>
            </a:r>
            <a:r>
              <a:rPr lang="en-US" sz="2500">
                <a:solidFill>
                  <a:srgbClr val="006DAC"/>
                </a:solidFill>
                <a:latin typeface="Proxima Nova"/>
                <a:ea typeface="Proxima Nova"/>
                <a:cs typeface="Proxima Nova"/>
                <a:sym typeface="Proxima Nova"/>
              </a:rPr>
              <a:t>rne</a:t>
            </a:r>
            <a:r>
              <a:rPr lang="en-US" sz="2500" u="none" strike="noStrike">
                <a:solidFill>
                  <a:srgbClr val="006DAC"/>
                </a:solidFill>
                <a:latin typeface="Proxima Nova"/>
                <a:ea typeface="Proxima Nova"/>
                <a:cs typeface="Proxima Nova"/>
                <a:sym typeface="Proxima Nova"/>
              </a:rPr>
              <a:t>y</a:t>
            </a:r>
            <a:r>
              <a:rPr lang="en-US" sz="2500">
                <a:solidFill>
                  <a:srgbClr val="006DAC"/>
                </a:solidFill>
                <a:latin typeface="Proxima Nova"/>
                <a:ea typeface="Proxima Nova"/>
                <a:cs typeface="Proxima Nova"/>
                <a:sym typeface="Proxima Nova"/>
              </a:rPr>
              <a:t>.</a:t>
            </a:r>
          </a:p>
          <a:p>
            <a:pPr marL="0" lvl="0" indent="0" algn="l">
              <a:lnSpc>
                <a:spcPts val="3500"/>
              </a:lnSpc>
              <a:spcBef>
                <a:spcPct val="0"/>
              </a:spcBef>
            </a:pPr>
            <a:endParaRPr lang="en-US" sz="2500">
              <a:solidFill>
                <a:srgbClr val="006DAC"/>
              </a:solidFill>
              <a:latin typeface="Proxima Nova"/>
              <a:ea typeface="Proxima Nova"/>
              <a:cs typeface="Proxima Nova"/>
              <a:sym typeface="Proxima Nova"/>
            </a:endParaRPr>
          </a:p>
        </p:txBody>
      </p:sp>
      <p:sp>
        <p:nvSpPr>
          <p:cNvPr id="32" name="TextBox 32"/>
          <p:cNvSpPr txBox="1"/>
          <p:nvPr/>
        </p:nvSpPr>
        <p:spPr>
          <a:xfrm>
            <a:off x="12750393" y="3438526"/>
            <a:ext cx="4539047" cy="860424"/>
          </a:xfrm>
          <a:prstGeom prst="rect">
            <a:avLst/>
          </a:prstGeom>
        </p:spPr>
        <p:txBody>
          <a:bodyPr lIns="0" tIns="0" rIns="0" bIns="0" rtlCol="0" anchor="t">
            <a:spAutoFit/>
          </a:bodyPr>
          <a:lstStyle/>
          <a:p>
            <a:pPr algn="l">
              <a:lnSpc>
                <a:spcPts val="3500"/>
              </a:lnSpc>
            </a:pPr>
            <a:r>
              <a:rPr lang="en-US" sz="2500" b="1">
                <a:solidFill>
                  <a:srgbClr val="006DAC"/>
                </a:solidFill>
                <a:latin typeface="Proxima Nova Bold"/>
                <a:ea typeface="Proxima Nova Bold"/>
                <a:cs typeface="Proxima Nova Bold"/>
                <a:sym typeface="Proxima Nova Bold"/>
              </a:rPr>
              <a:t>THE SCOPE: Flight &amp;</a:t>
            </a:r>
          </a:p>
          <a:p>
            <a:pPr marL="0" lvl="0" indent="0" algn="l">
              <a:lnSpc>
                <a:spcPts val="3500"/>
              </a:lnSpc>
              <a:spcBef>
                <a:spcPct val="0"/>
              </a:spcBef>
            </a:pPr>
            <a:r>
              <a:rPr lang="en-US" sz="2500" b="1">
                <a:solidFill>
                  <a:srgbClr val="006DAC"/>
                </a:solidFill>
                <a:latin typeface="Proxima Nova Bold"/>
                <a:ea typeface="Proxima Nova Bold"/>
                <a:cs typeface="Proxima Nova Bold"/>
                <a:sym typeface="Proxima Nova Bold"/>
              </a:rPr>
              <a:t> Discovery </a:t>
            </a:r>
          </a:p>
        </p:txBody>
      </p:sp>
      <p:sp>
        <p:nvSpPr>
          <p:cNvPr id="33" name="TextBox 33"/>
          <p:cNvSpPr txBox="1"/>
          <p:nvPr/>
        </p:nvSpPr>
        <p:spPr>
          <a:xfrm>
            <a:off x="12405928" y="5330826"/>
            <a:ext cx="5042139" cy="3927474"/>
          </a:xfrm>
          <a:prstGeom prst="rect">
            <a:avLst/>
          </a:prstGeom>
        </p:spPr>
        <p:txBody>
          <a:bodyPr lIns="0" tIns="0" rIns="0" bIns="0" rtlCol="0" anchor="t">
            <a:spAutoFit/>
          </a:bodyPr>
          <a:lstStyle/>
          <a:p>
            <a:pPr marL="539754" lvl="1" indent="-269877" algn="l">
              <a:lnSpc>
                <a:spcPts val="3500"/>
              </a:lnSpc>
              <a:buFont typeface="Arial"/>
              <a:buChar char="•"/>
            </a:pPr>
            <a:r>
              <a:rPr lang="en-US" sz="2500" b="1">
                <a:solidFill>
                  <a:srgbClr val="006DAC"/>
                </a:solidFill>
                <a:latin typeface="Proxima Nova Bold"/>
                <a:ea typeface="Proxima Nova Bold"/>
                <a:cs typeface="Proxima Nova Bold"/>
                <a:sym typeface="Proxima Nova Bold"/>
              </a:rPr>
              <a:t>Focus → </a:t>
            </a:r>
            <a:r>
              <a:rPr lang="en-US" sz="2500">
                <a:solidFill>
                  <a:srgbClr val="006DAC"/>
                </a:solidFill>
                <a:latin typeface="Proxima Nova"/>
                <a:ea typeface="Proxima Nova"/>
                <a:cs typeface="Proxima Nova"/>
                <a:sym typeface="Proxima Nova"/>
              </a:rPr>
              <a:t> Flight Reservations &amp; Destination Discovery only.</a:t>
            </a:r>
          </a:p>
          <a:p>
            <a:pPr algn="l">
              <a:lnSpc>
                <a:spcPts val="3500"/>
              </a:lnSpc>
            </a:pPr>
            <a:endParaRPr lang="en-US" sz="2500">
              <a:solidFill>
                <a:srgbClr val="006DAC"/>
              </a:solidFill>
              <a:latin typeface="Proxima Nova"/>
              <a:ea typeface="Proxima Nova"/>
              <a:cs typeface="Proxima Nova"/>
              <a:sym typeface="Proxima Nova"/>
            </a:endParaRPr>
          </a:p>
          <a:p>
            <a:pPr marL="539754" lvl="1" indent="-269877" algn="l">
              <a:lnSpc>
                <a:spcPts val="3500"/>
              </a:lnSpc>
              <a:buFont typeface="Arial"/>
              <a:buChar char="•"/>
            </a:pPr>
            <a:r>
              <a:rPr lang="en-US" sz="2500" b="1">
                <a:solidFill>
                  <a:srgbClr val="006DAC"/>
                </a:solidFill>
                <a:latin typeface="Proxima Nova Bold"/>
                <a:ea typeface="Proxima Nova Bold"/>
                <a:cs typeface="Proxima Nova Bold"/>
                <a:sym typeface="Proxima Nova Bold"/>
              </a:rPr>
              <a:t>Core Tech → </a:t>
            </a:r>
            <a:r>
              <a:rPr lang="en-US" sz="2500">
                <a:solidFill>
                  <a:srgbClr val="006DAC"/>
                </a:solidFill>
                <a:latin typeface="Proxima Nova"/>
                <a:ea typeface="Proxima Nova"/>
                <a:cs typeface="Proxima Nova"/>
                <a:sym typeface="Proxima Nova"/>
              </a:rPr>
              <a:t> AI "Inspire Me" Engine &amp; Smart Flight Search.</a:t>
            </a:r>
          </a:p>
          <a:p>
            <a:pPr algn="l">
              <a:lnSpc>
                <a:spcPts val="3500"/>
              </a:lnSpc>
            </a:pPr>
            <a:endParaRPr lang="en-US" sz="2500">
              <a:solidFill>
                <a:srgbClr val="006DAC"/>
              </a:solidFill>
              <a:latin typeface="Proxima Nova"/>
              <a:ea typeface="Proxima Nova"/>
              <a:cs typeface="Proxima Nova"/>
              <a:sym typeface="Proxima Nova"/>
            </a:endParaRPr>
          </a:p>
          <a:p>
            <a:pPr marL="539754" lvl="1" indent="-269877" algn="l">
              <a:lnSpc>
                <a:spcPts val="3500"/>
              </a:lnSpc>
              <a:buFont typeface="Arial"/>
              <a:buChar char="•"/>
            </a:pPr>
            <a:r>
              <a:rPr lang="en-US" sz="2500" b="1">
                <a:solidFill>
                  <a:srgbClr val="006DAC"/>
                </a:solidFill>
                <a:latin typeface="Proxima Nova Bold"/>
                <a:ea typeface="Proxima Nova Bold"/>
                <a:cs typeface="Proxima Nova Bold"/>
                <a:sym typeface="Proxima Nova Bold"/>
              </a:rPr>
              <a:t>Exclusions → </a:t>
            </a:r>
            <a:r>
              <a:rPr lang="en-US" sz="2500">
                <a:solidFill>
                  <a:srgbClr val="006DAC"/>
                </a:solidFill>
                <a:latin typeface="Proxima Nova"/>
                <a:ea typeface="Proxima Nova"/>
                <a:cs typeface="Proxima Nova"/>
                <a:sym typeface="Proxima Nova"/>
              </a:rPr>
              <a:t> No hotels or ground transportation for now.</a:t>
            </a:r>
          </a:p>
          <a:p>
            <a:pPr marL="0" lvl="0" indent="0" algn="l">
              <a:lnSpc>
                <a:spcPts val="3500"/>
              </a:lnSpc>
              <a:spcBef>
                <a:spcPct val="0"/>
              </a:spcBef>
            </a:pPr>
            <a:endParaRPr lang="en-US" sz="2500">
              <a:solidFill>
                <a:srgbClr val="006DAC"/>
              </a:solidFill>
              <a:latin typeface="Proxima Nova"/>
              <a:ea typeface="Proxima Nova"/>
              <a:cs typeface="Proxima Nova"/>
              <a:sym typeface="Proxima Nov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3AFCA"/>
        </a:solidFill>
        <a:effectLst/>
      </p:bgPr>
    </p:bg>
    <p:spTree>
      <p:nvGrpSpPr>
        <p:cNvPr id="1" name=""/>
        <p:cNvGrpSpPr/>
        <p:nvPr/>
      </p:nvGrpSpPr>
      <p:grpSpPr>
        <a:xfrm>
          <a:off x="0" y="0"/>
          <a:ext cx="0" cy="0"/>
          <a:chOff x="0" y="0"/>
          <a:chExt cx="0" cy="0"/>
        </a:xfrm>
      </p:grpSpPr>
      <p:sp>
        <p:nvSpPr>
          <p:cNvPr id="2" name="TextBox 2"/>
          <p:cNvSpPr txBox="1"/>
          <p:nvPr/>
        </p:nvSpPr>
        <p:spPr>
          <a:xfrm>
            <a:off x="5639739" y="4632643"/>
            <a:ext cx="7008523" cy="1002665"/>
          </a:xfrm>
          <a:prstGeom prst="rect">
            <a:avLst/>
          </a:prstGeom>
        </p:spPr>
        <p:txBody>
          <a:bodyPr lIns="0" tIns="0" rIns="0" bIns="0" rtlCol="0" anchor="t">
            <a:spAutoFit/>
          </a:bodyPr>
          <a:lstStyle/>
          <a:p>
            <a:pPr algn="l">
              <a:lnSpc>
                <a:spcPts val="7930"/>
              </a:lnSpc>
              <a:spcBef>
                <a:spcPct val="0"/>
              </a:spcBef>
            </a:pPr>
            <a:r>
              <a:rPr lang="en-US" sz="6500" b="1">
                <a:solidFill>
                  <a:srgbClr val="FFFFFF"/>
                </a:solidFill>
                <a:latin typeface="Proxima Nova Heavy"/>
                <a:ea typeface="Proxima Nova Heavy"/>
                <a:cs typeface="Proxima Nova Heavy"/>
                <a:sym typeface="Proxima Nova Heavy"/>
              </a:rPr>
              <a:t>3. RELEASE PLAN</a:t>
            </a:r>
          </a:p>
        </p:txBody>
      </p:sp>
      <p:sp>
        <p:nvSpPr>
          <p:cNvPr id="3" name="Freeform 3"/>
          <p:cNvSpPr/>
          <p:nvPr/>
        </p:nvSpPr>
        <p:spPr>
          <a:xfrm>
            <a:off x="-753219" y="6663269"/>
            <a:ext cx="16347068" cy="1328199"/>
          </a:xfrm>
          <a:custGeom>
            <a:avLst/>
            <a:gdLst/>
            <a:ahLst/>
            <a:cxnLst/>
            <a:rect l="l" t="t" r="r" b="b"/>
            <a:pathLst>
              <a:path w="16347068" h="1328199">
                <a:moveTo>
                  <a:pt x="0" y="0"/>
                </a:moveTo>
                <a:lnTo>
                  <a:pt x="16347068" y="0"/>
                </a:lnTo>
                <a:lnTo>
                  <a:pt x="16347068" y="1328199"/>
                </a:lnTo>
                <a:lnTo>
                  <a:pt x="0" y="132819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rot="-10800000">
            <a:off x="3708004" y="1928403"/>
            <a:ext cx="16347068" cy="1328199"/>
          </a:xfrm>
          <a:custGeom>
            <a:avLst/>
            <a:gdLst/>
            <a:ahLst/>
            <a:cxnLst/>
            <a:rect l="l" t="t" r="r" b="b"/>
            <a:pathLst>
              <a:path w="16347068" h="1328199">
                <a:moveTo>
                  <a:pt x="0" y="0"/>
                </a:moveTo>
                <a:lnTo>
                  <a:pt x="16347068" y="0"/>
                </a:lnTo>
                <a:lnTo>
                  <a:pt x="16347068" y="1328199"/>
                </a:lnTo>
                <a:lnTo>
                  <a:pt x="0" y="132819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Tree>
  </p:cSld>
  <p:clrMapOvr>
    <a:masterClrMapping/>
  </p:clrMapOvr>
  <p:transition spd="slow">
    <p:push/>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463509" y="1520507"/>
            <a:ext cx="9103307" cy="8570429"/>
            <a:chOff x="0" y="0"/>
            <a:chExt cx="2397579" cy="2257232"/>
          </a:xfrm>
        </p:grpSpPr>
        <p:sp>
          <p:nvSpPr>
            <p:cNvPr id="3" name="Freeform 3"/>
            <p:cNvSpPr/>
            <p:nvPr/>
          </p:nvSpPr>
          <p:spPr>
            <a:xfrm>
              <a:off x="0" y="0"/>
              <a:ext cx="2397579" cy="2257232"/>
            </a:xfrm>
            <a:custGeom>
              <a:avLst/>
              <a:gdLst/>
              <a:ahLst/>
              <a:cxnLst/>
              <a:rect l="l" t="t" r="r" b="b"/>
              <a:pathLst>
                <a:path w="2397579" h="2257232">
                  <a:moveTo>
                    <a:pt x="43373" y="0"/>
                  </a:moveTo>
                  <a:lnTo>
                    <a:pt x="2354206" y="0"/>
                  </a:lnTo>
                  <a:cubicBezTo>
                    <a:pt x="2378160" y="0"/>
                    <a:pt x="2397579" y="19419"/>
                    <a:pt x="2397579" y="43373"/>
                  </a:cubicBezTo>
                  <a:lnTo>
                    <a:pt x="2397579" y="2213859"/>
                  </a:lnTo>
                  <a:cubicBezTo>
                    <a:pt x="2397579" y="2237813"/>
                    <a:pt x="2378160" y="2257232"/>
                    <a:pt x="2354206" y="2257232"/>
                  </a:cubicBezTo>
                  <a:lnTo>
                    <a:pt x="43373" y="2257232"/>
                  </a:lnTo>
                  <a:cubicBezTo>
                    <a:pt x="19419" y="2257232"/>
                    <a:pt x="0" y="2237813"/>
                    <a:pt x="0" y="2213859"/>
                  </a:cubicBezTo>
                  <a:lnTo>
                    <a:pt x="0" y="43373"/>
                  </a:lnTo>
                  <a:cubicBezTo>
                    <a:pt x="0" y="19419"/>
                    <a:pt x="19419" y="0"/>
                    <a:pt x="43373" y="0"/>
                  </a:cubicBezTo>
                  <a:close/>
                </a:path>
              </a:pathLst>
            </a:custGeom>
            <a:solidFill>
              <a:srgbClr val="EFEFEF"/>
            </a:solidFill>
          </p:spPr>
        </p:sp>
        <p:sp>
          <p:nvSpPr>
            <p:cNvPr id="4" name="TextBox 4"/>
            <p:cNvSpPr txBox="1"/>
            <p:nvPr/>
          </p:nvSpPr>
          <p:spPr>
            <a:xfrm>
              <a:off x="0" y="-47625"/>
              <a:ext cx="2397579" cy="2304857"/>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5927679" y="362133"/>
            <a:ext cx="2663241" cy="927583"/>
            <a:chOff x="0" y="0"/>
            <a:chExt cx="701430" cy="244302"/>
          </a:xfrm>
        </p:grpSpPr>
        <p:sp>
          <p:nvSpPr>
            <p:cNvPr id="6" name="Freeform 6"/>
            <p:cNvSpPr/>
            <p:nvPr/>
          </p:nvSpPr>
          <p:spPr>
            <a:xfrm>
              <a:off x="0" y="0"/>
              <a:ext cx="701430" cy="244302"/>
            </a:xfrm>
            <a:custGeom>
              <a:avLst/>
              <a:gdLst/>
              <a:ahLst/>
              <a:cxnLst/>
              <a:rect l="l" t="t" r="r" b="b"/>
              <a:pathLst>
                <a:path w="701430" h="244302">
                  <a:moveTo>
                    <a:pt x="0" y="0"/>
                  </a:moveTo>
                  <a:lnTo>
                    <a:pt x="701430" y="0"/>
                  </a:lnTo>
                  <a:lnTo>
                    <a:pt x="701430" y="244302"/>
                  </a:lnTo>
                  <a:lnTo>
                    <a:pt x="0" y="244302"/>
                  </a:lnTo>
                  <a:close/>
                </a:path>
              </a:pathLst>
            </a:custGeom>
            <a:solidFill>
              <a:srgbClr val="0CC0DF"/>
            </a:solidFill>
          </p:spPr>
        </p:sp>
        <p:sp>
          <p:nvSpPr>
            <p:cNvPr id="7" name="TextBox 7"/>
            <p:cNvSpPr txBox="1"/>
            <p:nvPr/>
          </p:nvSpPr>
          <p:spPr>
            <a:xfrm>
              <a:off x="0" y="-47625"/>
              <a:ext cx="701430" cy="291927"/>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4810558" y="362133"/>
            <a:ext cx="785290" cy="927583"/>
            <a:chOff x="0" y="0"/>
            <a:chExt cx="206825" cy="244302"/>
          </a:xfrm>
        </p:grpSpPr>
        <p:sp>
          <p:nvSpPr>
            <p:cNvPr id="9" name="Freeform 9"/>
            <p:cNvSpPr/>
            <p:nvPr/>
          </p:nvSpPr>
          <p:spPr>
            <a:xfrm>
              <a:off x="0" y="0"/>
              <a:ext cx="206825" cy="244302"/>
            </a:xfrm>
            <a:custGeom>
              <a:avLst/>
              <a:gdLst/>
              <a:ahLst/>
              <a:cxnLst/>
              <a:rect l="l" t="t" r="r" b="b"/>
              <a:pathLst>
                <a:path w="206825" h="244302">
                  <a:moveTo>
                    <a:pt x="0" y="0"/>
                  </a:moveTo>
                  <a:lnTo>
                    <a:pt x="206825" y="0"/>
                  </a:lnTo>
                  <a:lnTo>
                    <a:pt x="206825" y="244302"/>
                  </a:lnTo>
                  <a:lnTo>
                    <a:pt x="0" y="244302"/>
                  </a:lnTo>
                  <a:close/>
                </a:path>
              </a:pathLst>
            </a:custGeom>
            <a:solidFill>
              <a:srgbClr val="006DAC"/>
            </a:solidFill>
          </p:spPr>
        </p:sp>
        <p:sp>
          <p:nvSpPr>
            <p:cNvPr id="10" name="TextBox 10"/>
            <p:cNvSpPr txBox="1"/>
            <p:nvPr/>
          </p:nvSpPr>
          <p:spPr>
            <a:xfrm>
              <a:off x="0" y="-47625"/>
              <a:ext cx="206825" cy="291927"/>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a:off x="448754" y="1520507"/>
            <a:ext cx="7813471" cy="8570429"/>
            <a:chOff x="0" y="0"/>
            <a:chExt cx="2057869" cy="2257232"/>
          </a:xfrm>
        </p:grpSpPr>
        <p:sp>
          <p:nvSpPr>
            <p:cNvPr id="12" name="Freeform 12"/>
            <p:cNvSpPr/>
            <p:nvPr/>
          </p:nvSpPr>
          <p:spPr>
            <a:xfrm>
              <a:off x="0" y="0"/>
              <a:ext cx="2057869" cy="2257232"/>
            </a:xfrm>
            <a:custGeom>
              <a:avLst/>
              <a:gdLst/>
              <a:ahLst/>
              <a:cxnLst/>
              <a:rect l="l" t="t" r="r" b="b"/>
              <a:pathLst>
                <a:path w="2057869" h="2257232">
                  <a:moveTo>
                    <a:pt x="50533" y="0"/>
                  </a:moveTo>
                  <a:lnTo>
                    <a:pt x="2007336" y="0"/>
                  </a:lnTo>
                  <a:cubicBezTo>
                    <a:pt x="2020738" y="0"/>
                    <a:pt x="2033591" y="5324"/>
                    <a:pt x="2043068" y="14801"/>
                  </a:cubicBezTo>
                  <a:cubicBezTo>
                    <a:pt x="2052545" y="24278"/>
                    <a:pt x="2057869" y="37131"/>
                    <a:pt x="2057869" y="50533"/>
                  </a:cubicBezTo>
                  <a:lnTo>
                    <a:pt x="2057869" y="2206699"/>
                  </a:lnTo>
                  <a:cubicBezTo>
                    <a:pt x="2057869" y="2220101"/>
                    <a:pt x="2052545" y="2232955"/>
                    <a:pt x="2043068" y="2242431"/>
                  </a:cubicBezTo>
                  <a:cubicBezTo>
                    <a:pt x="2033591" y="2251908"/>
                    <a:pt x="2020738" y="2257232"/>
                    <a:pt x="2007336" y="2257232"/>
                  </a:cubicBezTo>
                  <a:lnTo>
                    <a:pt x="50533" y="2257232"/>
                  </a:lnTo>
                  <a:cubicBezTo>
                    <a:pt x="37131" y="2257232"/>
                    <a:pt x="24278" y="2251908"/>
                    <a:pt x="14801" y="2242431"/>
                  </a:cubicBezTo>
                  <a:cubicBezTo>
                    <a:pt x="5324" y="2232955"/>
                    <a:pt x="0" y="2220101"/>
                    <a:pt x="0" y="2206699"/>
                  </a:cubicBezTo>
                  <a:lnTo>
                    <a:pt x="0" y="50533"/>
                  </a:lnTo>
                  <a:cubicBezTo>
                    <a:pt x="0" y="37131"/>
                    <a:pt x="5324" y="24278"/>
                    <a:pt x="14801" y="14801"/>
                  </a:cubicBezTo>
                  <a:cubicBezTo>
                    <a:pt x="24278" y="5324"/>
                    <a:pt x="37131" y="0"/>
                    <a:pt x="50533" y="0"/>
                  </a:cubicBezTo>
                  <a:close/>
                </a:path>
              </a:pathLst>
            </a:custGeom>
            <a:solidFill>
              <a:srgbClr val="EFEFEF"/>
            </a:solidFill>
          </p:spPr>
        </p:sp>
        <p:sp>
          <p:nvSpPr>
            <p:cNvPr id="13" name="TextBox 13"/>
            <p:cNvSpPr txBox="1"/>
            <p:nvPr/>
          </p:nvSpPr>
          <p:spPr>
            <a:xfrm>
              <a:off x="0" y="-47625"/>
              <a:ext cx="2057869" cy="2304857"/>
            </a:xfrm>
            <a:prstGeom prst="rect">
              <a:avLst/>
            </a:prstGeom>
          </p:spPr>
          <p:txBody>
            <a:bodyPr lIns="50800" tIns="50800" rIns="50800" bIns="50800" rtlCol="0" anchor="ctr"/>
            <a:lstStyle/>
            <a:p>
              <a:pPr algn="ctr">
                <a:lnSpc>
                  <a:spcPts val="2659"/>
                </a:lnSpc>
              </a:pPr>
              <a:endParaRPr/>
            </a:p>
          </p:txBody>
        </p:sp>
      </p:grpSp>
      <p:sp>
        <p:nvSpPr>
          <p:cNvPr id="14" name="TextBox 14"/>
          <p:cNvSpPr txBox="1"/>
          <p:nvPr/>
        </p:nvSpPr>
        <p:spPr>
          <a:xfrm>
            <a:off x="198311" y="489826"/>
            <a:ext cx="12223063" cy="1002665"/>
          </a:xfrm>
          <a:prstGeom prst="rect">
            <a:avLst/>
          </a:prstGeom>
        </p:spPr>
        <p:txBody>
          <a:bodyPr lIns="0" tIns="0" rIns="0" bIns="0" rtlCol="0" anchor="t">
            <a:spAutoFit/>
          </a:bodyPr>
          <a:lstStyle/>
          <a:p>
            <a:pPr marL="0" lvl="0" indent="0" algn="l">
              <a:lnSpc>
                <a:spcPts val="7930"/>
              </a:lnSpc>
              <a:spcBef>
                <a:spcPct val="0"/>
              </a:spcBef>
            </a:pPr>
            <a:r>
              <a:rPr lang="en-US" sz="6500" b="1">
                <a:solidFill>
                  <a:srgbClr val="006DAC"/>
                </a:solidFill>
                <a:latin typeface="Proxima Nova Heavy"/>
                <a:ea typeface="Proxima Nova Heavy"/>
                <a:cs typeface="Proxima Nova Heavy"/>
                <a:sym typeface="Proxima Nova Heavy"/>
              </a:rPr>
              <a:t>RELEASE PLAN</a:t>
            </a:r>
          </a:p>
        </p:txBody>
      </p:sp>
      <p:sp>
        <p:nvSpPr>
          <p:cNvPr id="15" name="TextBox 15"/>
          <p:cNvSpPr txBox="1"/>
          <p:nvPr/>
        </p:nvSpPr>
        <p:spPr>
          <a:xfrm>
            <a:off x="756978" y="1796415"/>
            <a:ext cx="7505247" cy="8551545"/>
          </a:xfrm>
          <a:prstGeom prst="rect">
            <a:avLst/>
          </a:prstGeom>
        </p:spPr>
        <p:txBody>
          <a:bodyPr lIns="0" tIns="0" rIns="0" bIns="0" rtlCol="0" anchor="t">
            <a:spAutoFit/>
          </a:bodyPr>
          <a:lstStyle/>
          <a:p>
            <a:pPr marL="0" lvl="0" indent="0" algn="l">
              <a:lnSpc>
                <a:spcPts val="3780"/>
              </a:lnSpc>
              <a:spcBef>
                <a:spcPct val="0"/>
              </a:spcBef>
            </a:pPr>
            <a:r>
              <a:rPr lang="en-US" sz="2700" b="1">
                <a:solidFill>
                  <a:srgbClr val="006DAC"/>
                </a:solidFill>
                <a:latin typeface="Proxima Nova Bold"/>
                <a:ea typeface="Proxima Nova Bold"/>
                <a:cs typeface="Proxima Nova Bold"/>
                <a:sym typeface="Proxima Nova Bold"/>
              </a:rPr>
              <a:t>Rele</a:t>
            </a:r>
            <a:r>
              <a:rPr lang="en-US" sz="2700" b="1" u="none" strike="noStrike">
                <a:solidFill>
                  <a:srgbClr val="006DAC"/>
                </a:solidFill>
                <a:latin typeface="Proxima Nova Bold"/>
                <a:ea typeface="Proxima Nova Bold"/>
                <a:cs typeface="Proxima Nova Bold"/>
                <a:sym typeface="Proxima Nova Bold"/>
              </a:rPr>
              <a:t>ase 1  MVP</a:t>
            </a:r>
          </a:p>
          <a:p>
            <a:pPr marL="0" lvl="0" indent="0" algn="l">
              <a:lnSpc>
                <a:spcPts val="3780"/>
              </a:lnSpc>
              <a:spcBef>
                <a:spcPct val="0"/>
              </a:spcBef>
            </a:pPr>
            <a:endParaRPr lang="en-US" sz="2700" b="1" u="none" strike="noStrike">
              <a:solidFill>
                <a:srgbClr val="006DAC"/>
              </a:solidFill>
              <a:latin typeface="Proxima Nova Bold"/>
              <a:ea typeface="Proxima Nova Bold"/>
              <a:cs typeface="Proxima Nova Bold"/>
              <a:sym typeface="Proxima Nova Bold"/>
            </a:endParaRPr>
          </a:p>
          <a:p>
            <a:pPr algn="l">
              <a:lnSpc>
                <a:spcPts val="3780"/>
              </a:lnSpc>
            </a:pPr>
            <a:r>
              <a:rPr lang="en-US" sz="2700" u="none" strike="noStrike">
                <a:solidFill>
                  <a:srgbClr val="006DAC"/>
                </a:solidFill>
                <a:latin typeface="Proxima Nova"/>
                <a:ea typeface="Proxima Nova"/>
                <a:cs typeface="Proxima Nova"/>
                <a:sym typeface="Proxima Nova"/>
              </a:rPr>
              <a:t>Product Goal →  Manage user  preferences, suggest destinations based on user preferences, ability to search and filter flights​</a:t>
            </a:r>
          </a:p>
          <a:p>
            <a:pPr algn="l">
              <a:lnSpc>
                <a:spcPts val="3780"/>
              </a:lnSpc>
            </a:pPr>
            <a:endParaRPr lang="en-US" sz="2700" u="none" strike="noStrike">
              <a:solidFill>
                <a:srgbClr val="006DAC"/>
              </a:solidFill>
              <a:latin typeface="Proxima Nova"/>
              <a:ea typeface="Proxima Nova"/>
              <a:cs typeface="Proxima Nova"/>
              <a:sym typeface="Proxima Nova"/>
            </a:endParaRPr>
          </a:p>
          <a:p>
            <a:pPr algn="l">
              <a:lnSpc>
                <a:spcPts val="3780"/>
              </a:lnSpc>
            </a:pPr>
            <a:endParaRPr lang="en-US" sz="2700" u="none" strike="noStrike">
              <a:solidFill>
                <a:srgbClr val="006DAC"/>
              </a:solidFill>
              <a:latin typeface="Proxima Nova"/>
              <a:ea typeface="Proxima Nova"/>
              <a:cs typeface="Proxima Nova"/>
              <a:sym typeface="Proxima Nova"/>
            </a:endParaRPr>
          </a:p>
          <a:p>
            <a:pPr algn="l">
              <a:lnSpc>
                <a:spcPts val="3780"/>
              </a:lnSpc>
            </a:pPr>
            <a:endParaRPr lang="en-US" sz="2700" u="none" strike="noStrike">
              <a:solidFill>
                <a:srgbClr val="006DAC"/>
              </a:solidFill>
              <a:latin typeface="Proxima Nova"/>
              <a:ea typeface="Proxima Nova"/>
              <a:cs typeface="Proxima Nova"/>
              <a:sym typeface="Proxima Nova"/>
            </a:endParaRPr>
          </a:p>
          <a:p>
            <a:pPr algn="l">
              <a:lnSpc>
                <a:spcPts val="3780"/>
              </a:lnSpc>
            </a:pPr>
            <a:endParaRPr lang="en-US" sz="2700" u="none" strike="noStrike">
              <a:solidFill>
                <a:srgbClr val="006DAC"/>
              </a:solidFill>
              <a:latin typeface="Proxima Nova"/>
              <a:ea typeface="Proxima Nova"/>
              <a:cs typeface="Proxima Nova"/>
              <a:sym typeface="Proxima Nova"/>
            </a:endParaRPr>
          </a:p>
          <a:p>
            <a:pPr algn="l">
              <a:lnSpc>
                <a:spcPts val="3780"/>
              </a:lnSpc>
            </a:pPr>
            <a:endParaRPr lang="en-US" sz="2700" u="none" strike="noStrike">
              <a:solidFill>
                <a:srgbClr val="006DAC"/>
              </a:solidFill>
              <a:latin typeface="Proxima Nova"/>
              <a:ea typeface="Proxima Nova"/>
              <a:cs typeface="Proxima Nova"/>
              <a:sym typeface="Proxima Nova"/>
            </a:endParaRPr>
          </a:p>
          <a:p>
            <a:pPr algn="l">
              <a:lnSpc>
                <a:spcPts val="3780"/>
              </a:lnSpc>
            </a:pPr>
            <a:r>
              <a:rPr lang="en-US" sz="2700" u="none" strike="noStrike">
                <a:solidFill>
                  <a:srgbClr val="006DAC"/>
                </a:solidFill>
                <a:latin typeface="Proxima Nova"/>
                <a:ea typeface="Proxima Nova"/>
                <a:cs typeface="Proxima Nova"/>
                <a:sym typeface="Proxima Nova"/>
              </a:rPr>
              <a:t>Date → 20/Nov</a:t>
            </a:r>
          </a:p>
          <a:p>
            <a:pPr algn="l">
              <a:lnSpc>
                <a:spcPts val="3780"/>
              </a:lnSpc>
            </a:pPr>
            <a:r>
              <a:rPr lang="en-US" sz="2700" u="none" strike="noStrike">
                <a:solidFill>
                  <a:srgbClr val="006DAC"/>
                </a:solidFill>
                <a:latin typeface="Proxima Nova"/>
                <a:ea typeface="Proxima Nova"/>
                <a:cs typeface="Proxima Nova"/>
                <a:sym typeface="Proxima Nova"/>
              </a:rPr>
              <a:t>Release →  v1.0</a:t>
            </a:r>
          </a:p>
          <a:p>
            <a:pPr algn="l">
              <a:lnSpc>
                <a:spcPts val="3780"/>
              </a:lnSpc>
            </a:pPr>
            <a:endParaRPr lang="en-US" sz="2700" u="none" strike="noStrike">
              <a:solidFill>
                <a:srgbClr val="006DAC"/>
              </a:solidFill>
              <a:latin typeface="Proxima Nova"/>
              <a:ea typeface="Proxima Nova"/>
              <a:cs typeface="Proxima Nova"/>
              <a:sym typeface="Proxima Nova"/>
            </a:endParaRPr>
          </a:p>
          <a:p>
            <a:pPr marL="0" lvl="0" indent="0" algn="l">
              <a:lnSpc>
                <a:spcPts val="3780"/>
              </a:lnSpc>
              <a:spcBef>
                <a:spcPct val="0"/>
              </a:spcBef>
            </a:pPr>
            <a:r>
              <a:rPr lang="en-US" sz="2700" b="1" u="none" strike="noStrike">
                <a:solidFill>
                  <a:srgbClr val="006DAC"/>
                </a:solidFill>
                <a:latin typeface="Proxima Nova Bold"/>
                <a:ea typeface="Proxima Nova Bold"/>
                <a:cs typeface="Proxima Nova Bold"/>
                <a:sym typeface="Proxima Nova Bold"/>
              </a:rPr>
              <a:t>Plan</a:t>
            </a:r>
          </a:p>
          <a:p>
            <a:pPr algn="l">
              <a:lnSpc>
                <a:spcPts val="3780"/>
              </a:lnSpc>
              <a:spcBef>
                <a:spcPct val="0"/>
              </a:spcBef>
            </a:pPr>
            <a:r>
              <a:rPr lang="en-US" sz="2700" u="none" strike="noStrike">
                <a:solidFill>
                  <a:srgbClr val="006DAC"/>
                </a:solidFill>
                <a:latin typeface="Proxima Nova"/>
                <a:ea typeface="Proxima Nova"/>
                <a:cs typeface="Proxima Nova"/>
                <a:sym typeface="Proxima Nova"/>
              </a:rPr>
              <a:t>US2, US4, US6, US7, US8​</a:t>
            </a:r>
          </a:p>
          <a:p>
            <a:pPr marL="0" lvl="0" indent="0" algn="l">
              <a:lnSpc>
                <a:spcPts val="3780"/>
              </a:lnSpc>
              <a:spcBef>
                <a:spcPct val="0"/>
              </a:spcBef>
            </a:pPr>
            <a:endParaRPr lang="en-US" sz="2700" u="none" strike="noStrike">
              <a:solidFill>
                <a:srgbClr val="006DAC"/>
              </a:solidFill>
              <a:latin typeface="Proxima Nova"/>
              <a:ea typeface="Proxima Nova"/>
              <a:cs typeface="Proxima Nova"/>
              <a:sym typeface="Proxima Nova"/>
            </a:endParaRPr>
          </a:p>
          <a:p>
            <a:pPr marL="0" lvl="0" indent="0" algn="l">
              <a:lnSpc>
                <a:spcPts val="3780"/>
              </a:lnSpc>
              <a:spcBef>
                <a:spcPct val="0"/>
              </a:spcBef>
            </a:pPr>
            <a:r>
              <a:rPr lang="en-US" sz="2700" u="none" strike="noStrike">
                <a:solidFill>
                  <a:srgbClr val="006DAC"/>
                </a:solidFill>
                <a:latin typeface="Proxima Nova"/>
                <a:ea typeface="Proxima Nova"/>
                <a:cs typeface="Proxima Nova"/>
                <a:sym typeface="Proxima Nova"/>
              </a:rPr>
              <a:t>Story Points → 1 XL + 1 L + 1 M + 2 S​</a:t>
            </a:r>
          </a:p>
          <a:p>
            <a:pPr marL="0" lvl="0" indent="0" algn="l">
              <a:lnSpc>
                <a:spcPts val="3780"/>
              </a:lnSpc>
              <a:spcBef>
                <a:spcPct val="0"/>
              </a:spcBef>
            </a:pPr>
            <a:endParaRPr lang="en-US" sz="2700" u="none" strike="noStrike">
              <a:solidFill>
                <a:srgbClr val="006DAC"/>
              </a:solidFill>
              <a:latin typeface="Proxima Nova"/>
              <a:ea typeface="Proxima Nova"/>
              <a:cs typeface="Proxima Nova"/>
              <a:sym typeface="Proxima Nova"/>
            </a:endParaRPr>
          </a:p>
        </p:txBody>
      </p:sp>
      <p:sp>
        <p:nvSpPr>
          <p:cNvPr id="16" name="TextBox 16"/>
          <p:cNvSpPr txBox="1"/>
          <p:nvPr/>
        </p:nvSpPr>
        <p:spPr>
          <a:xfrm>
            <a:off x="198311" y="220550"/>
            <a:ext cx="7474008" cy="321267"/>
          </a:xfrm>
          <a:prstGeom prst="rect">
            <a:avLst/>
          </a:prstGeom>
        </p:spPr>
        <p:txBody>
          <a:bodyPr lIns="0" tIns="0" rIns="0" bIns="0" rtlCol="0" anchor="t">
            <a:spAutoFit/>
          </a:bodyPr>
          <a:lstStyle/>
          <a:p>
            <a:pPr algn="l">
              <a:lnSpc>
                <a:spcPts val="2482"/>
              </a:lnSpc>
            </a:pPr>
            <a:r>
              <a:rPr lang="en-US" sz="2364" b="1">
                <a:solidFill>
                  <a:srgbClr val="006DAC"/>
                </a:solidFill>
                <a:latin typeface="Proxima Nova Bold"/>
                <a:ea typeface="Proxima Nova Bold"/>
                <a:cs typeface="Proxima Nova Bold"/>
                <a:sym typeface="Proxima Nova Bold"/>
              </a:rPr>
              <a:t>Presented by → Tiago Oliveira</a:t>
            </a:r>
          </a:p>
        </p:txBody>
      </p:sp>
      <p:sp>
        <p:nvSpPr>
          <p:cNvPr id="17" name="TextBox 17"/>
          <p:cNvSpPr txBox="1"/>
          <p:nvPr/>
        </p:nvSpPr>
        <p:spPr>
          <a:xfrm>
            <a:off x="8883339" y="1816735"/>
            <a:ext cx="7899269" cy="8075295"/>
          </a:xfrm>
          <a:prstGeom prst="rect">
            <a:avLst/>
          </a:prstGeom>
        </p:spPr>
        <p:txBody>
          <a:bodyPr lIns="0" tIns="0" rIns="0" bIns="0" rtlCol="0" anchor="t">
            <a:spAutoFit/>
          </a:bodyPr>
          <a:lstStyle/>
          <a:p>
            <a:pPr marL="0" lvl="0" indent="0" algn="l">
              <a:lnSpc>
                <a:spcPts val="3780"/>
              </a:lnSpc>
              <a:spcBef>
                <a:spcPct val="0"/>
              </a:spcBef>
            </a:pPr>
            <a:r>
              <a:rPr lang="en-US" sz="2700" b="1">
                <a:solidFill>
                  <a:srgbClr val="006DAC"/>
                </a:solidFill>
                <a:latin typeface="Proxima Nova Bold"/>
                <a:ea typeface="Proxima Nova Bold"/>
                <a:cs typeface="Proxima Nova Bold"/>
                <a:sym typeface="Proxima Nova Bold"/>
              </a:rPr>
              <a:t>Rele</a:t>
            </a:r>
            <a:r>
              <a:rPr lang="en-US" sz="2700" b="1" u="none" strike="noStrike">
                <a:solidFill>
                  <a:srgbClr val="006DAC"/>
                </a:solidFill>
                <a:latin typeface="Proxima Nova Bold"/>
                <a:ea typeface="Proxima Nova Bold"/>
                <a:cs typeface="Proxima Nova Bold"/>
                <a:sym typeface="Proxima Nova Bold"/>
              </a:rPr>
              <a:t>ase 2  Final</a:t>
            </a:r>
          </a:p>
          <a:p>
            <a:pPr marL="0" lvl="0" indent="0" algn="l">
              <a:lnSpc>
                <a:spcPts val="3780"/>
              </a:lnSpc>
              <a:spcBef>
                <a:spcPct val="0"/>
              </a:spcBef>
            </a:pPr>
            <a:endParaRPr lang="en-US" sz="2700" b="1" u="none" strike="noStrike">
              <a:solidFill>
                <a:srgbClr val="006DAC"/>
              </a:solidFill>
              <a:latin typeface="Proxima Nova Bold"/>
              <a:ea typeface="Proxima Nova Bold"/>
              <a:cs typeface="Proxima Nova Bold"/>
              <a:sym typeface="Proxima Nova Bold"/>
            </a:endParaRPr>
          </a:p>
          <a:p>
            <a:pPr algn="l">
              <a:lnSpc>
                <a:spcPts val="3780"/>
              </a:lnSpc>
            </a:pPr>
            <a:r>
              <a:rPr lang="en-US" sz="2700" u="none" strike="noStrike">
                <a:solidFill>
                  <a:srgbClr val="006DAC"/>
                </a:solidFill>
                <a:latin typeface="Proxima Nova"/>
                <a:ea typeface="Proxima Nova"/>
                <a:cs typeface="Proxima Nova"/>
                <a:sym typeface="Proxima Nova"/>
              </a:rPr>
              <a:t>Product Goal → </a:t>
            </a:r>
          </a:p>
          <a:p>
            <a:pPr marL="582933" lvl="1" indent="-291467" algn="l">
              <a:lnSpc>
                <a:spcPts val="3780"/>
              </a:lnSpc>
              <a:buFont typeface="Arial"/>
              <a:buChar char="•"/>
            </a:pPr>
            <a:r>
              <a:rPr lang="en-US" sz="2700" u="none" strike="noStrike">
                <a:solidFill>
                  <a:srgbClr val="006DAC"/>
                </a:solidFill>
                <a:latin typeface="Proxima Nova"/>
                <a:ea typeface="Proxima Nova"/>
                <a:cs typeface="Proxima Nova"/>
                <a:sym typeface="Proxima Nova"/>
              </a:rPr>
              <a:t>Introduce the capability for users to save desired flights Favorites from the search results</a:t>
            </a:r>
          </a:p>
          <a:p>
            <a:pPr marL="582933" lvl="1" indent="-291467" algn="l">
              <a:lnSpc>
                <a:spcPts val="3780"/>
              </a:lnSpc>
              <a:buFont typeface="Arial"/>
              <a:buChar char="•"/>
            </a:pPr>
            <a:r>
              <a:rPr lang="en-US" sz="2700" u="none" strike="noStrike">
                <a:solidFill>
                  <a:srgbClr val="006DAC"/>
                </a:solidFill>
                <a:latin typeface="Proxima Nova"/>
                <a:ea typeface="Proxima Nova"/>
                <a:cs typeface="Proxima Nova"/>
                <a:sym typeface="Proxima Nova"/>
              </a:rPr>
              <a:t> Integrate a basic mechanism to provide </a:t>
            </a:r>
          </a:p>
          <a:p>
            <a:pPr algn="l">
              <a:lnSpc>
                <a:spcPts val="3780"/>
              </a:lnSpc>
            </a:pPr>
            <a:r>
              <a:rPr lang="en-US" sz="2700" u="none" strike="noStrike">
                <a:solidFill>
                  <a:srgbClr val="006DAC"/>
                </a:solidFill>
                <a:latin typeface="Proxima Nova"/>
                <a:ea typeface="Proxima Nova"/>
                <a:cs typeface="Proxima Nova"/>
                <a:sym typeface="Proxima Nova"/>
              </a:rPr>
              <a:t>notifications related to these saved flights</a:t>
            </a:r>
          </a:p>
          <a:p>
            <a:pPr marL="582933" lvl="1" indent="-291467" algn="l">
              <a:lnSpc>
                <a:spcPts val="3780"/>
              </a:lnSpc>
              <a:buFont typeface="Arial"/>
              <a:buChar char="•"/>
            </a:pPr>
            <a:r>
              <a:rPr lang="en-US" sz="2700" u="none" strike="noStrike">
                <a:solidFill>
                  <a:srgbClr val="006DAC"/>
                </a:solidFill>
                <a:latin typeface="Proxima Nova"/>
                <a:ea typeface="Proxima Nova"/>
                <a:cs typeface="Proxima Nova"/>
                <a:sym typeface="Proxima Nova"/>
              </a:rPr>
              <a:t>Deliver the new UI enhancements</a:t>
            </a:r>
          </a:p>
          <a:p>
            <a:pPr marL="582933" lvl="1" indent="-291467" algn="l">
              <a:lnSpc>
                <a:spcPts val="3780"/>
              </a:lnSpc>
              <a:buFont typeface="Arial"/>
              <a:buChar char="•"/>
            </a:pPr>
            <a:r>
              <a:rPr lang="en-US" sz="2700" u="none" strike="noStrike">
                <a:solidFill>
                  <a:srgbClr val="006DAC"/>
                </a:solidFill>
                <a:latin typeface="Proxima Nova"/>
                <a:ea typeface="Proxima Nova"/>
                <a:cs typeface="Proxima Nova"/>
                <a:sym typeface="Proxima Nova"/>
              </a:rPr>
              <a:t>Integrate User Account</a:t>
            </a:r>
          </a:p>
          <a:p>
            <a:pPr algn="l">
              <a:lnSpc>
                <a:spcPts val="3780"/>
              </a:lnSpc>
            </a:pPr>
            <a:endParaRPr lang="en-US" sz="2700" u="none" strike="noStrike">
              <a:solidFill>
                <a:srgbClr val="006DAC"/>
              </a:solidFill>
              <a:latin typeface="Proxima Nova"/>
              <a:ea typeface="Proxima Nova"/>
              <a:cs typeface="Proxima Nova"/>
              <a:sym typeface="Proxima Nova"/>
            </a:endParaRPr>
          </a:p>
          <a:p>
            <a:pPr algn="l">
              <a:lnSpc>
                <a:spcPts val="3780"/>
              </a:lnSpc>
            </a:pPr>
            <a:r>
              <a:rPr lang="en-US" sz="2700" u="none" strike="noStrike">
                <a:solidFill>
                  <a:srgbClr val="006DAC"/>
                </a:solidFill>
                <a:latin typeface="Proxima Nova"/>
                <a:ea typeface="Proxima Nova"/>
                <a:cs typeface="Proxima Nova"/>
                <a:sym typeface="Proxima Nova"/>
              </a:rPr>
              <a:t>Date → 18/Dec</a:t>
            </a:r>
          </a:p>
          <a:p>
            <a:pPr algn="l">
              <a:lnSpc>
                <a:spcPts val="3780"/>
              </a:lnSpc>
            </a:pPr>
            <a:r>
              <a:rPr lang="en-US" sz="2700" u="none" strike="noStrike">
                <a:solidFill>
                  <a:srgbClr val="006DAC"/>
                </a:solidFill>
                <a:latin typeface="Proxima Nova"/>
                <a:ea typeface="Proxima Nova"/>
                <a:cs typeface="Proxima Nova"/>
                <a:sym typeface="Proxima Nova"/>
              </a:rPr>
              <a:t>Release →  v2.0</a:t>
            </a:r>
          </a:p>
          <a:p>
            <a:pPr algn="l">
              <a:lnSpc>
                <a:spcPts val="3780"/>
              </a:lnSpc>
            </a:pPr>
            <a:endParaRPr lang="en-US" sz="2700" u="none" strike="noStrike">
              <a:solidFill>
                <a:srgbClr val="006DAC"/>
              </a:solidFill>
              <a:latin typeface="Proxima Nova"/>
              <a:ea typeface="Proxima Nova"/>
              <a:cs typeface="Proxima Nova"/>
              <a:sym typeface="Proxima Nova"/>
            </a:endParaRPr>
          </a:p>
          <a:p>
            <a:pPr marL="0" lvl="0" indent="0" algn="l">
              <a:lnSpc>
                <a:spcPts val="3780"/>
              </a:lnSpc>
              <a:spcBef>
                <a:spcPct val="0"/>
              </a:spcBef>
            </a:pPr>
            <a:r>
              <a:rPr lang="en-US" sz="2700" b="1" u="none" strike="noStrike">
                <a:solidFill>
                  <a:srgbClr val="006DAC"/>
                </a:solidFill>
                <a:latin typeface="Proxima Nova Bold"/>
                <a:ea typeface="Proxima Nova Bold"/>
                <a:cs typeface="Proxima Nova Bold"/>
                <a:sym typeface="Proxima Nova Bold"/>
              </a:rPr>
              <a:t>Plan</a:t>
            </a:r>
          </a:p>
          <a:p>
            <a:pPr marL="0" lvl="0" indent="0" algn="l">
              <a:lnSpc>
                <a:spcPts val="3780"/>
              </a:lnSpc>
              <a:spcBef>
                <a:spcPct val="0"/>
              </a:spcBef>
            </a:pPr>
            <a:r>
              <a:rPr lang="en-US" sz="2700" u="none" strike="noStrike">
                <a:solidFill>
                  <a:srgbClr val="006DAC"/>
                </a:solidFill>
                <a:latin typeface="Proxima Nova"/>
                <a:ea typeface="Proxima Nova"/>
                <a:cs typeface="Proxima Nova"/>
                <a:sym typeface="Proxima Nova"/>
              </a:rPr>
              <a:t>US1+US3+US9</a:t>
            </a:r>
          </a:p>
          <a:p>
            <a:pPr marL="0" lvl="0" indent="0" algn="l">
              <a:lnSpc>
                <a:spcPts val="3780"/>
              </a:lnSpc>
              <a:spcBef>
                <a:spcPct val="0"/>
              </a:spcBef>
            </a:pPr>
            <a:endParaRPr lang="en-US" sz="2700" u="none" strike="noStrike">
              <a:solidFill>
                <a:srgbClr val="006DAC"/>
              </a:solidFill>
              <a:latin typeface="Proxima Nova"/>
              <a:ea typeface="Proxima Nova"/>
              <a:cs typeface="Proxima Nova"/>
              <a:sym typeface="Proxima Nova"/>
            </a:endParaRPr>
          </a:p>
          <a:p>
            <a:pPr marL="0" lvl="0" indent="0" algn="l">
              <a:lnSpc>
                <a:spcPts val="3780"/>
              </a:lnSpc>
              <a:spcBef>
                <a:spcPct val="0"/>
              </a:spcBef>
            </a:pPr>
            <a:r>
              <a:rPr lang="en-US" sz="2700" u="none" strike="noStrike">
                <a:solidFill>
                  <a:srgbClr val="006DAC"/>
                </a:solidFill>
                <a:latin typeface="Proxima Nova"/>
                <a:ea typeface="Proxima Nova"/>
                <a:cs typeface="Proxima Nova"/>
                <a:sym typeface="Proxima Nova"/>
              </a:rPr>
              <a:t>Story Points →   1 L + 2 M</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3AFCA"/>
        </a:solidFill>
        <a:effectLst/>
      </p:bgPr>
    </p:bg>
    <p:spTree>
      <p:nvGrpSpPr>
        <p:cNvPr id="1" name=""/>
        <p:cNvGrpSpPr/>
        <p:nvPr/>
      </p:nvGrpSpPr>
      <p:grpSpPr>
        <a:xfrm>
          <a:off x="0" y="0"/>
          <a:ext cx="0" cy="0"/>
          <a:chOff x="0" y="0"/>
          <a:chExt cx="0" cy="0"/>
        </a:xfrm>
      </p:grpSpPr>
      <p:sp>
        <p:nvSpPr>
          <p:cNvPr id="2" name="TextBox 2"/>
          <p:cNvSpPr txBox="1"/>
          <p:nvPr/>
        </p:nvSpPr>
        <p:spPr>
          <a:xfrm>
            <a:off x="5272610" y="4632643"/>
            <a:ext cx="7742781" cy="1002665"/>
          </a:xfrm>
          <a:prstGeom prst="rect">
            <a:avLst/>
          </a:prstGeom>
        </p:spPr>
        <p:txBody>
          <a:bodyPr lIns="0" tIns="0" rIns="0" bIns="0" rtlCol="0" anchor="t">
            <a:spAutoFit/>
          </a:bodyPr>
          <a:lstStyle/>
          <a:p>
            <a:pPr algn="l">
              <a:lnSpc>
                <a:spcPts val="7930"/>
              </a:lnSpc>
              <a:spcBef>
                <a:spcPct val="0"/>
              </a:spcBef>
            </a:pPr>
            <a:r>
              <a:rPr lang="en-US" sz="6500" b="1">
                <a:solidFill>
                  <a:srgbClr val="FFFFFF"/>
                </a:solidFill>
                <a:latin typeface="Proxima Nova Heavy"/>
                <a:ea typeface="Proxima Nova Heavy"/>
                <a:cs typeface="Proxima Nova Heavy"/>
                <a:sym typeface="Proxima Nova Heavy"/>
              </a:rPr>
              <a:t>4. BACKLOG ITEMS</a:t>
            </a:r>
          </a:p>
        </p:txBody>
      </p:sp>
      <p:sp>
        <p:nvSpPr>
          <p:cNvPr id="3" name="Freeform 3"/>
          <p:cNvSpPr/>
          <p:nvPr/>
        </p:nvSpPr>
        <p:spPr>
          <a:xfrm>
            <a:off x="-753219" y="6663269"/>
            <a:ext cx="16347068" cy="1328199"/>
          </a:xfrm>
          <a:custGeom>
            <a:avLst/>
            <a:gdLst/>
            <a:ahLst/>
            <a:cxnLst/>
            <a:rect l="l" t="t" r="r" b="b"/>
            <a:pathLst>
              <a:path w="16347068" h="1328199">
                <a:moveTo>
                  <a:pt x="0" y="0"/>
                </a:moveTo>
                <a:lnTo>
                  <a:pt x="16347068" y="0"/>
                </a:lnTo>
                <a:lnTo>
                  <a:pt x="16347068" y="1328199"/>
                </a:lnTo>
                <a:lnTo>
                  <a:pt x="0" y="132819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rot="-10800000">
            <a:off x="3708004" y="1928403"/>
            <a:ext cx="16347068" cy="1328199"/>
          </a:xfrm>
          <a:custGeom>
            <a:avLst/>
            <a:gdLst/>
            <a:ahLst/>
            <a:cxnLst/>
            <a:rect l="l" t="t" r="r" b="b"/>
            <a:pathLst>
              <a:path w="16347068" h="1328199">
                <a:moveTo>
                  <a:pt x="0" y="0"/>
                </a:moveTo>
                <a:lnTo>
                  <a:pt x="16347068" y="0"/>
                </a:lnTo>
                <a:lnTo>
                  <a:pt x="16347068" y="1328199"/>
                </a:lnTo>
                <a:lnTo>
                  <a:pt x="0" y="132819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Tree>
  </p:cSld>
  <p:clrMapOvr>
    <a:masterClrMapping/>
  </p:clrMapOvr>
  <p:transition spd="slow">
    <p:push/>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0800000">
            <a:off x="6048597" y="-2228646"/>
            <a:ext cx="10857885" cy="5181559"/>
          </a:xfrm>
          <a:custGeom>
            <a:avLst/>
            <a:gdLst/>
            <a:ahLst/>
            <a:cxnLst/>
            <a:rect l="l" t="t" r="r" b="b"/>
            <a:pathLst>
              <a:path w="10857885" h="5181559">
                <a:moveTo>
                  <a:pt x="0" y="0"/>
                </a:moveTo>
                <a:lnTo>
                  <a:pt x="10857884" y="0"/>
                </a:lnTo>
                <a:lnTo>
                  <a:pt x="10857884" y="5181559"/>
                </a:lnTo>
                <a:lnTo>
                  <a:pt x="0" y="518155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1028700" y="862639"/>
            <a:ext cx="5796855" cy="2002790"/>
          </a:xfrm>
          <a:prstGeom prst="rect">
            <a:avLst/>
          </a:prstGeom>
        </p:spPr>
        <p:txBody>
          <a:bodyPr lIns="0" tIns="0" rIns="0" bIns="0" rtlCol="0" anchor="t">
            <a:spAutoFit/>
          </a:bodyPr>
          <a:lstStyle/>
          <a:p>
            <a:pPr marL="0" lvl="0" indent="0" algn="l">
              <a:lnSpc>
                <a:spcPts val="7930"/>
              </a:lnSpc>
              <a:spcBef>
                <a:spcPct val="0"/>
              </a:spcBef>
            </a:pPr>
            <a:r>
              <a:rPr lang="en-US" sz="6500" b="1">
                <a:solidFill>
                  <a:srgbClr val="006DAC"/>
                </a:solidFill>
                <a:latin typeface="Proxima Nova Heavy"/>
                <a:ea typeface="Proxima Nova Heavy"/>
                <a:cs typeface="Proxima Nova Heavy"/>
                <a:sym typeface="Proxima Nova Heavy"/>
              </a:rPr>
              <a:t>BACKLOG ITEMS</a:t>
            </a:r>
          </a:p>
        </p:txBody>
      </p:sp>
      <p:sp>
        <p:nvSpPr>
          <p:cNvPr id="4" name="TextBox 4"/>
          <p:cNvSpPr txBox="1"/>
          <p:nvPr/>
        </p:nvSpPr>
        <p:spPr>
          <a:xfrm>
            <a:off x="830677" y="3116546"/>
            <a:ext cx="6192900" cy="2613024"/>
          </a:xfrm>
          <a:prstGeom prst="rect">
            <a:avLst/>
          </a:prstGeom>
        </p:spPr>
        <p:txBody>
          <a:bodyPr lIns="0" tIns="0" rIns="0" bIns="0" rtlCol="0" anchor="t">
            <a:spAutoFit/>
          </a:bodyPr>
          <a:lstStyle/>
          <a:p>
            <a:pPr algn="l">
              <a:lnSpc>
                <a:spcPts val="3500"/>
              </a:lnSpc>
            </a:pPr>
            <a:r>
              <a:rPr lang="en-US" sz="2500" b="1">
                <a:solidFill>
                  <a:srgbClr val="006DAC"/>
                </a:solidFill>
                <a:latin typeface="Proxima Nova Bold"/>
                <a:ea typeface="Proxima Nova Bold"/>
                <a:cs typeface="Proxima Nova Bold"/>
                <a:sym typeface="Proxima Nova Bold"/>
              </a:rPr>
              <a:t>Sprint 1</a:t>
            </a:r>
          </a:p>
          <a:p>
            <a:pPr marL="539754" lvl="1" indent="-269877" algn="l">
              <a:lnSpc>
                <a:spcPts val="3500"/>
              </a:lnSpc>
              <a:buFont typeface="Arial"/>
              <a:buChar char="•"/>
            </a:pPr>
            <a:r>
              <a:rPr lang="en-US" sz="2500">
                <a:solidFill>
                  <a:srgbClr val="006DAC"/>
                </a:solidFill>
                <a:latin typeface="Proxima Nova"/>
                <a:ea typeface="Proxima Nova"/>
                <a:cs typeface="Proxima Nova"/>
                <a:sym typeface="Proxima Nova"/>
              </a:rPr>
              <a:t>US4: New User Onboarding Quiz (M)</a:t>
            </a:r>
          </a:p>
          <a:p>
            <a:pPr marL="539754" lvl="1" indent="-269877" algn="l">
              <a:lnSpc>
                <a:spcPts val="3500"/>
              </a:lnSpc>
              <a:buFont typeface="Arial"/>
              <a:buChar char="•"/>
            </a:pPr>
            <a:r>
              <a:rPr lang="en-US" sz="2500">
                <a:solidFill>
                  <a:srgbClr val="006DAC"/>
                </a:solidFill>
                <a:latin typeface="Proxima Nova"/>
                <a:ea typeface="Proxima Nova"/>
                <a:cs typeface="Proxima Nova"/>
                <a:sym typeface="Proxima Nova"/>
              </a:rPr>
              <a:t>US2: User Travel Preferences (S)</a:t>
            </a:r>
          </a:p>
          <a:p>
            <a:pPr marL="539754" lvl="1" indent="-269877" algn="l">
              <a:lnSpc>
                <a:spcPts val="3500"/>
              </a:lnSpc>
              <a:buFont typeface="Arial"/>
              <a:buChar char="•"/>
            </a:pPr>
            <a:r>
              <a:rPr lang="en-US" sz="2500">
                <a:solidFill>
                  <a:srgbClr val="006DAC"/>
                </a:solidFill>
                <a:latin typeface="Proxima Nova"/>
                <a:ea typeface="Proxima Nova"/>
                <a:cs typeface="Proxima Nova"/>
                <a:sym typeface="Proxima Nova"/>
              </a:rPr>
              <a:t>US6: “Inspire Me” Destination Suggestions (XL)*</a:t>
            </a:r>
          </a:p>
          <a:p>
            <a:pPr marL="539754" lvl="1" indent="-269877" algn="l">
              <a:lnSpc>
                <a:spcPts val="3500"/>
              </a:lnSpc>
              <a:buFont typeface="Arial"/>
              <a:buChar char="•"/>
            </a:pPr>
            <a:r>
              <a:rPr lang="en-US" sz="2500">
                <a:solidFill>
                  <a:srgbClr val="006DAC"/>
                </a:solidFill>
                <a:latin typeface="Proxima Nova"/>
                <a:ea typeface="Proxima Nova"/>
                <a:cs typeface="Proxima Nova"/>
                <a:sym typeface="Proxima Nova"/>
              </a:rPr>
              <a:t>US7: Basic Flight Search (L)*</a:t>
            </a:r>
          </a:p>
        </p:txBody>
      </p:sp>
      <p:grpSp>
        <p:nvGrpSpPr>
          <p:cNvPr id="5" name="Group 5"/>
          <p:cNvGrpSpPr/>
          <p:nvPr/>
        </p:nvGrpSpPr>
        <p:grpSpPr>
          <a:xfrm rot="-10800000">
            <a:off x="16991022" y="1539221"/>
            <a:ext cx="1660777" cy="1469400"/>
            <a:chOff x="0" y="0"/>
            <a:chExt cx="437406" cy="387002"/>
          </a:xfrm>
        </p:grpSpPr>
        <p:sp>
          <p:nvSpPr>
            <p:cNvPr id="6" name="Freeform 6"/>
            <p:cNvSpPr/>
            <p:nvPr/>
          </p:nvSpPr>
          <p:spPr>
            <a:xfrm>
              <a:off x="0" y="0"/>
              <a:ext cx="437406" cy="387002"/>
            </a:xfrm>
            <a:custGeom>
              <a:avLst/>
              <a:gdLst/>
              <a:ahLst/>
              <a:cxnLst/>
              <a:rect l="l" t="t" r="r" b="b"/>
              <a:pathLst>
                <a:path w="437406" h="387002">
                  <a:moveTo>
                    <a:pt x="0" y="0"/>
                  </a:moveTo>
                  <a:lnTo>
                    <a:pt x="437406" y="0"/>
                  </a:lnTo>
                  <a:lnTo>
                    <a:pt x="437406" y="387002"/>
                  </a:lnTo>
                  <a:lnTo>
                    <a:pt x="0" y="387002"/>
                  </a:lnTo>
                  <a:close/>
                </a:path>
              </a:pathLst>
            </a:custGeom>
            <a:solidFill>
              <a:srgbClr val="0CC0DF"/>
            </a:solidFill>
          </p:spPr>
        </p:sp>
        <p:sp>
          <p:nvSpPr>
            <p:cNvPr id="7" name="TextBox 7"/>
            <p:cNvSpPr txBox="1"/>
            <p:nvPr/>
          </p:nvSpPr>
          <p:spPr>
            <a:xfrm>
              <a:off x="0" y="-47625"/>
              <a:ext cx="437406" cy="434627"/>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550745" y="9621587"/>
            <a:ext cx="1660777" cy="1469400"/>
            <a:chOff x="0" y="0"/>
            <a:chExt cx="437406" cy="387002"/>
          </a:xfrm>
        </p:grpSpPr>
        <p:sp>
          <p:nvSpPr>
            <p:cNvPr id="9" name="Freeform 9"/>
            <p:cNvSpPr/>
            <p:nvPr/>
          </p:nvSpPr>
          <p:spPr>
            <a:xfrm>
              <a:off x="0" y="0"/>
              <a:ext cx="437406" cy="387002"/>
            </a:xfrm>
            <a:custGeom>
              <a:avLst/>
              <a:gdLst/>
              <a:ahLst/>
              <a:cxnLst/>
              <a:rect l="l" t="t" r="r" b="b"/>
              <a:pathLst>
                <a:path w="437406" h="387002">
                  <a:moveTo>
                    <a:pt x="0" y="0"/>
                  </a:moveTo>
                  <a:lnTo>
                    <a:pt x="437406" y="0"/>
                  </a:lnTo>
                  <a:lnTo>
                    <a:pt x="437406" y="387002"/>
                  </a:lnTo>
                  <a:lnTo>
                    <a:pt x="0" y="387002"/>
                  </a:lnTo>
                  <a:close/>
                </a:path>
              </a:pathLst>
            </a:custGeom>
            <a:solidFill>
              <a:srgbClr val="0CC0DF"/>
            </a:solidFill>
          </p:spPr>
        </p:sp>
        <p:sp>
          <p:nvSpPr>
            <p:cNvPr id="10" name="TextBox 10"/>
            <p:cNvSpPr txBox="1"/>
            <p:nvPr/>
          </p:nvSpPr>
          <p:spPr>
            <a:xfrm>
              <a:off x="0" y="-47625"/>
              <a:ext cx="437406" cy="434627"/>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rot="-10800000">
            <a:off x="16416780" y="1539221"/>
            <a:ext cx="489701" cy="1469400"/>
            <a:chOff x="0" y="0"/>
            <a:chExt cx="128975" cy="387002"/>
          </a:xfrm>
        </p:grpSpPr>
        <p:sp>
          <p:nvSpPr>
            <p:cNvPr id="12" name="Freeform 12"/>
            <p:cNvSpPr/>
            <p:nvPr/>
          </p:nvSpPr>
          <p:spPr>
            <a:xfrm>
              <a:off x="0" y="0"/>
              <a:ext cx="128975" cy="387002"/>
            </a:xfrm>
            <a:custGeom>
              <a:avLst/>
              <a:gdLst/>
              <a:ahLst/>
              <a:cxnLst/>
              <a:rect l="l" t="t" r="r" b="b"/>
              <a:pathLst>
                <a:path w="128975" h="387002">
                  <a:moveTo>
                    <a:pt x="0" y="0"/>
                  </a:moveTo>
                  <a:lnTo>
                    <a:pt x="128975" y="0"/>
                  </a:lnTo>
                  <a:lnTo>
                    <a:pt x="128975" y="387002"/>
                  </a:lnTo>
                  <a:lnTo>
                    <a:pt x="0" y="387002"/>
                  </a:lnTo>
                  <a:close/>
                </a:path>
              </a:pathLst>
            </a:custGeom>
            <a:solidFill>
              <a:srgbClr val="006DAC"/>
            </a:solidFill>
          </p:spPr>
        </p:sp>
        <p:sp>
          <p:nvSpPr>
            <p:cNvPr id="13" name="TextBox 13"/>
            <p:cNvSpPr txBox="1"/>
            <p:nvPr/>
          </p:nvSpPr>
          <p:spPr>
            <a:xfrm>
              <a:off x="0" y="-47625"/>
              <a:ext cx="128975" cy="434627"/>
            </a:xfrm>
            <a:prstGeom prst="rect">
              <a:avLst/>
            </a:prstGeom>
          </p:spPr>
          <p:txBody>
            <a:bodyPr lIns="50800" tIns="50800" rIns="50800" bIns="50800" rtlCol="0" anchor="ctr"/>
            <a:lstStyle/>
            <a:p>
              <a:pPr algn="ctr">
                <a:lnSpc>
                  <a:spcPts val="2659"/>
                </a:lnSpc>
                <a:spcBef>
                  <a:spcPct val="0"/>
                </a:spcBef>
              </a:pPr>
              <a:endParaRPr/>
            </a:p>
          </p:txBody>
        </p:sp>
      </p:grpSp>
      <p:grpSp>
        <p:nvGrpSpPr>
          <p:cNvPr id="14" name="Group 14"/>
          <p:cNvGrpSpPr/>
          <p:nvPr/>
        </p:nvGrpSpPr>
        <p:grpSpPr>
          <a:xfrm>
            <a:off x="3296063" y="9621587"/>
            <a:ext cx="489701" cy="1469400"/>
            <a:chOff x="0" y="0"/>
            <a:chExt cx="128975" cy="387002"/>
          </a:xfrm>
        </p:grpSpPr>
        <p:sp>
          <p:nvSpPr>
            <p:cNvPr id="15" name="Freeform 15"/>
            <p:cNvSpPr/>
            <p:nvPr/>
          </p:nvSpPr>
          <p:spPr>
            <a:xfrm>
              <a:off x="0" y="0"/>
              <a:ext cx="128975" cy="387002"/>
            </a:xfrm>
            <a:custGeom>
              <a:avLst/>
              <a:gdLst/>
              <a:ahLst/>
              <a:cxnLst/>
              <a:rect l="l" t="t" r="r" b="b"/>
              <a:pathLst>
                <a:path w="128975" h="387002">
                  <a:moveTo>
                    <a:pt x="0" y="0"/>
                  </a:moveTo>
                  <a:lnTo>
                    <a:pt x="128975" y="0"/>
                  </a:lnTo>
                  <a:lnTo>
                    <a:pt x="128975" y="387002"/>
                  </a:lnTo>
                  <a:lnTo>
                    <a:pt x="0" y="387002"/>
                  </a:lnTo>
                  <a:close/>
                </a:path>
              </a:pathLst>
            </a:custGeom>
            <a:solidFill>
              <a:srgbClr val="006DAC"/>
            </a:solidFill>
          </p:spPr>
        </p:sp>
        <p:sp>
          <p:nvSpPr>
            <p:cNvPr id="16" name="TextBox 16"/>
            <p:cNvSpPr txBox="1"/>
            <p:nvPr/>
          </p:nvSpPr>
          <p:spPr>
            <a:xfrm>
              <a:off x="0" y="-47625"/>
              <a:ext cx="128975" cy="434627"/>
            </a:xfrm>
            <a:prstGeom prst="rect">
              <a:avLst/>
            </a:prstGeom>
          </p:spPr>
          <p:txBody>
            <a:bodyPr lIns="50800" tIns="50800" rIns="50800" bIns="50800" rtlCol="0" anchor="ctr"/>
            <a:lstStyle/>
            <a:p>
              <a:pPr algn="ctr">
                <a:lnSpc>
                  <a:spcPts val="2659"/>
                </a:lnSpc>
                <a:spcBef>
                  <a:spcPct val="0"/>
                </a:spcBef>
              </a:pPr>
              <a:endParaRPr/>
            </a:p>
          </p:txBody>
        </p:sp>
      </p:grpSp>
      <p:sp>
        <p:nvSpPr>
          <p:cNvPr id="17" name="TextBox 17"/>
          <p:cNvSpPr txBox="1"/>
          <p:nvPr/>
        </p:nvSpPr>
        <p:spPr>
          <a:xfrm>
            <a:off x="830677" y="6086483"/>
            <a:ext cx="6192900" cy="2184399"/>
          </a:xfrm>
          <a:prstGeom prst="rect">
            <a:avLst/>
          </a:prstGeom>
        </p:spPr>
        <p:txBody>
          <a:bodyPr lIns="0" tIns="0" rIns="0" bIns="0" rtlCol="0" anchor="t">
            <a:spAutoFit/>
          </a:bodyPr>
          <a:lstStyle/>
          <a:p>
            <a:pPr algn="l">
              <a:lnSpc>
                <a:spcPts val="3500"/>
              </a:lnSpc>
            </a:pPr>
            <a:r>
              <a:rPr lang="en-US" sz="2500" b="1">
                <a:solidFill>
                  <a:srgbClr val="006DAC"/>
                </a:solidFill>
                <a:latin typeface="Proxima Nova Bold"/>
                <a:ea typeface="Proxima Nova Bold"/>
                <a:cs typeface="Proxima Nova Bold"/>
                <a:sym typeface="Proxima Nova Bold"/>
              </a:rPr>
              <a:t>Sprint 2</a:t>
            </a:r>
          </a:p>
          <a:p>
            <a:pPr marL="539754" lvl="1" indent="-269877" algn="l">
              <a:lnSpc>
                <a:spcPts val="3500"/>
              </a:lnSpc>
              <a:buFont typeface="Arial"/>
              <a:buChar char="•"/>
            </a:pPr>
            <a:r>
              <a:rPr lang="en-US" sz="2500">
                <a:solidFill>
                  <a:srgbClr val="006DAC"/>
                </a:solidFill>
                <a:latin typeface="Proxima Nova"/>
                <a:ea typeface="Proxima Nova"/>
                <a:cs typeface="Proxima Nova"/>
                <a:sym typeface="Proxima Nova"/>
              </a:rPr>
              <a:t>US6: “Inspire Me” Destination Suggestions (XL)</a:t>
            </a:r>
          </a:p>
          <a:p>
            <a:pPr marL="539754" lvl="1" indent="-269877" algn="l">
              <a:lnSpc>
                <a:spcPts val="3500"/>
              </a:lnSpc>
              <a:buFont typeface="Arial"/>
              <a:buChar char="•"/>
            </a:pPr>
            <a:r>
              <a:rPr lang="en-US" sz="2500">
                <a:solidFill>
                  <a:srgbClr val="006DAC"/>
                </a:solidFill>
                <a:latin typeface="Proxima Nova"/>
                <a:ea typeface="Proxima Nova"/>
                <a:cs typeface="Proxima Nova"/>
                <a:sym typeface="Proxima Nova"/>
              </a:rPr>
              <a:t>US7: Basic Flight Search (L)</a:t>
            </a:r>
          </a:p>
          <a:p>
            <a:pPr marL="539754" lvl="1" indent="-269877" algn="l">
              <a:lnSpc>
                <a:spcPts val="3500"/>
              </a:lnSpc>
              <a:buFont typeface="Arial"/>
              <a:buChar char="•"/>
            </a:pPr>
            <a:r>
              <a:rPr lang="en-US" sz="2500">
                <a:solidFill>
                  <a:srgbClr val="006DAC"/>
                </a:solidFill>
                <a:latin typeface="Proxima Nova"/>
                <a:ea typeface="Proxima Nova"/>
                <a:cs typeface="Proxima Nova"/>
                <a:sym typeface="Proxima Nova"/>
              </a:rPr>
              <a:t>US8: Filter and Sort Flight Results (S)</a:t>
            </a:r>
          </a:p>
        </p:txBody>
      </p:sp>
      <p:sp>
        <p:nvSpPr>
          <p:cNvPr id="18" name="TextBox 18"/>
          <p:cNvSpPr txBox="1"/>
          <p:nvPr/>
        </p:nvSpPr>
        <p:spPr>
          <a:xfrm>
            <a:off x="9484704" y="3116546"/>
            <a:ext cx="6192900" cy="1298574"/>
          </a:xfrm>
          <a:prstGeom prst="rect">
            <a:avLst/>
          </a:prstGeom>
        </p:spPr>
        <p:txBody>
          <a:bodyPr lIns="0" tIns="0" rIns="0" bIns="0" rtlCol="0" anchor="t">
            <a:spAutoFit/>
          </a:bodyPr>
          <a:lstStyle/>
          <a:p>
            <a:pPr algn="l">
              <a:lnSpc>
                <a:spcPts val="3500"/>
              </a:lnSpc>
            </a:pPr>
            <a:r>
              <a:rPr lang="en-US" sz="2500" b="1">
                <a:solidFill>
                  <a:srgbClr val="006DAC"/>
                </a:solidFill>
                <a:latin typeface="Proxima Nova Bold"/>
                <a:ea typeface="Proxima Nova Bold"/>
                <a:cs typeface="Proxima Nova Bold"/>
                <a:sym typeface="Proxima Nova Bold"/>
              </a:rPr>
              <a:t>Sprint 3</a:t>
            </a:r>
          </a:p>
          <a:p>
            <a:pPr marL="539754" lvl="1" indent="-269877" algn="l">
              <a:lnSpc>
                <a:spcPts val="3500"/>
              </a:lnSpc>
              <a:buFont typeface="Arial"/>
              <a:buChar char="•"/>
            </a:pPr>
            <a:r>
              <a:rPr lang="en-US" sz="2500">
                <a:solidFill>
                  <a:srgbClr val="006DAC"/>
                </a:solidFill>
                <a:latin typeface="Proxima Nova"/>
                <a:ea typeface="Proxima Nova"/>
                <a:cs typeface="Proxima Nova"/>
                <a:sym typeface="Proxima Nova"/>
              </a:rPr>
              <a:t>US1: New User Registration and Login (L)</a:t>
            </a:r>
          </a:p>
          <a:p>
            <a:pPr marL="539754" lvl="1" indent="-269877" algn="l">
              <a:lnSpc>
                <a:spcPts val="3500"/>
              </a:lnSpc>
              <a:buFont typeface="Arial"/>
              <a:buChar char="•"/>
            </a:pPr>
            <a:r>
              <a:rPr lang="en-US" sz="2500">
                <a:solidFill>
                  <a:srgbClr val="006DAC"/>
                </a:solidFill>
                <a:latin typeface="Proxima Nova"/>
                <a:ea typeface="Proxima Nova"/>
                <a:cs typeface="Proxima Nova"/>
                <a:sym typeface="Proxima Nova"/>
              </a:rPr>
              <a:t>US3: User Trip Dashboard</a:t>
            </a:r>
          </a:p>
        </p:txBody>
      </p:sp>
      <p:sp>
        <p:nvSpPr>
          <p:cNvPr id="19" name="TextBox 19"/>
          <p:cNvSpPr txBox="1"/>
          <p:nvPr/>
        </p:nvSpPr>
        <p:spPr>
          <a:xfrm>
            <a:off x="9484704" y="6086483"/>
            <a:ext cx="6192900" cy="869949"/>
          </a:xfrm>
          <a:prstGeom prst="rect">
            <a:avLst/>
          </a:prstGeom>
        </p:spPr>
        <p:txBody>
          <a:bodyPr lIns="0" tIns="0" rIns="0" bIns="0" rtlCol="0" anchor="t">
            <a:spAutoFit/>
          </a:bodyPr>
          <a:lstStyle/>
          <a:p>
            <a:pPr algn="l">
              <a:lnSpc>
                <a:spcPts val="3500"/>
              </a:lnSpc>
            </a:pPr>
            <a:r>
              <a:rPr lang="en-US" sz="2500" b="1">
                <a:solidFill>
                  <a:srgbClr val="006DAC"/>
                </a:solidFill>
                <a:latin typeface="Proxima Nova Bold"/>
                <a:ea typeface="Proxima Nova Bold"/>
                <a:cs typeface="Proxima Nova Bold"/>
                <a:sym typeface="Proxima Nova Bold"/>
              </a:rPr>
              <a:t>Sprint 4</a:t>
            </a:r>
          </a:p>
          <a:p>
            <a:pPr marL="539754" lvl="1" indent="-269877" algn="l">
              <a:lnSpc>
                <a:spcPts val="3500"/>
              </a:lnSpc>
              <a:buFont typeface="Arial"/>
              <a:buChar char="•"/>
            </a:pPr>
            <a:r>
              <a:rPr lang="en-US" sz="2500">
                <a:solidFill>
                  <a:srgbClr val="006DAC"/>
                </a:solidFill>
                <a:latin typeface="Proxima Nova"/>
                <a:ea typeface="Proxima Nova"/>
                <a:cs typeface="Proxima Nova"/>
                <a:sym typeface="Proxima Nova"/>
              </a:rPr>
              <a:t>US9 Flight Status Notification (M)</a:t>
            </a:r>
          </a:p>
        </p:txBody>
      </p:sp>
      <p:sp>
        <p:nvSpPr>
          <p:cNvPr id="20" name="TextBox 20"/>
          <p:cNvSpPr txBox="1"/>
          <p:nvPr/>
        </p:nvSpPr>
        <p:spPr>
          <a:xfrm>
            <a:off x="198311" y="220550"/>
            <a:ext cx="7474008" cy="321267"/>
          </a:xfrm>
          <a:prstGeom prst="rect">
            <a:avLst/>
          </a:prstGeom>
        </p:spPr>
        <p:txBody>
          <a:bodyPr lIns="0" tIns="0" rIns="0" bIns="0" rtlCol="0" anchor="t">
            <a:spAutoFit/>
          </a:bodyPr>
          <a:lstStyle/>
          <a:p>
            <a:pPr algn="l">
              <a:lnSpc>
                <a:spcPts val="2482"/>
              </a:lnSpc>
            </a:pPr>
            <a:r>
              <a:rPr lang="en-US" sz="2364" b="1">
                <a:solidFill>
                  <a:srgbClr val="006DAC"/>
                </a:solidFill>
                <a:latin typeface="Proxima Nova Bold"/>
                <a:ea typeface="Proxima Nova Bold"/>
                <a:cs typeface="Proxima Nova Bold"/>
                <a:sym typeface="Proxima Nova Bold"/>
              </a:rPr>
              <a:t>Presented by → José Moreira</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3AFCA"/>
        </a:solidFill>
        <a:effectLst/>
      </p:bgPr>
    </p:bg>
    <p:spTree>
      <p:nvGrpSpPr>
        <p:cNvPr id="1" name=""/>
        <p:cNvGrpSpPr/>
        <p:nvPr/>
      </p:nvGrpSpPr>
      <p:grpSpPr>
        <a:xfrm>
          <a:off x="0" y="0"/>
          <a:ext cx="0" cy="0"/>
          <a:chOff x="0" y="0"/>
          <a:chExt cx="0" cy="0"/>
        </a:xfrm>
      </p:grpSpPr>
      <p:sp>
        <p:nvSpPr>
          <p:cNvPr id="2" name="TextBox 2"/>
          <p:cNvSpPr txBox="1"/>
          <p:nvPr/>
        </p:nvSpPr>
        <p:spPr>
          <a:xfrm>
            <a:off x="6741126" y="4632643"/>
            <a:ext cx="4805748" cy="1002665"/>
          </a:xfrm>
          <a:prstGeom prst="rect">
            <a:avLst/>
          </a:prstGeom>
        </p:spPr>
        <p:txBody>
          <a:bodyPr lIns="0" tIns="0" rIns="0" bIns="0" rtlCol="0" anchor="t">
            <a:spAutoFit/>
          </a:bodyPr>
          <a:lstStyle/>
          <a:p>
            <a:pPr algn="l">
              <a:lnSpc>
                <a:spcPts val="7930"/>
              </a:lnSpc>
              <a:spcBef>
                <a:spcPct val="0"/>
              </a:spcBef>
            </a:pPr>
            <a:r>
              <a:rPr lang="en-US" sz="6500" b="1">
                <a:solidFill>
                  <a:srgbClr val="FFFFFF"/>
                </a:solidFill>
                <a:latin typeface="Proxima Nova Heavy"/>
                <a:ea typeface="Proxima Nova Heavy"/>
                <a:cs typeface="Proxima Nova Heavy"/>
                <a:sym typeface="Proxima Nova Heavy"/>
              </a:rPr>
              <a:t>5. METRICS</a:t>
            </a:r>
          </a:p>
        </p:txBody>
      </p:sp>
      <p:sp>
        <p:nvSpPr>
          <p:cNvPr id="3" name="Freeform 3"/>
          <p:cNvSpPr/>
          <p:nvPr/>
        </p:nvSpPr>
        <p:spPr>
          <a:xfrm>
            <a:off x="-753219" y="6663269"/>
            <a:ext cx="16347068" cy="1328199"/>
          </a:xfrm>
          <a:custGeom>
            <a:avLst/>
            <a:gdLst/>
            <a:ahLst/>
            <a:cxnLst/>
            <a:rect l="l" t="t" r="r" b="b"/>
            <a:pathLst>
              <a:path w="16347068" h="1328199">
                <a:moveTo>
                  <a:pt x="0" y="0"/>
                </a:moveTo>
                <a:lnTo>
                  <a:pt x="16347068" y="0"/>
                </a:lnTo>
                <a:lnTo>
                  <a:pt x="16347068" y="1328199"/>
                </a:lnTo>
                <a:lnTo>
                  <a:pt x="0" y="132819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rot="-10800000">
            <a:off x="3708004" y="1928403"/>
            <a:ext cx="16347068" cy="1328199"/>
          </a:xfrm>
          <a:custGeom>
            <a:avLst/>
            <a:gdLst/>
            <a:ahLst/>
            <a:cxnLst/>
            <a:rect l="l" t="t" r="r" b="b"/>
            <a:pathLst>
              <a:path w="16347068" h="1328199">
                <a:moveTo>
                  <a:pt x="0" y="0"/>
                </a:moveTo>
                <a:lnTo>
                  <a:pt x="16347068" y="0"/>
                </a:lnTo>
                <a:lnTo>
                  <a:pt x="16347068" y="1328199"/>
                </a:lnTo>
                <a:lnTo>
                  <a:pt x="0" y="132819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Tree>
  </p:cSld>
  <p:clrMapOvr>
    <a:masterClrMapping/>
  </p:clrMapOvr>
  <p:transition spd="slow">
    <p:push/>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950717">
            <a:off x="9044024" y="-2530332"/>
            <a:ext cx="7019752" cy="2462111"/>
          </a:xfrm>
          <a:custGeom>
            <a:avLst/>
            <a:gdLst/>
            <a:ahLst/>
            <a:cxnLst/>
            <a:rect l="l" t="t" r="r" b="b"/>
            <a:pathLst>
              <a:path w="7019752" h="2462111">
                <a:moveTo>
                  <a:pt x="0" y="0"/>
                </a:moveTo>
                <a:lnTo>
                  <a:pt x="7019751" y="0"/>
                </a:lnTo>
                <a:lnTo>
                  <a:pt x="7019751" y="2462110"/>
                </a:lnTo>
                <a:lnTo>
                  <a:pt x="0" y="246211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4257759" y="1572251"/>
            <a:ext cx="12110257" cy="1002665"/>
          </a:xfrm>
          <a:prstGeom prst="rect">
            <a:avLst/>
          </a:prstGeom>
        </p:spPr>
        <p:txBody>
          <a:bodyPr lIns="0" tIns="0" rIns="0" bIns="0" rtlCol="0" anchor="t">
            <a:spAutoFit/>
          </a:bodyPr>
          <a:lstStyle/>
          <a:p>
            <a:pPr marL="0" lvl="0" indent="0" algn="l">
              <a:lnSpc>
                <a:spcPts val="7930"/>
              </a:lnSpc>
              <a:spcBef>
                <a:spcPct val="0"/>
              </a:spcBef>
            </a:pPr>
            <a:r>
              <a:rPr lang="en-US" sz="6500" b="1">
                <a:solidFill>
                  <a:srgbClr val="006DAC"/>
                </a:solidFill>
                <a:latin typeface="Proxima Nova Heavy"/>
                <a:ea typeface="Proxima Nova Heavy"/>
                <a:cs typeface="Proxima Nova Heavy"/>
                <a:sym typeface="Proxima Nova Heavy"/>
              </a:rPr>
              <a:t>METRICS</a:t>
            </a:r>
          </a:p>
        </p:txBody>
      </p:sp>
      <p:sp>
        <p:nvSpPr>
          <p:cNvPr id="4" name="TextBox 4"/>
          <p:cNvSpPr txBox="1"/>
          <p:nvPr/>
        </p:nvSpPr>
        <p:spPr>
          <a:xfrm>
            <a:off x="1161235" y="3510845"/>
            <a:ext cx="4697281" cy="927710"/>
          </a:xfrm>
          <a:prstGeom prst="rect">
            <a:avLst/>
          </a:prstGeom>
        </p:spPr>
        <p:txBody>
          <a:bodyPr lIns="0" tIns="0" rIns="0" bIns="0" rtlCol="0" anchor="t">
            <a:spAutoFit/>
          </a:bodyPr>
          <a:lstStyle/>
          <a:p>
            <a:pPr marL="0" lvl="0" indent="0" algn="ctr">
              <a:lnSpc>
                <a:spcPts val="7332"/>
              </a:lnSpc>
              <a:spcBef>
                <a:spcPct val="0"/>
              </a:spcBef>
            </a:pPr>
            <a:r>
              <a:rPr lang="en-US" sz="6009" b="1" spc="42">
                <a:solidFill>
                  <a:srgbClr val="006DAC"/>
                </a:solidFill>
                <a:latin typeface="Proxima Nova Heavy"/>
                <a:ea typeface="Proxima Nova Heavy"/>
                <a:cs typeface="Proxima Nova Heavy"/>
                <a:sym typeface="Proxima Nova Heavy"/>
              </a:rPr>
              <a:t>PLANNED</a:t>
            </a:r>
          </a:p>
        </p:txBody>
      </p:sp>
      <p:grpSp>
        <p:nvGrpSpPr>
          <p:cNvPr id="5" name="Group 5"/>
          <p:cNvGrpSpPr/>
          <p:nvPr/>
        </p:nvGrpSpPr>
        <p:grpSpPr>
          <a:xfrm>
            <a:off x="14622698" y="9621587"/>
            <a:ext cx="1660777" cy="1469400"/>
            <a:chOff x="0" y="0"/>
            <a:chExt cx="437406" cy="387002"/>
          </a:xfrm>
        </p:grpSpPr>
        <p:sp>
          <p:nvSpPr>
            <p:cNvPr id="6" name="Freeform 6"/>
            <p:cNvSpPr/>
            <p:nvPr/>
          </p:nvSpPr>
          <p:spPr>
            <a:xfrm>
              <a:off x="0" y="0"/>
              <a:ext cx="437406" cy="387002"/>
            </a:xfrm>
            <a:custGeom>
              <a:avLst/>
              <a:gdLst/>
              <a:ahLst/>
              <a:cxnLst/>
              <a:rect l="l" t="t" r="r" b="b"/>
              <a:pathLst>
                <a:path w="437406" h="387002">
                  <a:moveTo>
                    <a:pt x="0" y="0"/>
                  </a:moveTo>
                  <a:lnTo>
                    <a:pt x="437406" y="0"/>
                  </a:lnTo>
                  <a:lnTo>
                    <a:pt x="437406" y="387002"/>
                  </a:lnTo>
                  <a:lnTo>
                    <a:pt x="0" y="387002"/>
                  </a:lnTo>
                  <a:close/>
                </a:path>
              </a:pathLst>
            </a:custGeom>
            <a:solidFill>
              <a:srgbClr val="0CC0DF"/>
            </a:solidFill>
          </p:spPr>
        </p:sp>
        <p:sp>
          <p:nvSpPr>
            <p:cNvPr id="7" name="TextBox 7"/>
            <p:cNvSpPr txBox="1"/>
            <p:nvPr/>
          </p:nvSpPr>
          <p:spPr>
            <a:xfrm>
              <a:off x="0" y="-47625"/>
              <a:ext cx="437406" cy="434627"/>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6368016" y="9621587"/>
            <a:ext cx="489701" cy="1469400"/>
            <a:chOff x="0" y="0"/>
            <a:chExt cx="128975" cy="387002"/>
          </a:xfrm>
        </p:grpSpPr>
        <p:sp>
          <p:nvSpPr>
            <p:cNvPr id="9" name="Freeform 9"/>
            <p:cNvSpPr/>
            <p:nvPr/>
          </p:nvSpPr>
          <p:spPr>
            <a:xfrm>
              <a:off x="0" y="0"/>
              <a:ext cx="128975" cy="387002"/>
            </a:xfrm>
            <a:custGeom>
              <a:avLst/>
              <a:gdLst/>
              <a:ahLst/>
              <a:cxnLst/>
              <a:rect l="l" t="t" r="r" b="b"/>
              <a:pathLst>
                <a:path w="128975" h="387002">
                  <a:moveTo>
                    <a:pt x="0" y="0"/>
                  </a:moveTo>
                  <a:lnTo>
                    <a:pt x="128975" y="0"/>
                  </a:lnTo>
                  <a:lnTo>
                    <a:pt x="128975" y="387002"/>
                  </a:lnTo>
                  <a:lnTo>
                    <a:pt x="0" y="387002"/>
                  </a:lnTo>
                  <a:close/>
                </a:path>
              </a:pathLst>
            </a:custGeom>
            <a:solidFill>
              <a:srgbClr val="006DAC"/>
            </a:solidFill>
          </p:spPr>
        </p:sp>
        <p:sp>
          <p:nvSpPr>
            <p:cNvPr id="10" name="TextBox 10"/>
            <p:cNvSpPr txBox="1"/>
            <p:nvPr/>
          </p:nvSpPr>
          <p:spPr>
            <a:xfrm>
              <a:off x="0" y="-47625"/>
              <a:ext cx="128975" cy="434627"/>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198311" y="220550"/>
            <a:ext cx="7474008" cy="321267"/>
          </a:xfrm>
          <a:prstGeom prst="rect">
            <a:avLst/>
          </a:prstGeom>
        </p:spPr>
        <p:txBody>
          <a:bodyPr lIns="0" tIns="0" rIns="0" bIns="0" rtlCol="0" anchor="t">
            <a:spAutoFit/>
          </a:bodyPr>
          <a:lstStyle/>
          <a:p>
            <a:pPr algn="l">
              <a:lnSpc>
                <a:spcPts val="2482"/>
              </a:lnSpc>
            </a:pPr>
            <a:r>
              <a:rPr lang="en-US" sz="2364" b="1">
                <a:solidFill>
                  <a:srgbClr val="006DAC"/>
                </a:solidFill>
                <a:latin typeface="Proxima Nova Bold"/>
                <a:ea typeface="Proxima Nova Bold"/>
                <a:cs typeface="Proxima Nova Bold"/>
                <a:sym typeface="Proxima Nova Bold"/>
              </a:rPr>
              <a:t>Presented by → José Moreira</a:t>
            </a:r>
          </a:p>
        </p:txBody>
      </p:sp>
      <p:sp>
        <p:nvSpPr>
          <p:cNvPr id="12" name="TextBox 12"/>
          <p:cNvSpPr txBox="1"/>
          <p:nvPr/>
        </p:nvSpPr>
        <p:spPr>
          <a:xfrm>
            <a:off x="1028700" y="5076825"/>
            <a:ext cx="8833468" cy="4364483"/>
          </a:xfrm>
          <a:prstGeom prst="rect">
            <a:avLst/>
          </a:prstGeom>
        </p:spPr>
        <p:txBody>
          <a:bodyPr lIns="0" tIns="0" rIns="0" bIns="0" rtlCol="0" anchor="t">
            <a:spAutoFit/>
          </a:bodyPr>
          <a:lstStyle/>
          <a:p>
            <a:pPr marL="769898" lvl="1" indent="-384949" algn="l">
              <a:lnSpc>
                <a:spcPts val="4992"/>
              </a:lnSpc>
              <a:buFont typeface="Arial"/>
              <a:buChar char="•"/>
            </a:pPr>
            <a:r>
              <a:rPr lang="en-US" sz="3565">
                <a:solidFill>
                  <a:srgbClr val="006DAC"/>
                </a:solidFill>
                <a:latin typeface="Proxima Nova"/>
                <a:ea typeface="Proxima Nova"/>
                <a:cs typeface="Proxima Nova"/>
                <a:sym typeface="Proxima Nova"/>
              </a:rPr>
              <a:t>User Stories : 9</a:t>
            </a:r>
          </a:p>
          <a:p>
            <a:pPr marL="769898" lvl="1" indent="-384949" algn="l">
              <a:lnSpc>
                <a:spcPts val="4992"/>
              </a:lnSpc>
              <a:buFont typeface="Arial"/>
              <a:buChar char="•"/>
            </a:pPr>
            <a:r>
              <a:rPr lang="en-US" sz="3565">
                <a:solidFill>
                  <a:srgbClr val="006DAC"/>
                </a:solidFill>
                <a:latin typeface="Proxima Nova"/>
                <a:ea typeface="Proxima Nova"/>
                <a:cs typeface="Proxima Nova"/>
                <a:sym typeface="Proxima Nova"/>
              </a:rPr>
              <a:t>Time effort</a:t>
            </a:r>
          </a:p>
          <a:p>
            <a:pPr marL="1539796" lvl="2" indent="-513265" algn="l">
              <a:lnSpc>
                <a:spcPts val="4992"/>
              </a:lnSpc>
              <a:buFont typeface="Arial"/>
              <a:buChar char="⚬"/>
            </a:pPr>
            <a:r>
              <a:rPr lang="en-US" sz="3565">
                <a:solidFill>
                  <a:srgbClr val="006DAC"/>
                </a:solidFill>
                <a:latin typeface="Proxima Nova"/>
                <a:ea typeface="Proxima Nova"/>
                <a:cs typeface="Proxima Nova"/>
                <a:sym typeface="Proxima Nova"/>
              </a:rPr>
              <a:t>Product Owner: 16h</a:t>
            </a:r>
          </a:p>
          <a:p>
            <a:pPr marL="1539796" lvl="2" indent="-513265" algn="l">
              <a:lnSpc>
                <a:spcPts val="4992"/>
              </a:lnSpc>
              <a:buFont typeface="Arial"/>
              <a:buChar char="⚬"/>
            </a:pPr>
            <a:r>
              <a:rPr lang="en-US" sz="3565">
                <a:solidFill>
                  <a:srgbClr val="006DAC"/>
                </a:solidFill>
                <a:latin typeface="Proxima Nova"/>
                <a:ea typeface="Proxima Nova"/>
                <a:cs typeface="Proxima Nova"/>
                <a:sym typeface="Proxima Nova"/>
              </a:rPr>
              <a:t>Scrum Master: 12h</a:t>
            </a:r>
          </a:p>
          <a:p>
            <a:pPr marL="1539796" lvl="2" indent="-513265" algn="l">
              <a:lnSpc>
                <a:spcPts val="4992"/>
              </a:lnSpc>
              <a:buFont typeface="Arial"/>
              <a:buChar char="⚬"/>
            </a:pPr>
            <a:r>
              <a:rPr lang="en-US" sz="3565">
                <a:solidFill>
                  <a:srgbClr val="006DAC"/>
                </a:solidFill>
                <a:latin typeface="Proxima Nova"/>
                <a:ea typeface="Proxima Nova"/>
                <a:cs typeface="Proxima Nova"/>
                <a:sym typeface="Proxima Nova"/>
              </a:rPr>
              <a:t>QA Engineer: 14h</a:t>
            </a:r>
          </a:p>
          <a:p>
            <a:pPr marL="1539796" lvl="2" indent="-513265" algn="l">
              <a:lnSpc>
                <a:spcPts val="4992"/>
              </a:lnSpc>
              <a:buFont typeface="Arial"/>
              <a:buChar char="⚬"/>
            </a:pPr>
            <a:r>
              <a:rPr lang="en-US" sz="3565">
                <a:solidFill>
                  <a:srgbClr val="006DAC"/>
                </a:solidFill>
                <a:latin typeface="Proxima Nova"/>
                <a:ea typeface="Proxima Nova"/>
                <a:cs typeface="Proxima Nova"/>
                <a:sym typeface="Proxima Nova"/>
              </a:rPr>
              <a:t>Team: 120</a:t>
            </a:r>
          </a:p>
          <a:p>
            <a:pPr marL="769898" lvl="1" indent="-384949" algn="l">
              <a:lnSpc>
                <a:spcPts val="4992"/>
              </a:lnSpc>
              <a:buFont typeface="Arial"/>
              <a:buChar char="•"/>
            </a:pPr>
            <a:endParaRPr lang="en-US" sz="3565">
              <a:solidFill>
                <a:srgbClr val="006DAC"/>
              </a:solidFill>
              <a:latin typeface="Proxima Nova"/>
              <a:ea typeface="Proxima Nova"/>
              <a:cs typeface="Proxima Nova"/>
              <a:sym typeface="Proxima Nova"/>
            </a:endParaRPr>
          </a:p>
        </p:txBody>
      </p:sp>
      <p:sp>
        <p:nvSpPr>
          <p:cNvPr id="13" name="TextBox 13"/>
          <p:cNvSpPr txBox="1"/>
          <p:nvPr/>
        </p:nvSpPr>
        <p:spPr>
          <a:xfrm>
            <a:off x="10061362" y="5076825"/>
            <a:ext cx="9122672" cy="3747897"/>
          </a:xfrm>
          <a:prstGeom prst="rect">
            <a:avLst/>
          </a:prstGeom>
        </p:spPr>
        <p:txBody>
          <a:bodyPr lIns="0" tIns="0" rIns="0" bIns="0" rtlCol="0" anchor="t">
            <a:spAutoFit/>
          </a:bodyPr>
          <a:lstStyle/>
          <a:p>
            <a:pPr marL="770763" lvl="1" indent="-385382" algn="l">
              <a:lnSpc>
                <a:spcPts val="4998"/>
              </a:lnSpc>
              <a:buFont typeface="Arial"/>
              <a:buChar char="•"/>
            </a:pPr>
            <a:r>
              <a:rPr lang="en-US" sz="3570">
                <a:solidFill>
                  <a:srgbClr val="006DAC"/>
                </a:solidFill>
                <a:latin typeface="Proxima Nova"/>
                <a:ea typeface="Proxima Nova"/>
                <a:cs typeface="Proxima Nova"/>
                <a:sym typeface="Proxima Nova"/>
              </a:rPr>
              <a:t>User Stories : 8</a:t>
            </a:r>
          </a:p>
          <a:p>
            <a:pPr marL="770763" lvl="1" indent="-385382" algn="l">
              <a:lnSpc>
                <a:spcPts val="4998"/>
              </a:lnSpc>
              <a:buFont typeface="Arial"/>
              <a:buChar char="•"/>
            </a:pPr>
            <a:r>
              <a:rPr lang="en-US" sz="3570">
                <a:solidFill>
                  <a:srgbClr val="006DAC"/>
                </a:solidFill>
                <a:latin typeface="Proxima Nova"/>
                <a:ea typeface="Proxima Nova"/>
                <a:cs typeface="Proxima Nova"/>
                <a:sym typeface="Proxima Nova"/>
              </a:rPr>
              <a:t>Time effort</a:t>
            </a:r>
          </a:p>
          <a:p>
            <a:pPr marL="1541526" lvl="2" indent="-513842" algn="l">
              <a:lnSpc>
                <a:spcPts val="4998"/>
              </a:lnSpc>
              <a:buFont typeface="Arial"/>
              <a:buChar char="⚬"/>
            </a:pPr>
            <a:r>
              <a:rPr lang="en-US" sz="3570">
                <a:solidFill>
                  <a:srgbClr val="006DAC"/>
                </a:solidFill>
                <a:latin typeface="Proxima Nova"/>
                <a:ea typeface="Proxima Nova"/>
                <a:cs typeface="Proxima Nova"/>
                <a:sym typeface="Proxima Nova"/>
              </a:rPr>
              <a:t>Product Owner: 13h</a:t>
            </a:r>
          </a:p>
          <a:p>
            <a:pPr marL="1541526" lvl="2" indent="-513842" algn="l">
              <a:lnSpc>
                <a:spcPts val="4998"/>
              </a:lnSpc>
              <a:buFont typeface="Arial"/>
              <a:buChar char="⚬"/>
            </a:pPr>
            <a:r>
              <a:rPr lang="en-US" sz="3570">
                <a:solidFill>
                  <a:srgbClr val="006DAC"/>
                </a:solidFill>
                <a:latin typeface="Proxima Nova"/>
                <a:ea typeface="Proxima Nova"/>
                <a:cs typeface="Proxima Nova"/>
                <a:sym typeface="Proxima Nova"/>
              </a:rPr>
              <a:t>Scrum Master: 13h</a:t>
            </a:r>
          </a:p>
          <a:p>
            <a:pPr marL="1541526" lvl="2" indent="-513842" algn="l">
              <a:lnSpc>
                <a:spcPts val="4998"/>
              </a:lnSpc>
              <a:buFont typeface="Arial"/>
              <a:buChar char="⚬"/>
            </a:pPr>
            <a:r>
              <a:rPr lang="en-US" sz="3570">
                <a:solidFill>
                  <a:srgbClr val="006DAC"/>
                </a:solidFill>
                <a:latin typeface="Proxima Nova"/>
                <a:ea typeface="Proxima Nova"/>
                <a:cs typeface="Proxima Nova"/>
                <a:sym typeface="Proxima Nova"/>
              </a:rPr>
              <a:t>QA Engineer: 18h</a:t>
            </a:r>
          </a:p>
          <a:p>
            <a:pPr marL="1541526" lvl="2" indent="-513842" algn="l">
              <a:lnSpc>
                <a:spcPts val="4998"/>
              </a:lnSpc>
              <a:buFont typeface="Arial"/>
              <a:buChar char="⚬"/>
            </a:pPr>
            <a:r>
              <a:rPr lang="en-US" sz="3570">
                <a:solidFill>
                  <a:srgbClr val="006DAC"/>
                </a:solidFill>
                <a:latin typeface="Proxima Nova"/>
                <a:ea typeface="Proxima Nova"/>
                <a:cs typeface="Proxima Nova"/>
                <a:sym typeface="Proxima Nova"/>
              </a:rPr>
              <a:t>Team: 160</a:t>
            </a:r>
          </a:p>
        </p:txBody>
      </p:sp>
      <p:sp>
        <p:nvSpPr>
          <p:cNvPr id="14" name="TextBox 14"/>
          <p:cNvSpPr txBox="1"/>
          <p:nvPr/>
        </p:nvSpPr>
        <p:spPr>
          <a:xfrm>
            <a:off x="10312887" y="3510845"/>
            <a:ext cx="4697281" cy="927710"/>
          </a:xfrm>
          <a:prstGeom prst="rect">
            <a:avLst/>
          </a:prstGeom>
        </p:spPr>
        <p:txBody>
          <a:bodyPr lIns="0" tIns="0" rIns="0" bIns="0" rtlCol="0" anchor="t">
            <a:spAutoFit/>
          </a:bodyPr>
          <a:lstStyle/>
          <a:p>
            <a:pPr marL="0" lvl="0" indent="0" algn="ctr">
              <a:lnSpc>
                <a:spcPts val="7332"/>
              </a:lnSpc>
              <a:spcBef>
                <a:spcPct val="0"/>
              </a:spcBef>
            </a:pPr>
            <a:r>
              <a:rPr lang="en-US" sz="6009" b="1" spc="42">
                <a:solidFill>
                  <a:srgbClr val="006DAC"/>
                </a:solidFill>
                <a:latin typeface="Proxima Nova Heavy"/>
                <a:ea typeface="Proxima Nova Heavy"/>
                <a:cs typeface="Proxima Nova Heavy"/>
                <a:sym typeface="Proxima Nova Heavy"/>
              </a:rPr>
              <a:t>DONE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950717">
            <a:off x="9044024" y="-2530332"/>
            <a:ext cx="7019752" cy="2462111"/>
          </a:xfrm>
          <a:custGeom>
            <a:avLst/>
            <a:gdLst/>
            <a:ahLst/>
            <a:cxnLst/>
            <a:rect l="l" t="t" r="r" b="b"/>
            <a:pathLst>
              <a:path w="7019752" h="2462111">
                <a:moveTo>
                  <a:pt x="0" y="0"/>
                </a:moveTo>
                <a:lnTo>
                  <a:pt x="7019751" y="0"/>
                </a:lnTo>
                <a:lnTo>
                  <a:pt x="7019751" y="2462110"/>
                </a:lnTo>
                <a:lnTo>
                  <a:pt x="0" y="246211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4257759" y="1572251"/>
            <a:ext cx="12110257" cy="1002665"/>
          </a:xfrm>
          <a:prstGeom prst="rect">
            <a:avLst/>
          </a:prstGeom>
        </p:spPr>
        <p:txBody>
          <a:bodyPr lIns="0" tIns="0" rIns="0" bIns="0" rtlCol="0" anchor="t">
            <a:spAutoFit/>
          </a:bodyPr>
          <a:lstStyle/>
          <a:p>
            <a:pPr marL="0" lvl="0" indent="0" algn="l">
              <a:lnSpc>
                <a:spcPts val="7930"/>
              </a:lnSpc>
              <a:spcBef>
                <a:spcPct val="0"/>
              </a:spcBef>
            </a:pPr>
            <a:r>
              <a:rPr lang="en-US" sz="6500" b="1">
                <a:solidFill>
                  <a:srgbClr val="006DAC"/>
                </a:solidFill>
                <a:latin typeface="Proxima Nova Heavy"/>
                <a:ea typeface="Proxima Nova Heavy"/>
                <a:cs typeface="Proxima Nova Heavy"/>
                <a:sym typeface="Proxima Nova Heavy"/>
              </a:rPr>
              <a:t>METRICS</a:t>
            </a:r>
          </a:p>
        </p:txBody>
      </p:sp>
      <p:grpSp>
        <p:nvGrpSpPr>
          <p:cNvPr id="4" name="Group 4"/>
          <p:cNvGrpSpPr/>
          <p:nvPr/>
        </p:nvGrpSpPr>
        <p:grpSpPr>
          <a:xfrm>
            <a:off x="14622698" y="9621587"/>
            <a:ext cx="1660777" cy="1469400"/>
            <a:chOff x="0" y="0"/>
            <a:chExt cx="437406" cy="387002"/>
          </a:xfrm>
        </p:grpSpPr>
        <p:sp>
          <p:nvSpPr>
            <p:cNvPr id="5" name="Freeform 5"/>
            <p:cNvSpPr/>
            <p:nvPr/>
          </p:nvSpPr>
          <p:spPr>
            <a:xfrm>
              <a:off x="0" y="0"/>
              <a:ext cx="437406" cy="387002"/>
            </a:xfrm>
            <a:custGeom>
              <a:avLst/>
              <a:gdLst/>
              <a:ahLst/>
              <a:cxnLst/>
              <a:rect l="l" t="t" r="r" b="b"/>
              <a:pathLst>
                <a:path w="437406" h="387002">
                  <a:moveTo>
                    <a:pt x="0" y="0"/>
                  </a:moveTo>
                  <a:lnTo>
                    <a:pt x="437406" y="0"/>
                  </a:lnTo>
                  <a:lnTo>
                    <a:pt x="437406" y="387002"/>
                  </a:lnTo>
                  <a:lnTo>
                    <a:pt x="0" y="387002"/>
                  </a:lnTo>
                  <a:close/>
                </a:path>
              </a:pathLst>
            </a:custGeom>
            <a:solidFill>
              <a:srgbClr val="0CC0DF"/>
            </a:solidFill>
          </p:spPr>
        </p:sp>
        <p:sp>
          <p:nvSpPr>
            <p:cNvPr id="6" name="TextBox 6"/>
            <p:cNvSpPr txBox="1"/>
            <p:nvPr/>
          </p:nvSpPr>
          <p:spPr>
            <a:xfrm>
              <a:off x="0" y="-47625"/>
              <a:ext cx="437406" cy="434627"/>
            </a:xfrm>
            <a:prstGeom prst="rect">
              <a:avLst/>
            </a:prstGeom>
          </p:spPr>
          <p:txBody>
            <a:bodyPr lIns="50800" tIns="50800" rIns="50800" bIns="50800" rtlCol="0" anchor="ctr"/>
            <a:lstStyle/>
            <a:p>
              <a:pPr algn="ctr">
                <a:lnSpc>
                  <a:spcPts val="2659"/>
                </a:lnSpc>
                <a:spcBef>
                  <a:spcPct val="0"/>
                </a:spcBef>
              </a:pPr>
              <a:endParaRPr/>
            </a:p>
          </p:txBody>
        </p:sp>
      </p:grpSp>
      <p:grpSp>
        <p:nvGrpSpPr>
          <p:cNvPr id="7" name="Group 7"/>
          <p:cNvGrpSpPr/>
          <p:nvPr/>
        </p:nvGrpSpPr>
        <p:grpSpPr>
          <a:xfrm>
            <a:off x="16368016" y="9621587"/>
            <a:ext cx="489701" cy="1469400"/>
            <a:chOff x="0" y="0"/>
            <a:chExt cx="128975" cy="387002"/>
          </a:xfrm>
        </p:grpSpPr>
        <p:sp>
          <p:nvSpPr>
            <p:cNvPr id="8" name="Freeform 8"/>
            <p:cNvSpPr/>
            <p:nvPr/>
          </p:nvSpPr>
          <p:spPr>
            <a:xfrm>
              <a:off x="0" y="0"/>
              <a:ext cx="128975" cy="387002"/>
            </a:xfrm>
            <a:custGeom>
              <a:avLst/>
              <a:gdLst/>
              <a:ahLst/>
              <a:cxnLst/>
              <a:rect l="l" t="t" r="r" b="b"/>
              <a:pathLst>
                <a:path w="128975" h="387002">
                  <a:moveTo>
                    <a:pt x="0" y="0"/>
                  </a:moveTo>
                  <a:lnTo>
                    <a:pt x="128975" y="0"/>
                  </a:lnTo>
                  <a:lnTo>
                    <a:pt x="128975" y="387002"/>
                  </a:lnTo>
                  <a:lnTo>
                    <a:pt x="0" y="387002"/>
                  </a:lnTo>
                  <a:close/>
                </a:path>
              </a:pathLst>
            </a:custGeom>
            <a:solidFill>
              <a:srgbClr val="006DAC"/>
            </a:solidFill>
          </p:spPr>
        </p:sp>
        <p:sp>
          <p:nvSpPr>
            <p:cNvPr id="9" name="TextBox 9"/>
            <p:cNvSpPr txBox="1"/>
            <p:nvPr/>
          </p:nvSpPr>
          <p:spPr>
            <a:xfrm>
              <a:off x="0" y="-47625"/>
              <a:ext cx="128975" cy="434627"/>
            </a:xfrm>
            <a:prstGeom prst="rect">
              <a:avLst/>
            </a:prstGeom>
          </p:spPr>
          <p:txBody>
            <a:bodyPr lIns="50800" tIns="50800" rIns="50800" bIns="50800" rtlCol="0" anchor="ctr"/>
            <a:lstStyle/>
            <a:p>
              <a:pPr algn="ctr">
                <a:lnSpc>
                  <a:spcPts val="2659"/>
                </a:lnSpc>
                <a:spcBef>
                  <a:spcPct val="0"/>
                </a:spcBef>
              </a:pPr>
              <a:endParaRPr/>
            </a:p>
          </p:txBody>
        </p:sp>
      </p:grpSp>
      <p:sp>
        <p:nvSpPr>
          <p:cNvPr id="10" name="TextBox 10"/>
          <p:cNvSpPr txBox="1"/>
          <p:nvPr/>
        </p:nvSpPr>
        <p:spPr>
          <a:xfrm>
            <a:off x="198311" y="220550"/>
            <a:ext cx="7474008" cy="321267"/>
          </a:xfrm>
          <a:prstGeom prst="rect">
            <a:avLst/>
          </a:prstGeom>
        </p:spPr>
        <p:txBody>
          <a:bodyPr lIns="0" tIns="0" rIns="0" bIns="0" rtlCol="0" anchor="t">
            <a:spAutoFit/>
          </a:bodyPr>
          <a:lstStyle/>
          <a:p>
            <a:pPr algn="l">
              <a:lnSpc>
                <a:spcPts val="2482"/>
              </a:lnSpc>
            </a:pPr>
            <a:r>
              <a:rPr lang="en-US" sz="2364" b="1">
                <a:solidFill>
                  <a:srgbClr val="006DAC"/>
                </a:solidFill>
                <a:latin typeface="Proxima Nova Bold"/>
                <a:ea typeface="Proxima Nova Bold"/>
                <a:cs typeface="Proxima Nova Bold"/>
                <a:sym typeface="Proxima Nova Bold"/>
              </a:rPr>
              <a:t>Presented by → José Moreira</a:t>
            </a:r>
          </a:p>
        </p:txBody>
      </p:sp>
      <p:sp>
        <p:nvSpPr>
          <p:cNvPr id="11" name="TextBox 11"/>
          <p:cNvSpPr txBox="1"/>
          <p:nvPr/>
        </p:nvSpPr>
        <p:spPr>
          <a:xfrm>
            <a:off x="2261597" y="4517450"/>
            <a:ext cx="8115300" cy="4226694"/>
          </a:xfrm>
          <a:prstGeom prst="rect">
            <a:avLst/>
          </a:prstGeom>
        </p:spPr>
        <p:txBody>
          <a:bodyPr lIns="0" tIns="0" rIns="0" bIns="0" rtlCol="0" anchor="t">
            <a:spAutoFit/>
          </a:bodyPr>
          <a:lstStyle/>
          <a:p>
            <a:pPr algn="l">
              <a:lnSpc>
                <a:spcPts val="6772"/>
              </a:lnSpc>
            </a:pPr>
            <a:r>
              <a:rPr lang="en-US" sz="4837" b="1">
                <a:solidFill>
                  <a:srgbClr val="006DAC"/>
                </a:solidFill>
                <a:latin typeface="Proxima Nova Bold"/>
                <a:ea typeface="Proxima Nova Bold"/>
                <a:cs typeface="Proxima Nova Bold"/>
                <a:sym typeface="Proxima Nova Bold"/>
              </a:rPr>
              <a:t>Sprint 0:  </a:t>
            </a:r>
            <a:r>
              <a:rPr lang="en-US" sz="4837">
                <a:solidFill>
                  <a:srgbClr val="006DAC"/>
                </a:solidFill>
                <a:latin typeface="Proxima Nova"/>
                <a:ea typeface="Proxima Nova"/>
                <a:cs typeface="Proxima Nova"/>
                <a:sym typeface="Proxima Nova"/>
              </a:rPr>
              <a:t>46h   →   9 200€</a:t>
            </a:r>
          </a:p>
          <a:p>
            <a:pPr algn="l">
              <a:lnSpc>
                <a:spcPts val="6772"/>
              </a:lnSpc>
            </a:pPr>
            <a:r>
              <a:rPr lang="en-US" sz="4837" b="1">
                <a:solidFill>
                  <a:srgbClr val="006DAC"/>
                </a:solidFill>
                <a:latin typeface="Proxima Nova Bold"/>
                <a:ea typeface="Proxima Nova Bold"/>
                <a:cs typeface="Proxima Nova Bold"/>
                <a:sym typeface="Proxima Nova Bold"/>
              </a:rPr>
              <a:t>Sprint 1: </a:t>
            </a:r>
            <a:r>
              <a:rPr lang="en-US" sz="4837">
                <a:solidFill>
                  <a:srgbClr val="006DAC"/>
                </a:solidFill>
                <a:latin typeface="Proxima Nova"/>
                <a:ea typeface="Proxima Nova"/>
                <a:cs typeface="Proxima Nova"/>
                <a:sym typeface="Proxima Nova"/>
              </a:rPr>
              <a:t>  38h   →   7 600€</a:t>
            </a:r>
          </a:p>
          <a:p>
            <a:pPr algn="l">
              <a:lnSpc>
                <a:spcPts val="6772"/>
              </a:lnSpc>
            </a:pPr>
            <a:r>
              <a:rPr lang="en-US" sz="4837" b="1">
                <a:solidFill>
                  <a:srgbClr val="006DAC"/>
                </a:solidFill>
                <a:latin typeface="Proxima Nova Bold"/>
                <a:ea typeface="Proxima Nova Bold"/>
                <a:cs typeface="Proxima Nova Bold"/>
                <a:sym typeface="Proxima Nova Bold"/>
              </a:rPr>
              <a:t>Sprint 2:  </a:t>
            </a:r>
            <a:r>
              <a:rPr lang="en-US" sz="4837">
                <a:solidFill>
                  <a:srgbClr val="006DAC"/>
                </a:solidFill>
                <a:latin typeface="Proxima Nova"/>
                <a:ea typeface="Proxima Nova"/>
                <a:cs typeface="Proxima Nova"/>
                <a:sym typeface="Proxima Nova"/>
              </a:rPr>
              <a:t>40h   →   8 000€</a:t>
            </a:r>
          </a:p>
          <a:p>
            <a:pPr algn="l">
              <a:lnSpc>
                <a:spcPts val="6772"/>
              </a:lnSpc>
            </a:pPr>
            <a:r>
              <a:rPr lang="en-US" sz="4837" b="1">
                <a:solidFill>
                  <a:srgbClr val="006DAC"/>
                </a:solidFill>
                <a:latin typeface="Proxima Nova Bold"/>
                <a:ea typeface="Proxima Nova Bold"/>
                <a:cs typeface="Proxima Nova Bold"/>
                <a:sym typeface="Proxima Nova Bold"/>
              </a:rPr>
              <a:t>Sprint 3: </a:t>
            </a:r>
            <a:r>
              <a:rPr lang="en-US" sz="4837">
                <a:solidFill>
                  <a:srgbClr val="006DAC"/>
                </a:solidFill>
                <a:latin typeface="Proxima Nova"/>
                <a:ea typeface="Proxima Nova"/>
                <a:cs typeface="Proxima Nova"/>
                <a:sym typeface="Proxima Nova"/>
              </a:rPr>
              <a:t> 40h   →   8 000€</a:t>
            </a:r>
          </a:p>
          <a:p>
            <a:pPr algn="l">
              <a:lnSpc>
                <a:spcPts val="6772"/>
              </a:lnSpc>
            </a:pPr>
            <a:r>
              <a:rPr lang="en-US" sz="4837" b="1">
                <a:solidFill>
                  <a:srgbClr val="006DAC"/>
                </a:solidFill>
                <a:latin typeface="Proxima Nova Bold"/>
                <a:ea typeface="Proxima Nova Bold"/>
                <a:cs typeface="Proxima Nova Bold"/>
                <a:sym typeface="Proxima Nova Bold"/>
              </a:rPr>
              <a:t>Sprint 4:  </a:t>
            </a:r>
            <a:r>
              <a:rPr lang="en-US" sz="4837">
                <a:solidFill>
                  <a:srgbClr val="006DAC"/>
                </a:solidFill>
                <a:latin typeface="Proxima Nova"/>
                <a:ea typeface="Proxima Nova"/>
                <a:cs typeface="Proxima Nova"/>
                <a:sym typeface="Proxima Nova"/>
              </a:rPr>
              <a:t>40h   →   8 000€</a:t>
            </a:r>
          </a:p>
        </p:txBody>
      </p:sp>
      <p:sp>
        <p:nvSpPr>
          <p:cNvPr id="12" name="TextBox 12"/>
          <p:cNvSpPr txBox="1"/>
          <p:nvPr/>
        </p:nvSpPr>
        <p:spPr>
          <a:xfrm>
            <a:off x="10061362" y="8139497"/>
            <a:ext cx="9122672" cy="604647"/>
          </a:xfrm>
          <a:prstGeom prst="rect">
            <a:avLst/>
          </a:prstGeom>
        </p:spPr>
        <p:txBody>
          <a:bodyPr lIns="0" tIns="0" rIns="0" bIns="0" rtlCol="0" anchor="t">
            <a:spAutoFit/>
          </a:bodyPr>
          <a:lstStyle/>
          <a:p>
            <a:pPr algn="l">
              <a:lnSpc>
                <a:spcPts val="4998"/>
              </a:lnSpc>
            </a:pPr>
            <a:r>
              <a:rPr lang="en-US" sz="3570" b="1">
                <a:solidFill>
                  <a:srgbClr val="006DAC"/>
                </a:solidFill>
                <a:latin typeface="Proxima Nova Bold"/>
                <a:ea typeface="Proxima Nova Bold"/>
                <a:cs typeface="Proxima Nova Bold"/>
                <a:sym typeface="Proxima Nova Bold"/>
              </a:rPr>
              <a:t>TOTAL COST  → 40 800€</a:t>
            </a:r>
          </a:p>
        </p:txBody>
      </p:sp>
      <p:sp>
        <p:nvSpPr>
          <p:cNvPr id="13" name="TextBox 13"/>
          <p:cNvSpPr txBox="1"/>
          <p:nvPr/>
        </p:nvSpPr>
        <p:spPr>
          <a:xfrm>
            <a:off x="2261597" y="2718442"/>
            <a:ext cx="8051290" cy="1002665"/>
          </a:xfrm>
          <a:prstGeom prst="rect">
            <a:avLst/>
          </a:prstGeom>
        </p:spPr>
        <p:txBody>
          <a:bodyPr lIns="0" tIns="0" rIns="0" bIns="0" rtlCol="0" anchor="t">
            <a:spAutoFit/>
          </a:bodyPr>
          <a:lstStyle/>
          <a:p>
            <a:pPr marL="0" lvl="0" indent="0" algn="l">
              <a:lnSpc>
                <a:spcPts val="7930"/>
              </a:lnSpc>
              <a:spcBef>
                <a:spcPct val="0"/>
              </a:spcBef>
            </a:pPr>
            <a:r>
              <a:rPr lang="en-US" sz="6500" b="1">
                <a:solidFill>
                  <a:srgbClr val="006DAC"/>
                </a:solidFill>
                <a:latin typeface="Proxima Nova Heavy"/>
                <a:ea typeface="Proxima Nova Heavy"/>
                <a:cs typeface="Proxima Nova Heavy"/>
                <a:sym typeface="Proxima Nova Heavy"/>
              </a:rPr>
              <a:t>PRODUCTION COST</a:t>
            </a:r>
          </a:p>
        </p:txBody>
      </p:sp>
    </p:spTree>
  </p:cSld>
  <p:clrMapOvr>
    <a:masterClrMapping/>
  </p:clrMapOvr>
  <p:transition spd="slow">
    <p:push/>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509876" y="1797895"/>
            <a:ext cx="7019752" cy="2462111"/>
          </a:xfrm>
          <a:custGeom>
            <a:avLst/>
            <a:gdLst/>
            <a:ahLst/>
            <a:cxnLst/>
            <a:rect l="l" t="t" r="r" b="b"/>
            <a:pathLst>
              <a:path w="7019752" h="2462111">
                <a:moveTo>
                  <a:pt x="0" y="0"/>
                </a:moveTo>
                <a:lnTo>
                  <a:pt x="7019752" y="0"/>
                </a:lnTo>
                <a:lnTo>
                  <a:pt x="7019752" y="2462111"/>
                </a:lnTo>
                <a:lnTo>
                  <a:pt x="0" y="246211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4257759" y="1572251"/>
            <a:ext cx="12110257" cy="1002665"/>
          </a:xfrm>
          <a:prstGeom prst="rect">
            <a:avLst/>
          </a:prstGeom>
        </p:spPr>
        <p:txBody>
          <a:bodyPr lIns="0" tIns="0" rIns="0" bIns="0" rtlCol="0" anchor="t">
            <a:spAutoFit/>
          </a:bodyPr>
          <a:lstStyle/>
          <a:p>
            <a:pPr marL="0" lvl="0" indent="0" algn="l">
              <a:lnSpc>
                <a:spcPts val="7930"/>
              </a:lnSpc>
              <a:spcBef>
                <a:spcPct val="0"/>
              </a:spcBef>
            </a:pPr>
            <a:r>
              <a:rPr lang="en-US" sz="6500" b="1">
                <a:solidFill>
                  <a:srgbClr val="006DAC"/>
                </a:solidFill>
                <a:latin typeface="Proxima Nova Heavy"/>
                <a:ea typeface="Proxima Nova Heavy"/>
                <a:cs typeface="Proxima Nova Heavy"/>
                <a:sym typeface="Proxima Nova Heavy"/>
              </a:rPr>
              <a:t>METRICS</a:t>
            </a:r>
          </a:p>
        </p:txBody>
      </p:sp>
      <p:grpSp>
        <p:nvGrpSpPr>
          <p:cNvPr id="4" name="Group 4"/>
          <p:cNvGrpSpPr/>
          <p:nvPr/>
        </p:nvGrpSpPr>
        <p:grpSpPr>
          <a:xfrm>
            <a:off x="14622698" y="9621587"/>
            <a:ext cx="1660777" cy="1469400"/>
            <a:chOff x="0" y="0"/>
            <a:chExt cx="437406" cy="387002"/>
          </a:xfrm>
        </p:grpSpPr>
        <p:sp>
          <p:nvSpPr>
            <p:cNvPr id="5" name="Freeform 5"/>
            <p:cNvSpPr/>
            <p:nvPr/>
          </p:nvSpPr>
          <p:spPr>
            <a:xfrm>
              <a:off x="0" y="0"/>
              <a:ext cx="437406" cy="387002"/>
            </a:xfrm>
            <a:custGeom>
              <a:avLst/>
              <a:gdLst/>
              <a:ahLst/>
              <a:cxnLst/>
              <a:rect l="l" t="t" r="r" b="b"/>
              <a:pathLst>
                <a:path w="437406" h="387002">
                  <a:moveTo>
                    <a:pt x="0" y="0"/>
                  </a:moveTo>
                  <a:lnTo>
                    <a:pt x="437406" y="0"/>
                  </a:lnTo>
                  <a:lnTo>
                    <a:pt x="437406" y="387002"/>
                  </a:lnTo>
                  <a:lnTo>
                    <a:pt x="0" y="387002"/>
                  </a:lnTo>
                  <a:close/>
                </a:path>
              </a:pathLst>
            </a:custGeom>
            <a:solidFill>
              <a:srgbClr val="0CC0DF"/>
            </a:solidFill>
          </p:spPr>
        </p:sp>
        <p:sp>
          <p:nvSpPr>
            <p:cNvPr id="6" name="TextBox 6"/>
            <p:cNvSpPr txBox="1"/>
            <p:nvPr/>
          </p:nvSpPr>
          <p:spPr>
            <a:xfrm>
              <a:off x="0" y="-47625"/>
              <a:ext cx="437406" cy="434627"/>
            </a:xfrm>
            <a:prstGeom prst="rect">
              <a:avLst/>
            </a:prstGeom>
          </p:spPr>
          <p:txBody>
            <a:bodyPr lIns="50800" tIns="50800" rIns="50800" bIns="50800" rtlCol="0" anchor="ctr"/>
            <a:lstStyle/>
            <a:p>
              <a:pPr algn="ctr">
                <a:lnSpc>
                  <a:spcPts val="2659"/>
                </a:lnSpc>
                <a:spcBef>
                  <a:spcPct val="0"/>
                </a:spcBef>
              </a:pPr>
              <a:endParaRPr/>
            </a:p>
          </p:txBody>
        </p:sp>
      </p:grpSp>
      <p:grpSp>
        <p:nvGrpSpPr>
          <p:cNvPr id="7" name="Group 7"/>
          <p:cNvGrpSpPr/>
          <p:nvPr/>
        </p:nvGrpSpPr>
        <p:grpSpPr>
          <a:xfrm>
            <a:off x="16368016" y="9621587"/>
            <a:ext cx="489701" cy="1469400"/>
            <a:chOff x="0" y="0"/>
            <a:chExt cx="128975" cy="387002"/>
          </a:xfrm>
        </p:grpSpPr>
        <p:sp>
          <p:nvSpPr>
            <p:cNvPr id="8" name="Freeform 8"/>
            <p:cNvSpPr/>
            <p:nvPr/>
          </p:nvSpPr>
          <p:spPr>
            <a:xfrm>
              <a:off x="0" y="0"/>
              <a:ext cx="128975" cy="387002"/>
            </a:xfrm>
            <a:custGeom>
              <a:avLst/>
              <a:gdLst/>
              <a:ahLst/>
              <a:cxnLst/>
              <a:rect l="l" t="t" r="r" b="b"/>
              <a:pathLst>
                <a:path w="128975" h="387002">
                  <a:moveTo>
                    <a:pt x="0" y="0"/>
                  </a:moveTo>
                  <a:lnTo>
                    <a:pt x="128975" y="0"/>
                  </a:lnTo>
                  <a:lnTo>
                    <a:pt x="128975" y="387002"/>
                  </a:lnTo>
                  <a:lnTo>
                    <a:pt x="0" y="387002"/>
                  </a:lnTo>
                  <a:close/>
                </a:path>
              </a:pathLst>
            </a:custGeom>
            <a:solidFill>
              <a:srgbClr val="006DAC"/>
            </a:solidFill>
          </p:spPr>
        </p:sp>
        <p:sp>
          <p:nvSpPr>
            <p:cNvPr id="9" name="TextBox 9"/>
            <p:cNvSpPr txBox="1"/>
            <p:nvPr/>
          </p:nvSpPr>
          <p:spPr>
            <a:xfrm>
              <a:off x="0" y="-47625"/>
              <a:ext cx="128975" cy="434627"/>
            </a:xfrm>
            <a:prstGeom prst="rect">
              <a:avLst/>
            </a:prstGeom>
          </p:spPr>
          <p:txBody>
            <a:bodyPr lIns="50800" tIns="50800" rIns="50800" bIns="50800" rtlCol="0" anchor="ctr"/>
            <a:lstStyle/>
            <a:p>
              <a:pPr algn="ctr">
                <a:lnSpc>
                  <a:spcPts val="2659"/>
                </a:lnSpc>
                <a:spcBef>
                  <a:spcPct val="0"/>
                </a:spcBef>
              </a:pPr>
              <a:endParaRPr/>
            </a:p>
          </p:txBody>
        </p:sp>
      </p:grpSp>
      <p:sp>
        <p:nvSpPr>
          <p:cNvPr id="10" name="TextBox 10"/>
          <p:cNvSpPr txBox="1"/>
          <p:nvPr/>
        </p:nvSpPr>
        <p:spPr>
          <a:xfrm>
            <a:off x="198311" y="220550"/>
            <a:ext cx="7474008" cy="321267"/>
          </a:xfrm>
          <a:prstGeom prst="rect">
            <a:avLst/>
          </a:prstGeom>
        </p:spPr>
        <p:txBody>
          <a:bodyPr lIns="0" tIns="0" rIns="0" bIns="0" rtlCol="0" anchor="t">
            <a:spAutoFit/>
          </a:bodyPr>
          <a:lstStyle/>
          <a:p>
            <a:pPr algn="l">
              <a:lnSpc>
                <a:spcPts val="2482"/>
              </a:lnSpc>
            </a:pPr>
            <a:r>
              <a:rPr lang="en-US" sz="2364" b="1">
                <a:solidFill>
                  <a:srgbClr val="006DAC"/>
                </a:solidFill>
                <a:latin typeface="Proxima Nova Bold"/>
                <a:ea typeface="Proxima Nova Bold"/>
                <a:cs typeface="Proxima Nova Bold"/>
                <a:sym typeface="Proxima Nova Bold"/>
              </a:rPr>
              <a:t>Presented by → Pedro Amorim</a:t>
            </a:r>
          </a:p>
        </p:txBody>
      </p:sp>
      <p:sp>
        <p:nvSpPr>
          <p:cNvPr id="11" name="TextBox 11"/>
          <p:cNvSpPr txBox="1"/>
          <p:nvPr/>
        </p:nvSpPr>
        <p:spPr>
          <a:xfrm>
            <a:off x="2679404" y="2766524"/>
            <a:ext cx="3638947" cy="515328"/>
          </a:xfrm>
          <a:prstGeom prst="rect">
            <a:avLst/>
          </a:prstGeom>
        </p:spPr>
        <p:txBody>
          <a:bodyPr lIns="0" tIns="0" rIns="0" bIns="0" rtlCol="0" anchor="t">
            <a:spAutoFit/>
          </a:bodyPr>
          <a:lstStyle/>
          <a:p>
            <a:pPr marL="0" lvl="0" indent="0" algn="ctr">
              <a:lnSpc>
                <a:spcPts val="4105"/>
              </a:lnSpc>
              <a:spcBef>
                <a:spcPct val="0"/>
              </a:spcBef>
            </a:pPr>
            <a:r>
              <a:rPr lang="en-US" sz="3364" b="1" spc="23">
                <a:solidFill>
                  <a:srgbClr val="006DAC"/>
                </a:solidFill>
                <a:latin typeface="Proxima Nova Heavy"/>
                <a:ea typeface="Proxima Nova Heavy"/>
                <a:cs typeface="Proxima Nova Heavy"/>
                <a:sym typeface="Proxima Nova Heavy"/>
              </a:rPr>
              <a:t>PRODUCTIVITY</a:t>
            </a:r>
          </a:p>
        </p:txBody>
      </p:sp>
      <p:sp>
        <p:nvSpPr>
          <p:cNvPr id="12" name="TextBox 12"/>
          <p:cNvSpPr txBox="1"/>
          <p:nvPr/>
        </p:nvSpPr>
        <p:spPr>
          <a:xfrm>
            <a:off x="4684170" y="3234227"/>
            <a:ext cx="12607291" cy="860424"/>
          </a:xfrm>
          <a:prstGeom prst="rect">
            <a:avLst/>
          </a:prstGeom>
        </p:spPr>
        <p:txBody>
          <a:bodyPr lIns="0" tIns="0" rIns="0" bIns="0" rtlCol="0" anchor="t">
            <a:spAutoFit/>
          </a:bodyPr>
          <a:lstStyle/>
          <a:p>
            <a:pPr algn="l">
              <a:lnSpc>
                <a:spcPts val="3500"/>
              </a:lnSpc>
            </a:pPr>
            <a:r>
              <a:rPr lang="en-US" sz="2500">
                <a:solidFill>
                  <a:srgbClr val="006DAC"/>
                </a:solidFill>
                <a:latin typeface="Proxima Nova"/>
                <a:ea typeface="Proxima Nova"/>
                <a:cs typeface="Proxima Nova"/>
                <a:sym typeface="Proxima Nova"/>
              </a:rPr>
              <a:t>We applied the Fibonaci sequence to the T-Shirt sizes to convert them to Story Points.</a:t>
            </a:r>
          </a:p>
          <a:p>
            <a:pPr algn="l">
              <a:lnSpc>
                <a:spcPts val="3500"/>
              </a:lnSpc>
            </a:pPr>
            <a:r>
              <a:rPr lang="en-US" sz="2500">
                <a:solidFill>
                  <a:srgbClr val="006DAC"/>
                </a:solidFill>
                <a:latin typeface="Proxima Nova"/>
                <a:ea typeface="Proxima Nova"/>
                <a:cs typeface="Proxima Nova"/>
                <a:sym typeface="Proxima Nova"/>
              </a:rPr>
              <a:t> (Task = 1 SP  |  S = 2 SP  |  M = 3 SP  |  L = 5 SP  |  XL = 13 SP )</a:t>
            </a:r>
          </a:p>
        </p:txBody>
      </p:sp>
      <p:pic>
        <p:nvPicPr>
          <p:cNvPr id="13" name="Picture 13"/>
          <p:cNvPicPr>
            <a:picLocks noChangeAspect="1"/>
          </p:cNvPicPr>
          <p:nvPr/>
        </p:nvPicPr>
        <p:blipFill>
          <a:blip r:embed="rId4"/>
          <a:stretch>
            <a:fillRect/>
          </a:stretch>
        </p:blipFill>
        <p:spPr>
          <a:xfrm>
            <a:off x="5293517" y="3240543"/>
            <a:ext cx="11083166" cy="7586854"/>
          </a:xfrm>
          <a:prstGeom prst="rect">
            <a:avLst/>
          </a:prstGeom>
        </p:spPr>
      </p:pic>
      <p:sp>
        <p:nvSpPr>
          <p:cNvPr id="14" name="TextBox 14"/>
          <p:cNvSpPr txBox="1"/>
          <p:nvPr/>
        </p:nvSpPr>
        <p:spPr>
          <a:xfrm>
            <a:off x="1028700" y="5873750"/>
            <a:ext cx="4345433" cy="1271345"/>
          </a:xfrm>
          <a:prstGeom prst="rect">
            <a:avLst/>
          </a:prstGeom>
        </p:spPr>
        <p:txBody>
          <a:bodyPr lIns="0" tIns="0" rIns="0" bIns="0" rtlCol="0" anchor="t">
            <a:spAutoFit/>
          </a:bodyPr>
          <a:lstStyle/>
          <a:p>
            <a:pPr marL="528319" lvl="1" indent="-264160" algn="l">
              <a:lnSpc>
                <a:spcPts val="3425"/>
              </a:lnSpc>
              <a:buFont typeface="Arial"/>
              <a:buChar char="•"/>
            </a:pPr>
            <a:r>
              <a:rPr lang="en-US" sz="2447">
                <a:solidFill>
                  <a:srgbClr val="006DAC"/>
                </a:solidFill>
                <a:latin typeface="Proxima Nova"/>
                <a:ea typeface="Proxima Nova"/>
                <a:cs typeface="Proxima Nova"/>
                <a:sym typeface="Proxima Nova"/>
              </a:rPr>
              <a:t>Planned SP: 69</a:t>
            </a:r>
          </a:p>
          <a:p>
            <a:pPr marL="528319" lvl="1" indent="-264160" algn="l">
              <a:lnSpc>
                <a:spcPts val="3425"/>
              </a:lnSpc>
              <a:buFont typeface="Arial"/>
              <a:buChar char="•"/>
            </a:pPr>
            <a:r>
              <a:rPr lang="en-US" sz="2447">
                <a:solidFill>
                  <a:srgbClr val="006DAC"/>
                </a:solidFill>
                <a:latin typeface="Proxima Nova"/>
                <a:ea typeface="Proxima Nova"/>
                <a:cs typeface="Proxima Nova"/>
                <a:sym typeface="Proxima Nova"/>
              </a:rPr>
              <a:t>Delivered SP: 60</a:t>
            </a:r>
          </a:p>
          <a:p>
            <a:pPr marL="528319" lvl="1" indent="-264160" algn="l">
              <a:lnSpc>
                <a:spcPts val="3425"/>
              </a:lnSpc>
              <a:buFont typeface="Arial"/>
              <a:buChar char="•"/>
            </a:pPr>
            <a:r>
              <a:rPr lang="en-US" sz="2447">
                <a:solidFill>
                  <a:srgbClr val="006DAC"/>
                </a:solidFill>
                <a:latin typeface="Proxima Nova"/>
                <a:ea typeface="Proxima Nova"/>
                <a:cs typeface="Proxima Nova"/>
                <a:sym typeface="Proxima Nova"/>
              </a:rPr>
              <a:t>Average Sprint Velocity: 12</a:t>
            </a:r>
          </a:p>
        </p:txBody>
      </p:sp>
    </p:spTree>
  </p:cSld>
  <p:clrMapOvr>
    <a:masterClrMapping/>
  </p:clrMapOvr>
  <p:transition spd="slow">
    <p:push/>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509876" y="1797895"/>
            <a:ext cx="7019752" cy="2462111"/>
          </a:xfrm>
          <a:custGeom>
            <a:avLst/>
            <a:gdLst/>
            <a:ahLst/>
            <a:cxnLst/>
            <a:rect l="l" t="t" r="r" b="b"/>
            <a:pathLst>
              <a:path w="7019752" h="2462111">
                <a:moveTo>
                  <a:pt x="0" y="0"/>
                </a:moveTo>
                <a:lnTo>
                  <a:pt x="7019752" y="0"/>
                </a:lnTo>
                <a:lnTo>
                  <a:pt x="7019752" y="2462111"/>
                </a:lnTo>
                <a:lnTo>
                  <a:pt x="0" y="246211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2902986" y="795230"/>
            <a:ext cx="12110257" cy="1002665"/>
          </a:xfrm>
          <a:prstGeom prst="rect">
            <a:avLst/>
          </a:prstGeom>
        </p:spPr>
        <p:txBody>
          <a:bodyPr lIns="0" tIns="0" rIns="0" bIns="0" rtlCol="0" anchor="t">
            <a:spAutoFit/>
          </a:bodyPr>
          <a:lstStyle/>
          <a:p>
            <a:pPr marL="0" lvl="0" indent="0" algn="l">
              <a:lnSpc>
                <a:spcPts val="7930"/>
              </a:lnSpc>
              <a:spcBef>
                <a:spcPct val="0"/>
              </a:spcBef>
            </a:pPr>
            <a:r>
              <a:rPr lang="en-US" sz="6500" b="1">
                <a:solidFill>
                  <a:srgbClr val="006DAC"/>
                </a:solidFill>
                <a:latin typeface="Proxima Nova Heavy"/>
                <a:ea typeface="Proxima Nova Heavy"/>
                <a:cs typeface="Proxima Nova Heavy"/>
                <a:sym typeface="Proxima Nova Heavy"/>
              </a:rPr>
              <a:t>METRICS</a:t>
            </a:r>
          </a:p>
        </p:txBody>
      </p:sp>
      <p:sp>
        <p:nvSpPr>
          <p:cNvPr id="4" name="TextBox 4"/>
          <p:cNvSpPr txBox="1"/>
          <p:nvPr/>
        </p:nvSpPr>
        <p:spPr>
          <a:xfrm>
            <a:off x="2902986" y="2064595"/>
            <a:ext cx="3774176" cy="515328"/>
          </a:xfrm>
          <a:prstGeom prst="rect">
            <a:avLst/>
          </a:prstGeom>
        </p:spPr>
        <p:txBody>
          <a:bodyPr lIns="0" tIns="0" rIns="0" bIns="0" rtlCol="0" anchor="t">
            <a:spAutoFit/>
          </a:bodyPr>
          <a:lstStyle/>
          <a:p>
            <a:pPr marL="0" lvl="0" indent="0" algn="ctr">
              <a:lnSpc>
                <a:spcPts val="4105"/>
              </a:lnSpc>
              <a:spcBef>
                <a:spcPct val="0"/>
              </a:spcBef>
            </a:pPr>
            <a:r>
              <a:rPr lang="en-US" sz="3364" b="1" spc="23">
                <a:solidFill>
                  <a:srgbClr val="006DAC"/>
                </a:solidFill>
                <a:latin typeface="Proxima Nova Heavy"/>
                <a:ea typeface="Proxima Nova Heavy"/>
                <a:cs typeface="Proxima Nova Heavy"/>
                <a:sym typeface="Proxima Nova Heavy"/>
              </a:rPr>
              <a:t>EFFORT</a:t>
            </a:r>
          </a:p>
        </p:txBody>
      </p:sp>
      <p:grpSp>
        <p:nvGrpSpPr>
          <p:cNvPr id="5" name="Group 5"/>
          <p:cNvGrpSpPr/>
          <p:nvPr/>
        </p:nvGrpSpPr>
        <p:grpSpPr>
          <a:xfrm>
            <a:off x="14622698" y="9621587"/>
            <a:ext cx="1660777" cy="1469400"/>
            <a:chOff x="0" y="0"/>
            <a:chExt cx="437406" cy="387002"/>
          </a:xfrm>
        </p:grpSpPr>
        <p:sp>
          <p:nvSpPr>
            <p:cNvPr id="6" name="Freeform 6"/>
            <p:cNvSpPr/>
            <p:nvPr/>
          </p:nvSpPr>
          <p:spPr>
            <a:xfrm>
              <a:off x="0" y="0"/>
              <a:ext cx="437406" cy="387002"/>
            </a:xfrm>
            <a:custGeom>
              <a:avLst/>
              <a:gdLst/>
              <a:ahLst/>
              <a:cxnLst/>
              <a:rect l="l" t="t" r="r" b="b"/>
              <a:pathLst>
                <a:path w="437406" h="387002">
                  <a:moveTo>
                    <a:pt x="0" y="0"/>
                  </a:moveTo>
                  <a:lnTo>
                    <a:pt x="437406" y="0"/>
                  </a:lnTo>
                  <a:lnTo>
                    <a:pt x="437406" y="387002"/>
                  </a:lnTo>
                  <a:lnTo>
                    <a:pt x="0" y="387002"/>
                  </a:lnTo>
                  <a:close/>
                </a:path>
              </a:pathLst>
            </a:custGeom>
            <a:solidFill>
              <a:srgbClr val="0CC0DF"/>
            </a:solidFill>
          </p:spPr>
        </p:sp>
        <p:sp>
          <p:nvSpPr>
            <p:cNvPr id="7" name="TextBox 7"/>
            <p:cNvSpPr txBox="1"/>
            <p:nvPr/>
          </p:nvSpPr>
          <p:spPr>
            <a:xfrm>
              <a:off x="0" y="-47625"/>
              <a:ext cx="437406" cy="434627"/>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6368016" y="9621587"/>
            <a:ext cx="489701" cy="1469400"/>
            <a:chOff x="0" y="0"/>
            <a:chExt cx="128975" cy="387002"/>
          </a:xfrm>
        </p:grpSpPr>
        <p:sp>
          <p:nvSpPr>
            <p:cNvPr id="9" name="Freeform 9"/>
            <p:cNvSpPr/>
            <p:nvPr/>
          </p:nvSpPr>
          <p:spPr>
            <a:xfrm>
              <a:off x="0" y="0"/>
              <a:ext cx="128975" cy="387002"/>
            </a:xfrm>
            <a:custGeom>
              <a:avLst/>
              <a:gdLst/>
              <a:ahLst/>
              <a:cxnLst/>
              <a:rect l="l" t="t" r="r" b="b"/>
              <a:pathLst>
                <a:path w="128975" h="387002">
                  <a:moveTo>
                    <a:pt x="0" y="0"/>
                  </a:moveTo>
                  <a:lnTo>
                    <a:pt x="128975" y="0"/>
                  </a:lnTo>
                  <a:lnTo>
                    <a:pt x="128975" y="387002"/>
                  </a:lnTo>
                  <a:lnTo>
                    <a:pt x="0" y="387002"/>
                  </a:lnTo>
                  <a:close/>
                </a:path>
              </a:pathLst>
            </a:custGeom>
            <a:solidFill>
              <a:srgbClr val="006DAC"/>
            </a:solidFill>
          </p:spPr>
        </p:sp>
        <p:sp>
          <p:nvSpPr>
            <p:cNvPr id="10" name="TextBox 10"/>
            <p:cNvSpPr txBox="1"/>
            <p:nvPr/>
          </p:nvSpPr>
          <p:spPr>
            <a:xfrm>
              <a:off x="0" y="-47625"/>
              <a:ext cx="128975" cy="434627"/>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198311" y="220550"/>
            <a:ext cx="7474008" cy="321267"/>
          </a:xfrm>
          <a:prstGeom prst="rect">
            <a:avLst/>
          </a:prstGeom>
        </p:spPr>
        <p:txBody>
          <a:bodyPr lIns="0" tIns="0" rIns="0" bIns="0" rtlCol="0" anchor="t">
            <a:spAutoFit/>
          </a:bodyPr>
          <a:lstStyle/>
          <a:p>
            <a:pPr algn="l">
              <a:lnSpc>
                <a:spcPts val="2482"/>
              </a:lnSpc>
            </a:pPr>
            <a:r>
              <a:rPr lang="en-US" sz="2364" b="1">
                <a:solidFill>
                  <a:srgbClr val="006DAC"/>
                </a:solidFill>
                <a:latin typeface="Proxima Nova Bold"/>
                <a:ea typeface="Proxima Nova Bold"/>
                <a:cs typeface="Proxima Nova Bold"/>
                <a:sym typeface="Proxima Nova Bold"/>
              </a:rPr>
              <a:t>Presented by → Pedro Amorim</a:t>
            </a:r>
          </a:p>
        </p:txBody>
      </p:sp>
      <p:pic>
        <p:nvPicPr>
          <p:cNvPr id="12" name="Picture 12"/>
          <p:cNvPicPr>
            <a:picLocks noChangeAspect="1"/>
          </p:cNvPicPr>
          <p:nvPr/>
        </p:nvPicPr>
        <p:blipFill>
          <a:blip r:embed="rId4"/>
          <a:stretch>
            <a:fillRect/>
          </a:stretch>
        </p:blipFill>
        <p:spPr>
          <a:xfrm>
            <a:off x="4693224" y="-743730"/>
            <a:ext cx="13270356" cy="11926972"/>
          </a:xfrm>
          <a:prstGeom prst="rect">
            <a:avLst/>
          </a:prstGeom>
        </p:spPr>
      </p:pic>
    </p:spTree>
  </p:cSld>
  <p:clrMapOvr>
    <a:masterClrMapping/>
  </p:clrMapOvr>
  <p:transition spd="slow">
    <p:push/>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509876" y="1797895"/>
            <a:ext cx="7019752" cy="2462111"/>
          </a:xfrm>
          <a:custGeom>
            <a:avLst/>
            <a:gdLst/>
            <a:ahLst/>
            <a:cxnLst/>
            <a:rect l="l" t="t" r="r" b="b"/>
            <a:pathLst>
              <a:path w="7019752" h="2462111">
                <a:moveTo>
                  <a:pt x="0" y="0"/>
                </a:moveTo>
                <a:lnTo>
                  <a:pt x="7019752" y="0"/>
                </a:lnTo>
                <a:lnTo>
                  <a:pt x="7019752" y="2462111"/>
                </a:lnTo>
                <a:lnTo>
                  <a:pt x="0" y="246211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2902986" y="795230"/>
            <a:ext cx="12110257" cy="1002665"/>
          </a:xfrm>
          <a:prstGeom prst="rect">
            <a:avLst/>
          </a:prstGeom>
        </p:spPr>
        <p:txBody>
          <a:bodyPr lIns="0" tIns="0" rIns="0" bIns="0" rtlCol="0" anchor="t">
            <a:spAutoFit/>
          </a:bodyPr>
          <a:lstStyle/>
          <a:p>
            <a:pPr marL="0" lvl="0" indent="0" algn="l">
              <a:lnSpc>
                <a:spcPts val="7930"/>
              </a:lnSpc>
              <a:spcBef>
                <a:spcPct val="0"/>
              </a:spcBef>
            </a:pPr>
            <a:r>
              <a:rPr lang="en-US" sz="6500" b="1">
                <a:solidFill>
                  <a:srgbClr val="006DAC"/>
                </a:solidFill>
                <a:latin typeface="Proxima Nova Heavy"/>
                <a:ea typeface="Proxima Nova Heavy"/>
                <a:cs typeface="Proxima Nova Heavy"/>
                <a:sym typeface="Proxima Nova Heavy"/>
              </a:rPr>
              <a:t>METRICS</a:t>
            </a:r>
          </a:p>
        </p:txBody>
      </p:sp>
      <p:sp>
        <p:nvSpPr>
          <p:cNvPr id="4" name="TextBox 4"/>
          <p:cNvSpPr txBox="1"/>
          <p:nvPr/>
        </p:nvSpPr>
        <p:spPr>
          <a:xfrm>
            <a:off x="2902986" y="2064595"/>
            <a:ext cx="3774176" cy="515328"/>
          </a:xfrm>
          <a:prstGeom prst="rect">
            <a:avLst/>
          </a:prstGeom>
        </p:spPr>
        <p:txBody>
          <a:bodyPr lIns="0" tIns="0" rIns="0" bIns="0" rtlCol="0" anchor="t">
            <a:spAutoFit/>
          </a:bodyPr>
          <a:lstStyle/>
          <a:p>
            <a:pPr marL="0" lvl="0" indent="0" algn="ctr">
              <a:lnSpc>
                <a:spcPts val="4105"/>
              </a:lnSpc>
              <a:spcBef>
                <a:spcPct val="0"/>
              </a:spcBef>
            </a:pPr>
            <a:r>
              <a:rPr lang="en-US" sz="3364" b="1" spc="23">
                <a:solidFill>
                  <a:srgbClr val="006DAC"/>
                </a:solidFill>
                <a:latin typeface="Proxima Nova Heavy"/>
                <a:ea typeface="Proxima Nova Heavy"/>
                <a:cs typeface="Proxima Nova Heavy"/>
                <a:sym typeface="Proxima Nova Heavy"/>
              </a:rPr>
              <a:t>EFFORT</a:t>
            </a:r>
          </a:p>
        </p:txBody>
      </p:sp>
      <p:grpSp>
        <p:nvGrpSpPr>
          <p:cNvPr id="5" name="Group 5"/>
          <p:cNvGrpSpPr/>
          <p:nvPr/>
        </p:nvGrpSpPr>
        <p:grpSpPr>
          <a:xfrm>
            <a:off x="14622698" y="9621587"/>
            <a:ext cx="1660777" cy="1469400"/>
            <a:chOff x="0" y="0"/>
            <a:chExt cx="437406" cy="387002"/>
          </a:xfrm>
        </p:grpSpPr>
        <p:sp>
          <p:nvSpPr>
            <p:cNvPr id="6" name="Freeform 6"/>
            <p:cNvSpPr/>
            <p:nvPr/>
          </p:nvSpPr>
          <p:spPr>
            <a:xfrm>
              <a:off x="0" y="0"/>
              <a:ext cx="437406" cy="387002"/>
            </a:xfrm>
            <a:custGeom>
              <a:avLst/>
              <a:gdLst/>
              <a:ahLst/>
              <a:cxnLst/>
              <a:rect l="l" t="t" r="r" b="b"/>
              <a:pathLst>
                <a:path w="437406" h="387002">
                  <a:moveTo>
                    <a:pt x="0" y="0"/>
                  </a:moveTo>
                  <a:lnTo>
                    <a:pt x="437406" y="0"/>
                  </a:lnTo>
                  <a:lnTo>
                    <a:pt x="437406" y="387002"/>
                  </a:lnTo>
                  <a:lnTo>
                    <a:pt x="0" y="387002"/>
                  </a:lnTo>
                  <a:close/>
                </a:path>
              </a:pathLst>
            </a:custGeom>
            <a:solidFill>
              <a:srgbClr val="0CC0DF"/>
            </a:solidFill>
          </p:spPr>
        </p:sp>
        <p:sp>
          <p:nvSpPr>
            <p:cNvPr id="7" name="TextBox 7"/>
            <p:cNvSpPr txBox="1"/>
            <p:nvPr/>
          </p:nvSpPr>
          <p:spPr>
            <a:xfrm>
              <a:off x="0" y="-47625"/>
              <a:ext cx="437406" cy="434627"/>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6368016" y="9621587"/>
            <a:ext cx="489701" cy="1469400"/>
            <a:chOff x="0" y="0"/>
            <a:chExt cx="128975" cy="387002"/>
          </a:xfrm>
        </p:grpSpPr>
        <p:sp>
          <p:nvSpPr>
            <p:cNvPr id="9" name="Freeform 9"/>
            <p:cNvSpPr/>
            <p:nvPr/>
          </p:nvSpPr>
          <p:spPr>
            <a:xfrm>
              <a:off x="0" y="0"/>
              <a:ext cx="128975" cy="387002"/>
            </a:xfrm>
            <a:custGeom>
              <a:avLst/>
              <a:gdLst/>
              <a:ahLst/>
              <a:cxnLst/>
              <a:rect l="l" t="t" r="r" b="b"/>
              <a:pathLst>
                <a:path w="128975" h="387002">
                  <a:moveTo>
                    <a:pt x="0" y="0"/>
                  </a:moveTo>
                  <a:lnTo>
                    <a:pt x="128975" y="0"/>
                  </a:lnTo>
                  <a:lnTo>
                    <a:pt x="128975" y="387002"/>
                  </a:lnTo>
                  <a:lnTo>
                    <a:pt x="0" y="387002"/>
                  </a:lnTo>
                  <a:close/>
                </a:path>
              </a:pathLst>
            </a:custGeom>
            <a:solidFill>
              <a:srgbClr val="006DAC"/>
            </a:solidFill>
          </p:spPr>
        </p:sp>
        <p:sp>
          <p:nvSpPr>
            <p:cNvPr id="10" name="TextBox 10"/>
            <p:cNvSpPr txBox="1"/>
            <p:nvPr/>
          </p:nvSpPr>
          <p:spPr>
            <a:xfrm>
              <a:off x="0" y="-47625"/>
              <a:ext cx="128975" cy="434627"/>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198311" y="220550"/>
            <a:ext cx="7474008" cy="321267"/>
          </a:xfrm>
          <a:prstGeom prst="rect">
            <a:avLst/>
          </a:prstGeom>
        </p:spPr>
        <p:txBody>
          <a:bodyPr lIns="0" tIns="0" rIns="0" bIns="0" rtlCol="0" anchor="t">
            <a:spAutoFit/>
          </a:bodyPr>
          <a:lstStyle/>
          <a:p>
            <a:pPr algn="l">
              <a:lnSpc>
                <a:spcPts val="2482"/>
              </a:lnSpc>
            </a:pPr>
            <a:r>
              <a:rPr lang="en-US" sz="2364" b="1">
                <a:solidFill>
                  <a:srgbClr val="006DAC"/>
                </a:solidFill>
                <a:latin typeface="Proxima Nova Bold"/>
                <a:ea typeface="Proxima Nova Bold"/>
                <a:cs typeface="Proxima Nova Bold"/>
                <a:sym typeface="Proxima Nova Bold"/>
              </a:rPr>
              <a:t>Presented by → Pedro Amorim</a:t>
            </a:r>
          </a:p>
        </p:txBody>
      </p:sp>
      <p:pic>
        <p:nvPicPr>
          <p:cNvPr id="12" name="Picture 12"/>
          <p:cNvPicPr>
            <a:picLocks noChangeAspect="1"/>
          </p:cNvPicPr>
          <p:nvPr/>
        </p:nvPicPr>
        <p:blipFill>
          <a:blip r:embed="rId4"/>
          <a:stretch>
            <a:fillRect/>
          </a:stretch>
        </p:blipFill>
        <p:spPr>
          <a:xfrm>
            <a:off x="3563299" y="877893"/>
            <a:ext cx="14164898" cy="10061434"/>
          </a:xfrm>
          <a:prstGeom prst="rect">
            <a:avLst/>
          </a:prstGeom>
        </p:spPr>
      </p:pic>
    </p:spTree>
  </p:cSld>
  <p:clrMapOvr>
    <a:masterClrMapping/>
  </p:clrMapOvr>
  <p:transition spd="slow">
    <p:push/>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509876" y="1797895"/>
            <a:ext cx="7019752" cy="2462111"/>
          </a:xfrm>
          <a:custGeom>
            <a:avLst/>
            <a:gdLst/>
            <a:ahLst/>
            <a:cxnLst/>
            <a:rect l="l" t="t" r="r" b="b"/>
            <a:pathLst>
              <a:path w="7019752" h="2462111">
                <a:moveTo>
                  <a:pt x="0" y="0"/>
                </a:moveTo>
                <a:lnTo>
                  <a:pt x="7019752" y="0"/>
                </a:lnTo>
                <a:lnTo>
                  <a:pt x="7019752" y="2462111"/>
                </a:lnTo>
                <a:lnTo>
                  <a:pt x="0" y="246211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2902986" y="795230"/>
            <a:ext cx="12110257" cy="1002665"/>
          </a:xfrm>
          <a:prstGeom prst="rect">
            <a:avLst/>
          </a:prstGeom>
        </p:spPr>
        <p:txBody>
          <a:bodyPr lIns="0" tIns="0" rIns="0" bIns="0" rtlCol="0" anchor="t">
            <a:spAutoFit/>
          </a:bodyPr>
          <a:lstStyle/>
          <a:p>
            <a:pPr marL="0" lvl="0" indent="0" algn="l">
              <a:lnSpc>
                <a:spcPts val="7930"/>
              </a:lnSpc>
              <a:spcBef>
                <a:spcPct val="0"/>
              </a:spcBef>
            </a:pPr>
            <a:r>
              <a:rPr lang="en-US" sz="6500" b="1">
                <a:solidFill>
                  <a:srgbClr val="006DAC"/>
                </a:solidFill>
                <a:latin typeface="Proxima Nova Heavy"/>
                <a:ea typeface="Proxima Nova Heavy"/>
                <a:cs typeface="Proxima Nova Heavy"/>
                <a:sym typeface="Proxima Nova Heavy"/>
              </a:rPr>
              <a:t>METRICS</a:t>
            </a:r>
          </a:p>
        </p:txBody>
      </p:sp>
      <p:sp>
        <p:nvSpPr>
          <p:cNvPr id="4" name="TextBox 4"/>
          <p:cNvSpPr txBox="1"/>
          <p:nvPr/>
        </p:nvSpPr>
        <p:spPr>
          <a:xfrm>
            <a:off x="2902986" y="2064595"/>
            <a:ext cx="3774176" cy="515328"/>
          </a:xfrm>
          <a:prstGeom prst="rect">
            <a:avLst/>
          </a:prstGeom>
        </p:spPr>
        <p:txBody>
          <a:bodyPr lIns="0" tIns="0" rIns="0" bIns="0" rtlCol="0" anchor="t">
            <a:spAutoFit/>
          </a:bodyPr>
          <a:lstStyle/>
          <a:p>
            <a:pPr marL="0" lvl="0" indent="0" algn="ctr">
              <a:lnSpc>
                <a:spcPts val="4105"/>
              </a:lnSpc>
              <a:spcBef>
                <a:spcPct val="0"/>
              </a:spcBef>
            </a:pPr>
            <a:r>
              <a:rPr lang="en-US" sz="3364" b="1" spc="23">
                <a:solidFill>
                  <a:srgbClr val="006DAC"/>
                </a:solidFill>
                <a:latin typeface="Proxima Nova Heavy"/>
                <a:ea typeface="Proxima Nova Heavy"/>
                <a:cs typeface="Proxima Nova Heavy"/>
                <a:sym typeface="Proxima Nova Heavy"/>
              </a:rPr>
              <a:t>QUALITY</a:t>
            </a:r>
          </a:p>
        </p:txBody>
      </p:sp>
      <p:grpSp>
        <p:nvGrpSpPr>
          <p:cNvPr id="5" name="Group 5"/>
          <p:cNvGrpSpPr/>
          <p:nvPr/>
        </p:nvGrpSpPr>
        <p:grpSpPr>
          <a:xfrm>
            <a:off x="14622698" y="9621587"/>
            <a:ext cx="1660777" cy="1469400"/>
            <a:chOff x="0" y="0"/>
            <a:chExt cx="437406" cy="387002"/>
          </a:xfrm>
        </p:grpSpPr>
        <p:sp>
          <p:nvSpPr>
            <p:cNvPr id="6" name="Freeform 6"/>
            <p:cNvSpPr/>
            <p:nvPr/>
          </p:nvSpPr>
          <p:spPr>
            <a:xfrm>
              <a:off x="0" y="0"/>
              <a:ext cx="437406" cy="387002"/>
            </a:xfrm>
            <a:custGeom>
              <a:avLst/>
              <a:gdLst/>
              <a:ahLst/>
              <a:cxnLst/>
              <a:rect l="l" t="t" r="r" b="b"/>
              <a:pathLst>
                <a:path w="437406" h="387002">
                  <a:moveTo>
                    <a:pt x="0" y="0"/>
                  </a:moveTo>
                  <a:lnTo>
                    <a:pt x="437406" y="0"/>
                  </a:lnTo>
                  <a:lnTo>
                    <a:pt x="437406" y="387002"/>
                  </a:lnTo>
                  <a:lnTo>
                    <a:pt x="0" y="387002"/>
                  </a:lnTo>
                  <a:close/>
                </a:path>
              </a:pathLst>
            </a:custGeom>
            <a:solidFill>
              <a:srgbClr val="0CC0DF"/>
            </a:solidFill>
          </p:spPr>
        </p:sp>
        <p:sp>
          <p:nvSpPr>
            <p:cNvPr id="7" name="TextBox 7"/>
            <p:cNvSpPr txBox="1"/>
            <p:nvPr/>
          </p:nvSpPr>
          <p:spPr>
            <a:xfrm>
              <a:off x="0" y="-47625"/>
              <a:ext cx="437406" cy="434627"/>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6368016" y="9621587"/>
            <a:ext cx="489701" cy="1469400"/>
            <a:chOff x="0" y="0"/>
            <a:chExt cx="128975" cy="387002"/>
          </a:xfrm>
        </p:grpSpPr>
        <p:sp>
          <p:nvSpPr>
            <p:cNvPr id="9" name="Freeform 9"/>
            <p:cNvSpPr/>
            <p:nvPr/>
          </p:nvSpPr>
          <p:spPr>
            <a:xfrm>
              <a:off x="0" y="0"/>
              <a:ext cx="128975" cy="387002"/>
            </a:xfrm>
            <a:custGeom>
              <a:avLst/>
              <a:gdLst/>
              <a:ahLst/>
              <a:cxnLst/>
              <a:rect l="l" t="t" r="r" b="b"/>
              <a:pathLst>
                <a:path w="128975" h="387002">
                  <a:moveTo>
                    <a:pt x="0" y="0"/>
                  </a:moveTo>
                  <a:lnTo>
                    <a:pt x="128975" y="0"/>
                  </a:lnTo>
                  <a:lnTo>
                    <a:pt x="128975" y="387002"/>
                  </a:lnTo>
                  <a:lnTo>
                    <a:pt x="0" y="387002"/>
                  </a:lnTo>
                  <a:close/>
                </a:path>
              </a:pathLst>
            </a:custGeom>
            <a:solidFill>
              <a:srgbClr val="006DAC"/>
            </a:solidFill>
          </p:spPr>
        </p:sp>
        <p:sp>
          <p:nvSpPr>
            <p:cNvPr id="10" name="TextBox 10"/>
            <p:cNvSpPr txBox="1"/>
            <p:nvPr/>
          </p:nvSpPr>
          <p:spPr>
            <a:xfrm>
              <a:off x="0" y="-47625"/>
              <a:ext cx="128975" cy="434627"/>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198311" y="220550"/>
            <a:ext cx="7474008" cy="321267"/>
          </a:xfrm>
          <a:prstGeom prst="rect">
            <a:avLst/>
          </a:prstGeom>
        </p:spPr>
        <p:txBody>
          <a:bodyPr lIns="0" tIns="0" rIns="0" bIns="0" rtlCol="0" anchor="t">
            <a:spAutoFit/>
          </a:bodyPr>
          <a:lstStyle/>
          <a:p>
            <a:pPr algn="l">
              <a:lnSpc>
                <a:spcPts val="2482"/>
              </a:lnSpc>
            </a:pPr>
            <a:r>
              <a:rPr lang="en-US" sz="2364" b="1">
                <a:solidFill>
                  <a:srgbClr val="006DAC"/>
                </a:solidFill>
                <a:latin typeface="Proxima Nova Bold"/>
                <a:ea typeface="Proxima Nova Bold"/>
                <a:cs typeface="Proxima Nova Bold"/>
                <a:sym typeface="Proxima Nova Bold"/>
              </a:rPr>
              <a:t>Presented by → António Correia</a:t>
            </a:r>
          </a:p>
        </p:txBody>
      </p:sp>
      <p:pic>
        <p:nvPicPr>
          <p:cNvPr id="12" name="Picture 12"/>
          <p:cNvPicPr>
            <a:picLocks noChangeAspect="1"/>
          </p:cNvPicPr>
          <p:nvPr/>
        </p:nvPicPr>
        <p:blipFill>
          <a:blip r:embed="rId4"/>
          <a:stretch>
            <a:fillRect/>
          </a:stretch>
        </p:blipFill>
        <p:spPr>
          <a:xfrm>
            <a:off x="6084486" y="-80184"/>
            <a:ext cx="10312922" cy="10733566"/>
          </a:xfrm>
          <a:prstGeom prst="rect">
            <a:avLst/>
          </a:prstGeom>
        </p:spPr>
      </p:pic>
    </p:spTree>
  </p:cSld>
  <p:clrMapOvr>
    <a:masterClrMapping/>
  </p:clrMapOvr>
  <p:transition spd="slow">
    <p:push/>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3AFCA"/>
        </a:solidFill>
        <a:effectLst/>
      </p:bgPr>
    </p:bg>
    <p:spTree>
      <p:nvGrpSpPr>
        <p:cNvPr id="1" name=""/>
        <p:cNvGrpSpPr/>
        <p:nvPr/>
      </p:nvGrpSpPr>
      <p:grpSpPr>
        <a:xfrm>
          <a:off x="0" y="0"/>
          <a:ext cx="0" cy="0"/>
          <a:chOff x="0" y="0"/>
          <a:chExt cx="0" cy="0"/>
        </a:xfrm>
      </p:grpSpPr>
      <p:sp>
        <p:nvSpPr>
          <p:cNvPr id="2" name="TextBox 2"/>
          <p:cNvSpPr txBox="1"/>
          <p:nvPr/>
        </p:nvSpPr>
        <p:spPr>
          <a:xfrm>
            <a:off x="7942563" y="4632643"/>
            <a:ext cx="2402874" cy="1002665"/>
          </a:xfrm>
          <a:prstGeom prst="rect">
            <a:avLst/>
          </a:prstGeom>
        </p:spPr>
        <p:txBody>
          <a:bodyPr lIns="0" tIns="0" rIns="0" bIns="0" rtlCol="0" anchor="t">
            <a:spAutoFit/>
          </a:bodyPr>
          <a:lstStyle/>
          <a:p>
            <a:pPr algn="l">
              <a:lnSpc>
                <a:spcPts val="7930"/>
              </a:lnSpc>
              <a:spcBef>
                <a:spcPct val="0"/>
              </a:spcBef>
            </a:pPr>
            <a:r>
              <a:rPr lang="en-US" sz="6500" b="1">
                <a:solidFill>
                  <a:srgbClr val="FFFFFF"/>
                </a:solidFill>
                <a:latin typeface="Proxima Nova Heavy"/>
                <a:ea typeface="Proxima Nova Heavy"/>
                <a:cs typeface="Proxima Nova Heavy"/>
                <a:sym typeface="Proxima Nova Heavy"/>
              </a:rPr>
              <a:t>6. KPI</a:t>
            </a:r>
          </a:p>
        </p:txBody>
      </p:sp>
      <p:sp>
        <p:nvSpPr>
          <p:cNvPr id="3" name="Freeform 3"/>
          <p:cNvSpPr/>
          <p:nvPr/>
        </p:nvSpPr>
        <p:spPr>
          <a:xfrm>
            <a:off x="-753219" y="6663269"/>
            <a:ext cx="16347068" cy="1328199"/>
          </a:xfrm>
          <a:custGeom>
            <a:avLst/>
            <a:gdLst/>
            <a:ahLst/>
            <a:cxnLst/>
            <a:rect l="l" t="t" r="r" b="b"/>
            <a:pathLst>
              <a:path w="16347068" h="1328199">
                <a:moveTo>
                  <a:pt x="0" y="0"/>
                </a:moveTo>
                <a:lnTo>
                  <a:pt x="16347068" y="0"/>
                </a:lnTo>
                <a:lnTo>
                  <a:pt x="16347068" y="1328199"/>
                </a:lnTo>
                <a:lnTo>
                  <a:pt x="0" y="132819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rot="-10800000">
            <a:off x="3708004" y="1928403"/>
            <a:ext cx="16347068" cy="1328199"/>
          </a:xfrm>
          <a:custGeom>
            <a:avLst/>
            <a:gdLst/>
            <a:ahLst/>
            <a:cxnLst/>
            <a:rect l="l" t="t" r="r" b="b"/>
            <a:pathLst>
              <a:path w="16347068" h="1328199">
                <a:moveTo>
                  <a:pt x="0" y="0"/>
                </a:moveTo>
                <a:lnTo>
                  <a:pt x="16347068" y="0"/>
                </a:lnTo>
                <a:lnTo>
                  <a:pt x="16347068" y="1328199"/>
                </a:lnTo>
                <a:lnTo>
                  <a:pt x="0" y="132819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Tree>
  </p:cSld>
  <p:clrMapOvr>
    <a:masterClrMapping/>
  </p:clrMapOvr>
  <p:transition spd="slow">
    <p:push/>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509876" y="1797895"/>
            <a:ext cx="7019752" cy="2462111"/>
          </a:xfrm>
          <a:custGeom>
            <a:avLst/>
            <a:gdLst/>
            <a:ahLst/>
            <a:cxnLst/>
            <a:rect l="l" t="t" r="r" b="b"/>
            <a:pathLst>
              <a:path w="7019752" h="2462111">
                <a:moveTo>
                  <a:pt x="0" y="0"/>
                </a:moveTo>
                <a:lnTo>
                  <a:pt x="7019752" y="0"/>
                </a:lnTo>
                <a:lnTo>
                  <a:pt x="7019752" y="2462111"/>
                </a:lnTo>
                <a:lnTo>
                  <a:pt x="0" y="246211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3509876" y="2018031"/>
            <a:ext cx="12110257" cy="2002790"/>
          </a:xfrm>
          <a:prstGeom prst="rect">
            <a:avLst/>
          </a:prstGeom>
        </p:spPr>
        <p:txBody>
          <a:bodyPr lIns="0" tIns="0" rIns="0" bIns="0" rtlCol="0" anchor="t">
            <a:spAutoFit/>
          </a:bodyPr>
          <a:lstStyle/>
          <a:p>
            <a:pPr algn="l">
              <a:lnSpc>
                <a:spcPts val="7930"/>
              </a:lnSpc>
            </a:pPr>
            <a:r>
              <a:rPr lang="en-US" sz="6500" b="1">
                <a:solidFill>
                  <a:srgbClr val="006DAC"/>
                </a:solidFill>
                <a:latin typeface="Proxima Nova Heavy"/>
                <a:ea typeface="Proxima Nova Heavy"/>
                <a:cs typeface="Proxima Nova Heavy"/>
                <a:sym typeface="Proxima Nova Heavy"/>
              </a:rPr>
              <a:t>SPRINT </a:t>
            </a:r>
          </a:p>
          <a:p>
            <a:pPr marL="0" lvl="0" indent="0" algn="l">
              <a:lnSpc>
                <a:spcPts val="7930"/>
              </a:lnSpc>
              <a:spcBef>
                <a:spcPct val="0"/>
              </a:spcBef>
            </a:pPr>
            <a:r>
              <a:rPr lang="en-US" sz="6500" b="1">
                <a:solidFill>
                  <a:srgbClr val="006DAC"/>
                </a:solidFill>
                <a:latin typeface="Proxima Nova Heavy"/>
                <a:ea typeface="Proxima Nova Heavy"/>
                <a:cs typeface="Proxima Nova Heavy"/>
                <a:sym typeface="Proxima Nova Heavy"/>
              </a:rPr>
              <a:t> GOALS</a:t>
            </a:r>
          </a:p>
        </p:txBody>
      </p:sp>
      <p:sp>
        <p:nvSpPr>
          <p:cNvPr id="4" name="TextBox 4"/>
          <p:cNvSpPr txBox="1"/>
          <p:nvPr/>
        </p:nvSpPr>
        <p:spPr>
          <a:xfrm>
            <a:off x="733747" y="4946700"/>
            <a:ext cx="6416453" cy="1544028"/>
          </a:xfrm>
          <a:prstGeom prst="rect">
            <a:avLst/>
          </a:prstGeom>
        </p:spPr>
        <p:txBody>
          <a:bodyPr lIns="0" tIns="0" rIns="0" bIns="0" rtlCol="0" anchor="t">
            <a:spAutoFit/>
          </a:bodyPr>
          <a:lstStyle/>
          <a:p>
            <a:pPr algn="ctr">
              <a:lnSpc>
                <a:spcPts val="4105"/>
              </a:lnSpc>
            </a:pPr>
            <a:r>
              <a:rPr lang="en-US" sz="3364" spc="23">
                <a:solidFill>
                  <a:srgbClr val="006DAC"/>
                </a:solidFill>
                <a:latin typeface="Proxima Nova"/>
                <a:ea typeface="Proxima Nova"/>
                <a:cs typeface="Proxima Nova"/>
                <a:sym typeface="Proxima Nova"/>
              </a:rPr>
              <a:t>SPRINT GOAL SUCCESS RATE MEASURED BY USER STORIES</a:t>
            </a:r>
          </a:p>
          <a:p>
            <a:pPr marL="0" lvl="0" indent="0" algn="ctr">
              <a:lnSpc>
                <a:spcPts val="4105"/>
              </a:lnSpc>
              <a:spcBef>
                <a:spcPct val="0"/>
              </a:spcBef>
            </a:pPr>
            <a:endParaRPr lang="en-US" sz="3364" spc="23">
              <a:solidFill>
                <a:srgbClr val="006DAC"/>
              </a:solidFill>
              <a:latin typeface="Proxima Nova"/>
              <a:ea typeface="Proxima Nova"/>
              <a:cs typeface="Proxima Nova"/>
              <a:sym typeface="Proxima Nova"/>
            </a:endParaRPr>
          </a:p>
        </p:txBody>
      </p:sp>
      <p:grpSp>
        <p:nvGrpSpPr>
          <p:cNvPr id="5" name="Group 5"/>
          <p:cNvGrpSpPr/>
          <p:nvPr/>
        </p:nvGrpSpPr>
        <p:grpSpPr>
          <a:xfrm>
            <a:off x="14622698" y="9621587"/>
            <a:ext cx="1660777" cy="1469400"/>
            <a:chOff x="0" y="0"/>
            <a:chExt cx="437406" cy="387002"/>
          </a:xfrm>
        </p:grpSpPr>
        <p:sp>
          <p:nvSpPr>
            <p:cNvPr id="6" name="Freeform 6"/>
            <p:cNvSpPr/>
            <p:nvPr/>
          </p:nvSpPr>
          <p:spPr>
            <a:xfrm>
              <a:off x="0" y="0"/>
              <a:ext cx="437406" cy="387002"/>
            </a:xfrm>
            <a:custGeom>
              <a:avLst/>
              <a:gdLst/>
              <a:ahLst/>
              <a:cxnLst/>
              <a:rect l="l" t="t" r="r" b="b"/>
              <a:pathLst>
                <a:path w="437406" h="387002">
                  <a:moveTo>
                    <a:pt x="0" y="0"/>
                  </a:moveTo>
                  <a:lnTo>
                    <a:pt x="437406" y="0"/>
                  </a:lnTo>
                  <a:lnTo>
                    <a:pt x="437406" y="387002"/>
                  </a:lnTo>
                  <a:lnTo>
                    <a:pt x="0" y="387002"/>
                  </a:lnTo>
                  <a:close/>
                </a:path>
              </a:pathLst>
            </a:custGeom>
            <a:solidFill>
              <a:srgbClr val="0CC0DF"/>
            </a:solidFill>
          </p:spPr>
        </p:sp>
        <p:sp>
          <p:nvSpPr>
            <p:cNvPr id="7" name="TextBox 7"/>
            <p:cNvSpPr txBox="1"/>
            <p:nvPr/>
          </p:nvSpPr>
          <p:spPr>
            <a:xfrm>
              <a:off x="0" y="-47625"/>
              <a:ext cx="437406" cy="434627"/>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6368016" y="9621587"/>
            <a:ext cx="489701" cy="1469400"/>
            <a:chOff x="0" y="0"/>
            <a:chExt cx="128975" cy="387002"/>
          </a:xfrm>
        </p:grpSpPr>
        <p:sp>
          <p:nvSpPr>
            <p:cNvPr id="9" name="Freeform 9"/>
            <p:cNvSpPr/>
            <p:nvPr/>
          </p:nvSpPr>
          <p:spPr>
            <a:xfrm>
              <a:off x="0" y="0"/>
              <a:ext cx="128975" cy="387002"/>
            </a:xfrm>
            <a:custGeom>
              <a:avLst/>
              <a:gdLst/>
              <a:ahLst/>
              <a:cxnLst/>
              <a:rect l="l" t="t" r="r" b="b"/>
              <a:pathLst>
                <a:path w="128975" h="387002">
                  <a:moveTo>
                    <a:pt x="0" y="0"/>
                  </a:moveTo>
                  <a:lnTo>
                    <a:pt x="128975" y="0"/>
                  </a:lnTo>
                  <a:lnTo>
                    <a:pt x="128975" y="387002"/>
                  </a:lnTo>
                  <a:lnTo>
                    <a:pt x="0" y="387002"/>
                  </a:lnTo>
                  <a:close/>
                </a:path>
              </a:pathLst>
            </a:custGeom>
            <a:solidFill>
              <a:srgbClr val="006DAC"/>
            </a:solidFill>
          </p:spPr>
        </p:sp>
        <p:sp>
          <p:nvSpPr>
            <p:cNvPr id="10" name="TextBox 10"/>
            <p:cNvSpPr txBox="1"/>
            <p:nvPr/>
          </p:nvSpPr>
          <p:spPr>
            <a:xfrm>
              <a:off x="0" y="-47625"/>
              <a:ext cx="128975" cy="434627"/>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198311" y="220550"/>
            <a:ext cx="7474008" cy="321267"/>
          </a:xfrm>
          <a:prstGeom prst="rect">
            <a:avLst/>
          </a:prstGeom>
        </p:spPr>
        <p:txBody>
          <a:bodyPr lIns="0" tIns="0" rIns="0" bIns="0" rtlCol="0" anchor="t">
            <a:spAutoFit/>
          </a:bodyPr>
          <a:lstStyle/>
          <a:p>
            <a:pPr algn="l">
              <a:lnSpc>
                <a:spcPts val="2482"/>
              </a:lnSpc>
            </a:pPr>
            <a:r>
              <a:rPr lang="en-US" sz="2364" b="1">
                <a:solidFill>
                  <a:srgbClr val="006DAC"/>
                </a:solidFill>
                <a:latin typeface="Proxima Nova Bold"/>
                <a:ea typeface="Proxima Nova Bold"/>
                <a:cs typeface="Proxima Nova Bold"/>
                <a:sym typeface="Proxima Nova Bold"/>
              </a:rPr>
              <a:t>Presented by → José Moreira</a:t>
            </a:r>
          </a:p>
        </p:txBody>
      </p:sp>
      <p:pic>
        <p:nvPicPr>
          <p:cNvPr id="12" name="Picture 12"/>
          <p:cNvPicPr>
            <a:picLocks noChangeAspect="1"/>
          </p:cNvPicPr>
          <p:nvPr/>
        </p:nvPicPr>
        <p:blipFill>
          <a:blip r:embed="rId4"/>
          <a:stretch>
            <a:fillRect/>
          </a:stretch>
        </p:blipFill>
        <p:spPr>
          <a:xfrm>
            <a:off x="6760732" y="-125883"/>
            <a:ext cx="10315417" cy="11281952"/>
          </a:xfrm>
          <a:prstGeom prst="rect">
            <a:avLst/>
          </a:prstGeom>
        </p:spPr>
      </p:pic>
      <p:sp>
        <p:nvSpPr>
          <p:cNvPr id="13" name="TextBox 13"/>
          <p:cNvSpPr txBox="1"/>
          <p:nvPr/>
        </p:nvSpPr>
        <p:spPr>
          <a:xfrm>
            <a:off x="733747" y="6296432"/>
            <a:ext cx="6403137" cy="860424"/>
          </a:xfrm>
          <a:prstGeom prst="rect">
            <a:avLst/>
          </a:prstGeom>
        </p:spPr>
        <p:txBody>
          <a:bodyPr lIns="0" tIns="0" rIns="0" bIns="0" rtlCol="0" anchor="t">
            <a:spAutoFit/>
          </a:bodyPr>
          <a:lstStyle/>
          <a:p>
            <a:pPr algn="l">
              <a:lnSpc>
                <a:spcPts val="3500"/>
              </a:lnSpc>
            </a:pPr>
            <a:r>
              <a:rPr lang="en-US" sz="2500">
                <a:solidFill>
                  <a:srgbClr val="006DAC"/>
                </a:solidFill>
                <a:latin typeface="Proxima Nova"/>
                <a:ea typeface="Proxima Nova"/>
                <a:cs typeface="Proxima Nova"/>
                <a:sym typeface="Proxima Nova"/>
              </a:rPr>
              <a:t>After the initial sprint we managed to always achieve or surpass the sprint goal</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509876" y="1797895"/>
            <a:ext cx="7019752" cy="2462111"/>
          </a:xfrm>
          <a:custGeom>
            <a:avLst/>
            <a:gdLst/>
            <a:ahLst/>
            <a:cxnLst/>
            <a:rect l="l" t="t" r="r" b="b"/>
            <a:pathLst>
              <a:path w="7019752" h="2462111">
                <a:moveTo>
                  <a:pt x="0" y="0"/>
                </a:moveTo>
                <a:lnTo>
                  <a:pt x="7019752" y="0"/>
                </a:lnTo>
                <a:lnTo>
                  <a:pt x="7019752" y="2462111"/>
                </a:lnTo>
                <a:lnTo>
                  <a:pt x="0" y="246211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3509876" y="2018031"/>
            <a:ext cx="8234654" cy="2002790"/>
          </a:xfrm>
          <a:prstGeom prst="rect">
            <a:avLst/>
          </a:prstGeom>
        </p:spPr>
        <p:txBody>
          <a:bodyPr lIns="0" tIns="0" rIns="0" bIns="0" rtlCol="0" anchor="t">
            <a:spAutoFit/>
          </a:bodyPr>
          <a:lstStyle/>
          <a:p>
            <a:pPr marL="0" lvl="0" indent="0" algn="l">
              <a:lnSpc>
                <a:spcPts val="7930"/>
              </a:lnSpc>
              <a:spcBef>
                <a:spcPct val="0"/>
              </a:spcBef>
            </a:pPr>
            <a:r>
              <a:rPr lang="en-US" sz="6500" b="1">
                <a:solidFill>
                  <a:srgbClr val="006DAC"/>
                </a:solidFill>
                <a:latin typeface="Proxima Nova Heavy"/>
                <a:ea typeface="Proxima Nova Heavy"/>
                <a:cs typeface="Proxima Nova Heavy"/>
                <a:sym typeface="Proxima Nova Heavy"/>
              </a:rPr>
              <a:t>CUSTOMER LOYALTY</a:t>
            </a:r>
          </a:p>
        </p:txBody>
      </p:sp>
      <p:grpSp>
        <p:nvGrpSpPr>
          <p:cNvPr id="4" name="Group 4"/>
          <p:cNvGrpSpPr/>
          <p:nvPr/>
        </p:nvGrpSpPr>
        <p:grpSpPr>
          <a:xfrm>
            <a:off x="14622698" y="9621587"/>
            <a:ext cx="1660777" cy="1469400"/>
            <a:chOff x="0" y="0"/>
            <a:chExt cx="437406" cy="387002"/>
          </a:xfrm>
        </p:grpSpPr>
        <p:sp>
          <p:nvSpPr>
            <p:cNvPr id="5" name="Freeform 5"/>
            <p:cNvSpPr/>
            <p:nvPr/>
          </p:nvSpPr>
          <p:spPr>
            <a:xfrm>
              <a:off x="0" y="0"/>
              <a:ext cx="437406" cy="387002"/>
            </a:xfrm>
            <a:custGeom>
              <a:avLst/>
              <a:gdLst/>
              <a:ahLst/>
              <a:cxnLst/>
              <a:rect l="l" t="t" r="r" b="b"/>
              <a:pathLst>
                <a:path w="437406" h="387002">
                  <a:moveTo>
                    <a:pt x="0" y="0"/>
                  </a:moveTo>
                  <a:lnTo>
                    <a:pt x="437406" y="0"/>
                  </a:lnTo>
                  <a:lnTo>
                    <a:pt x="437406" y="387002"/>
                  </a:lnTo>
                  <a:lnTo>
                    <a:pt x="0" y="387002"/>
                  </a:lnTo>
                  <a:close/>
                </a:path>
              </a:pathLst>
            </a:custGeom>
            <a:solidFill>
              <a:srgbClr val="0CC0DF"/>
            </a:solidFill>
          </p:spPr>
        </p:sp>
        <p:sp>
          <p:nvSpPr>
            <p:cNvPr id="6" name="TextBox 6"/>
            <p:cNvSpPr txBox="1"/>
            <p:nvPr/>
          </p:nvSpPr>
          <p:spPr>
            <a:xfrm>
              <a:off x="0" y="-47625"/>
              <a:ext cx="437406" cy="434627"/>
            </a:xfrm>
            <a:prstGeom prst="rect">
              <a:avLst/>
            </a:prstGeom>
          </p:spPr>
          <p:txBody>
            <a:bodyPr lIns="50800" tIns="50800" rIns="50800" bIns="50800" rtlCol="0" anchor="ctr"/>
            <a:lstStyle/>
            <a:p>
              <a:pPr algn="ctr">
                <a:lnSpc>
                  <a:spcPts val="2659"/>
                </a:lnSpc>
                <a:spcBef>
                  <a:spcPct val="0"/>
                </a:spcBef>
              </a:pPr>
              <a:endParaRPr/>
            </a:p>
          </p:txBody>
        </p:sp>
      </p:grpSp>
      <p:grpSp>
        <p:nvGrpSpPr>
          <p:cNvPr id="7" name="Group 7"/>
          <p:cNvGrpSpPr/>
          <p:nvPr/>
        </p:nvGrpSpPr>
        <p:grpSpPr>
          <a:xfrm>
            <a:off x="16368016" y="9621587"/>
            <a:ext cx="489701" cy="1469400"/>
            <a:chOff x="0" y="0"/>
            <a:chExt cx="128975" cy="387002"/>
          </a:xfrm>
        </p:grpSpPr>
        <p:sp>
          <p:nvSpPr>
            <p:cNvPr id="8" name="Freeform 8"/>
            <p:cNvSpPr/>
            <p:nvPr/>
          </p:nvSpPr>
          <p:spPr>
            <a:xfrm>
              <a:off x="0" y="0"/>
              <a:ext cx="128975" cy="387002"/>
            </a:xfrm>
            <a:custGeom>
              <a:avLst/>
              <a:gdLst/>
              <a:ahLst/>
              <a:cxnLst/>
              <a:rect l="l" t="t" r="r" b="b"/>
              <a:pathLst>
                <a:path w="128975" h="387002">
                  <a:moveTo>
                    <a:pt x="0" y="0"/>
                  </a:moveTo>
                  <a:lnTo>
                    <a:pt x="128975" y="0"/>
                  </a:lnTo>
                  <a:lnTo>
                    <a:pt x="128975" y="387002"/>
                  </a:lnTo>
                  <a:lnTo>
                    <a:pt x="0" y="387002"/>
                  </a:lnTo>
                  <a:close/>
                </a:path>
              </a:pathLst>
            </a:custGeom>
            <a:solidFill>
              <a:srgbClr val="006DAC"/>
            </a:solidFill>
          </p:spPr>
        </p:sp>
        <p:sp>
          <p:nvSpPr>
            <p:cNvPr id="9" name="TextBox 9"/>
            <p:cNvSpPr txBox="1"/>
            <p:nvPr/>
          </p:nvSpPr>
          <p:spPr>
            <a:xfrm>
              <a:off x="0" y="-47625"/>
              <a:ext cx="128975" cy="434627"/>
            </a:xfrm>
            <a:prstGeom prst="rect">
              <a:avLst/>
            </a:prstGeom>
          </p:spPr>
          <p:txBody>
            <a:bodyPr lIns="50800" tIns="50800" rIns="50800" bIns="50800" rtlCol="0" anchor="ctr"/>
            <a:lstStyle/>
            <a:p>
              <a:pPr algn="ctr">
                <a:lnSpc>
                  <a:spcPts val="2659"/>
                </a:lnSpc>
                <a:spcBef>
                  <a:spcPct val="0"/>
                </a:spcBef>
              </a:pPr>
              <a:endParaRPr/>
            </a:p>
          </p:txBody>
        </p:sp>
      </p:grpSp>
      <p:sp>
        <p:nvSpPr>
          <p:cNvPr id="10" name="TextBox 10"/>
          <p:cNvSpPr txBox="1"/>
          <p:nvPr/>
        </p:nvSpPr>
        <p:spPr>
          <a:xfrm>
            <a:off x="198311" y="220550"/>
            <a:ext cx="7474008" cy="321267"/>
          </a:xfrm>
          <a:prstGeom prst="rect">
            <a:avLst/>
          </a:prstGeom>
        </p:spPr>
        <p:txBody>
          <a:bodyPr lIns="0" tIns="0" rIns="0" bIns="0" rtlCol="0" anchor="t">
            <a:spAutoFit/>
          </a:bodyPr>
          <a:lstStyle/>
          <a:p>
            <a:pPr algn="l">
              <a:lnSpc>
                <a:spcPts val="2482"/>
              </a:lnSpc>
            </a:pPr>
            <a:r>
              <a:rPr lang="en-US" sz="2364" b="1">
                <a:solidFill>
                  <a:srgbClr val="006DAC"/>
                </a:solidFill>
                <a:latin typeface="Proxima Nova Bold"/>
                <a:ea typeface="Proxima Nova Bold"/>
                <a:cs typeface="Proxima Nova Bold"/>
                <a:sym typeface="Proxima Nova Bold"/>
              </a:rPr>
              <a:t>Presented by → José Moreira</a:t>
            </a:r>
          </a:p>
        </p:txBody>
      </p:sp>
      <p:pic>
        <p:nvPicPr>
          <p:cNvPr id="11" name="Picture 11"/>
          <p:cNvPicPr>
            <a:picLocks noChangeAspect="1"/>
          </p:cNvPicPr>
          <p:nvPr/>
        </p:nvPicPr>
        <p:blipFill>
          <a:blip r:embed="rId4"/>
          <a:stretch>
            <a:fillRect/>
          </a:stretch>
        </p:blipFill>
        <p:spPr>
          <a:xfrm>
            <a:off x="6854458" y="-565436"/>
            <a:ext cx="11130834" cy="10305357"/>
          </a:xfrm>
          <a:prstGeom prst="rect">
            <a:avLst/>
          </a:prstGeom>
        </p:spPr>
      </p:pic>
      <p:sp>
        <p:nvSpPr>
          <p:cNvPr id="12" name="TextBox 12"/>
          <p:cNvSpPr txBox="1"/>
          <p:nvPr/>
        </p:nvSpPr>
        <p:spPr>
          <a:xfrm>
            <a:off x="733747" y="5229337"/>
            <a:ext cx="6403137" cy="1298574"/>
          </a:xfrm>
          <a:prstGeom prst="rect">
            <a:avLst/>
          </a:prstGeom>
        </p:spPr>
        <p:txBody>
          <a:bodyPr lIns="0" tIns="0" rIns="0" bIns="0" rtlCol="0" anchor="t">
            <a:spAutoFit/>
          </a:bodyPr>
          <a:lstStyle/>
          <a:p>
            <a:pPr algn="l">
              <a:lnSpc>
                <a:spcPts val="3500"/>
              </a:lnSpc>
            </a:pPr>
            <a:r>
              <a:rPr lang="en-US" sz="2500">
                <a:solidFill>
                  <a:srgbClr val="006DAC"/>
                </a:solidFill>
                <a:latin typeface="Proxima Nova"/>
                <a:ea typeface="Proxima Nova"/>
                <a:cs typeface="Proxima Nova"/>
                <a:sym typeface="Proxima Nova"/>
              </a:rPr>
              <a:t>We measured the customer loyalty using a net promoter score with answers received in surveys to potential users. </a:t>
            </a:r>
          </a:p>
        </p:txBody>
      </p:sp>
      <p:grpSp>
        <p:nvGrpSpPr>
          <p:cNvPr id="13" name="Group 13"/>
          <p:cNvGrpSpPr/>
          <p:nvPr/>
        </p:nvGrpSpPr>
        <p:grpSpPr>
          <a:xfrm>
            <a:off x="9494042" y="8755385"/>
            <a:ext cx="7620830" cy="552648"/>
            <a:chOff x="0" y="0"/>
            <a:chExt cx="10161106" cy="736864"/>
          </a:xfrm>
        </p:grpSpPr>
        <p:sp>
          <p:nvSpPr>
            <p:cNvPr id="14" name="TextBox 14"/>
            <p:cNvSpPr txBox="1"/>
            <p:nvPr/>
          </p:nvSpPr>
          <p:spPr>
            <a:xfrm>
              <a:off x="0" y="117111"/>
              <a:ext cx="7737682" cy="553442"/>
            </a:xfrm>
            <a:prstGeom prst="rect">
              <a:avLst/>
            </a:prstGeom>
          </p:spPr>
          <p:txBody>
            <a:bodyPr lIns="0" tIns="0" rIns="0" bIns="0" rtlCol="0" anchor="t">
              <a:spAutoFit/>
            </a:bodyPr>
            <a:lstStyle/>
            <a:p>
              <a:pPr marL="0" lvl="0" indent="0" algn="ctr">
                <a:lnSpc>
                  <a:spcPts val="3381"/>
                </a:lnSpc>
                <a:spcBef>
                  <a:spcPct val="0"/>
                </a:spcBef>
              </a:pPr>
              <a:r>
                <a:rPr lang="en-US" sz="2772" spc="19">
                  <a:solidFill>
                    <a:srgbClr val="006DAC"/>
                  </a:solidFill>
                  <a:latin typeface="Proxima Nova"/>
                  <a:ea typeface="Proxima Nova"/>
                  <a:cs typeface="Proxima Nova"/>
                  <a:sym typeface="Proxima Nova"/>
                </a:rPr>
                <a:t>TOTAL ANSWERS </a:t>
              </a:r>
            </a:p>
          </p:txBody>
        </p:sp>
        <p:sp>
          <p:nvSpPr>
            <p:cNvPr id="15" name="TextBox 15"/>
            <p:cNvSpPr txBox="1"/>
            <p:nvPr/>
          </p:nvSpPr>
          <p:spPr>
            <a:xfrm>
              <a:off x="2423424" y="-9525"/>
              <a:ext cx="7737682" cy="746389"/>
            </a:xfrm>
            <a:prstGeom prst="rect">
              <a:avLst/>
            </a:prstGeom>
          </p:spPr>
          <p:txBody>
            <a:bodyPr lIns="0" tIns="0" rIns="0" bIns="0" rtlCol="0" anchor="t">
              <a:spAutoFit/>
            </a:bodyPr>
            <a:lstStyle/>
            <a:p>
              <a:pPr marL="0" lvl="0" indent="0" algn="ctr">
                <a:lnSpc>
                  <a:spcPts val="4479"/>
                </a:lnSpc>
                <a:spcBef>
                  <a:spcPct val="0"/>
                </a:spcBef>
              </a:pPr>
              <a:r>
                <a:rPr lang="en-US" sz="3671" b="1" spc="25">
                  <a:solidFill>
                    <a:srgbClr val="006DAC"/>
                  </a:solidFill>
                  <a:latin typeface="Proxima Nova Bold"/>
                  <a:ea typeface="Proxima Nova Bold"/>
                  <a:cs typeface="Proxima Nova Bold"/>
                  <a:sym typeface="Proxima Nova Bold"/>
                </a:rPr>
                <a:t>47</a:t>
              </a:r>
            </a:p>
          </p:txBody>
        </p:sp>
      </p:grpSp>
    </p:spTree>
  </p:cSld>
  <p:clrMapOvr>
    <a:masterClrMapping/>
  </p:clrMapOvr>
  <p:transition spd="slow">
    <p:push/>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13AFCA"/>
        </a:solidFill>
        <a:effectLst/>
      </p:bgPr>
    </p:bg>
    <p:spTree>
      <p:nvGrpSpPr>
        <p:cNvPr id="1" name=""/>
        <p:cNvGrpSpPr/>
        <p:nvPr/>
      </p:nvGrpSpPr>
      <p:grpSpPr>
        <a:xfrm>
          <a:off x="0" y="0"/>
          <a:ext cx="0" cy="0"/>
          <a:chOff x="0" y="0"/>
          <a:chExt cx="0" cy="0"/>
        </a:xfrm>
      </p:grpSpPr>
      <p:sp>
        <p:nvSpPr>
          <p:cNvPr id="2" name="TextBox 2"/>
          <p:cNvSpPr txBox="1"/>
          <p:nvPr/>
        </p:nvSpPr>
        <p:spPr>
          <a:xfrm>
            <a:off x="4717639" y="4632643"/>
            <a:ext cx="8852723" cy="1002665"/>
          </a:xfrm>
          <a:prstGeom prst="rect">
            <a:avLst/>
          </a:prstGeom>
        </p:spPr>
        <p:txBody>
          <a:bodyPr lIns="0" tIns="0" rIns="0" bIns="0" rtlCol="0" anchor="t">
            <a:spAutoFit/>
          </a:bodyPr>
          <a:lstStyle/>
          <a:p>
            <a:pPr algn="l">
              <a:lnSpc>
                <a:spcPts val="7930"/>
              </a:lnSpc>
              <a:spcBef>
                <a:spcPct val="0"/>
              </a:spcBef>
            </a:pPr>
            <a:r>
              <a:rPr lang="en-US" sz="6500" b="1">
                <a:solidFill>
                  <a:srgbClr val="FFFFFF"/>
                </a:solidFill>
                <a:latin typeface="Proxima Nova Heavy"/>
                <a:ea typeface="Proxima Nova Heavy"/>
                <a:cs typeface="Proxima Nova Heavy"/>
                <a:sym typeface="Proxima Nova Heavy"/>
              </a:rPr>
              <a:t>7. LESSONS LEARNED</a:t>
            </a:r>
          </a:p>
        </p:txBody>
      </p:sp>
      <p:sp>
        <p:nvSpPr>
          <p:cNvPr id="3" name="Freeform 3"/>
          <p:cNvSpPr/>
          <p:nvPr/>
        </p:nvSpPr>
        <p:spPr>
          <a:xfrm>
            <a:off x="-753219" y="6663269"/>
            <a:ext cx="16347068" cy="1328199"/>
          </a:xfrm>
          <a:custGeom>
            <a:avLst/>
            <a:gdLst/>
            <a:ahLst/>
            <a:cxnLst/>
            <a:rect l="l" t="t" r="r" b="b"/>
            <a:pathLst>
              <a:path w="16347068" h="1328199">
                <a:moveTo>
                  <a:pt x="0" y="0"/>
                </a:moveTo>
                <a:lnTo>
                  <a:pt x="16347068" y="0"/>
                </a:lnTo>
                <a:lnTo>
                  <a:pt x="16347068" y="1328199"/>
                </a:lnTo>
                <a:lnTo>
                  <a:pt x="0" y="132819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rot="-10800000">
            <a:off x="3708004" y="1928403"/>
            <a:ext cx="16347068" cy="1328199"/>
          </a:xfrm>
          <a:custGeom>
            <a:avLst/>
            <a:gdLst/>
            <a:ahLst/>
            <a:cxnLst/>
            <a:rect l="l" t="t" r="r" b="b"/>
            <a:pathLst>
              <a:path w="16347068" h="1328199">
                <a:moveTo>
                  <a:pt x="0" y="0"/>
                </a:moveTo>
                <a:lnTo>
                  <a:pt x="16347068" y="0"/>
                </a:lnTo>
                <a:lnTo>
                  <a:pt x="16347068" y="1328199"/>
                </a:lnTo>
                <a:lnTo>
                  <a:pt x="0" y="132819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Tree>
  </p:cSld>
  <p:clrMapOvr>
    <a:masterClrMapping/>
  </p:clrMapOvr>
  <p:transition spd="slow">
    <p:push/>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flipH="1">
            <a:off x="11332119" y="3436310"/>
            <a:ext cx="7319680" cy="7319680"/>
          </a:xfrm>
          <a:custGeom>
            <a:avLst/>
            <a:gdLst/>
            <a:ahLst/>
            <a:cxnLst/>
            <a:rect l="l" t="t" r="r" b="b"/>
            <a:pathLst>
              <a:path w="7319680" h="7319680">
                <a:moveTo>
                  <a:pt x="7319680" y="0"/>
                </a:moveTo>
                <a:lnTo>
                  <a:pt x="0" y="0"/>
                </a:lnTo>
                <a:lnTo>
                  <a:pt x="0" y="7319680"/>
                </a:lnTo>
                <a:lnTo>
                  <a:pt x="7319680" y="7319680"/>
                </a:lnTo>
                <a:lnTo>
                  <a:pt x="731968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rot="-10800000">
            <a:off x="16991022" y="1145136"/>
            <a:ext cx="1660777" cy="1469400"/>
            <a:chOff x="0" y="0"/>
            <a:chExt cx="437406" cy="387002"/>
          </a:xfrm>
        </p:grpSpPr>
        <p:sp>
          <p:nvSpPr>
            <p:cNvPr id="4" name="Freeform 4"/>
            <p:cNvSpPr/>
            <p:nvPr/>
          </p:nvSpPr>
          <p:spPr>
            <a:xfrm>
              <a:off x="0" y="0"/>
              <a:ext cx="437406" cy="387002"/>
            </a:xfrm>
            <a:custGeom>
              <a:avLst/>
              <a:gdLst/>
              <a:ahLst/>
              <a:cxnLst/>
              <a:rect l="l" t="t" r="r" b="b"/>
              <a:pathLst>
                <a:path w="437406" h="387002">
                  <a:moveTo>
                    <a:pt x="0" y="0"/>
                  </a:moveTo>
                  <a:lnTo>
                    <a:pt x="437406" y="0"/>
                  </a:lnTo>
                  <a:lnTo>
                    <a:pt x="437406" y="387002"/>
                  </a:lnTo>
                  <a:lnTo>
                    <a:pt x="0" y="387002"/>
                  </a:lnTo>
                  <a:close/>
                </a:path>
              </a:pathLst>
            </a:custGeom>
            <a:solidFill>
              <a:srgbClr val="0CC0DF"/>
            </a:solidFill>
          </p:spPr>
        </p:sp>
        <p:sp>
          <p:nvSpPr>
            <p:cNvPr id="5" name="TextBox 5"/>
            <p:cNvSpPr txBox="1"/>
            <p:nvPr/>
          </p:nvSpPr>
          <p:spPr>
            <a:xfrm>
              <a:off x="0" y="-47625"/>
              <a:ext cx="437406" cy="434627"/>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rot="-10800000">
            <a:off x="16416780" y="1145136"/>
            <a:ext cx="489701" cy="1469400"/>
            <a:chOff x="0" y="0"/>
            <a:chExt cx="128975" cy="387002"/>
          </a:xfrm>
        </p:grpSpPr>
        <p:sp>
          <p:nvSpPr>
            <p:cNvPr id="7" name="Freeform 7"/>
            <p:cNvSpPr/>
            <p:nvPr/>
          </p:nvSpPr>
          <p:spPr>
            <a:xfrm>
              <a:off x="0" y="0"/>
              <a:ext cx="128975" cy="387002"/>
            </a:xfrm>
            <a:custGeom>
              <a:avLst/>
              <a:gdLst/>
              <a:ahLst/>
              <a:cxnLst/>
              <a:rect l="l" t="t" r="r" b="b"/>
              <a:pathLst>
                <a:path w="128975" h="387002">
                  <a:moveTo>
                    <a:pt x="0" y="0"/>
                  </a:moveTo>
                  <a:lnTo>
                    <a:pt x="128975" y="0"/>
                  </a:lnTo>
                  <a:lnTo>
                    <a:pt x="128975" y="387002"/>
                  </a:lnTo>
                  <a:lnTo>
                    <a:pt x="0" y="387002"/>
                  </a:lnTo>
                  <a:close/>
                </a:path>
              </a:pathLst>
            </a:custGeom>
            <a:solidFill>
              <a:srgbClr val="006DAC"/>
            </a:solidFill>
          </p:spPr>
        </p:sp>
        <p:sp>
          <p:nvSpPr>
            <p:cNvPr id="8" name="TextBox 8"/>
            <p:cNvSpPr txBox="1"/>
            <p:nvPr/>
          </p:nvSpPr>
          <p:spPr>
            <a:xfrm>
              <a:off x="0" y="-47625"/>
              <a:ext cx="128975" cy="434627"/>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a:off x="15142259" y="6708134"/>
            <a:ext cx="2549043" cy="2917360"/>
          </a:xfrm>
          <a:custGeom>
            <a:avLst/>
            <a:gdLst/>
            <a:ahLst/>
            <a:cxnLst/>
            <a:rect l="l" t="t" r="r" b="b"/>
            <a:pathLst>
              <a:path w="2549043" h="2917360">
                <a:moveTo>
                  <a:pt x="0" y="0"/>
                </a:moveTo>
                <a:lnTo>
                  <a:pt x="2549043" y="0"/>
                </a:lnTo>
                <a:lnTo>
                  <a:pt x="2549043" y="2917360"/>
                </a:lnTo>
                <a:lnTo>
                  <a:pt x="0" y="2917360"/>
                </a:lnTo>
                <a:lnTo>
                  <a:pt x="0" y="0"/>
                </a:lnTo>
                <a:close/>
              </a:path>
            </a:pathLst>
          </a:custGeom>
          <a:blipFill>
            <a:blip r:embed="rId4"/>
            <a:stretch>
              <a:fillRect/>
            </a:stretch>
          </a:blipFill>
        </p:spPr>
      </p:sp>
      <p:sp>
        <p:nvSpPr>
          <p:cNvPr id="10" name="TextBox 10"/>
          <p:cNvSpPr txBox="1"/>
          <p:nvPr/>
        </p:nvSpPr>
        <p:spPr>
          <a:xfrm>
            <a:off x="1028700" y="1126086"/>
            <a:ext cx="8603053" cy="2002790"/>
          </a:xfrm>
          <a:prstGeom prst="rect">
            <a:avLst/>
          </a:prstGeom>
        </p:spPr>
        <p:txBody>
          <a:bodyPr lIns="0" tIns="0" rIns="0" bIns="0" rtlCol="0" anchor="t">
            <a:spAutoFit/>
          </a:bodyPr>
          <a:lstStyle/>
          <a:p>
            <a:pPr marL="0" lvl="0" indent="0" algn="l">
              <a:lnSpc>
                <a:spcPts val="7930"/>
              </a:lnSpc>
              <a:spcBef>
                <a:spcPct val="0"/>
              </a:spcBef>
            </a:pPr>
            <a:r>
              <a:rPr lang="en-US" sz="6500" b="1" spc="45">
                <a:solidFill>
                  <a:srgbClr val="006DAC"/>
                </a:solidFill>
                <a:latin typeface="Proxima Nova Heavy"/>
                <a:ea typeface="Proxima Nova Heavy"/>
                <a:cs typeface="Proxima Nova Heavy"/>
                <a:sym typeface="Proxima Nova Heavy"/>
              </a:rPr>
              <a:t>LESSONS</a:t>
            </a:r>
            <a:r>
              <a:rPr lang="en-US" sz="6500" b="1" u="none" strike="noStrike" spc="45">
                <a:solidFill>
                  <a:srgbClr val="006DAC"/>
                </a:solidFill>
                <a:latin typeface="Proxima Nova Heavy"/>
                <a:ea typeface="Proxima Nova Heavy"/>
                <a:cs typeface="Proxima Nova Heavy"/>
                <a:sym typeface="Proxima Nova Heavy"/>
              </a:rPr>
              <a:t> LEARNED</a:t>
            </a:r>
          </a:p>
          <a:p>
            <a:pPr marL="0" lvl="0" indent="0" algn="l">
              <a:lnSpc>
                <a:spcPts val="7930"/>
              </a:lnSpc>
              <a:spcBef>
                <a:spcPct val="0"/>
              </a:spcBef>
            </a:pPr>
            <a:endParaRPr lang="en-US" sz="6500" b="1" u="none" strike="noStrike" spc="45">
              <a:solidFill>
                <a:srgbClr val="006DAC"/>
              </a:solidFill>
              <a:latin typeface="Proxima Nova Heavy"/>
              <a:ea typeface="Proxima Nova Heavy"/>
              <a:cs typeface="Proxima Nova Heavy"/>
              <a:sym typeface="Proxima Nova Heavy"/>
            </a:endParaRPr>
          </a:p>
        </p:txBody>
      </p:sp>
      <p:sp>
        <p:nvSpPr>
          <p:cNvPr id="11" name="TextBox 11"/>
          <p:cNvSpPr txBox="1"/>
          <p:nvPr/>
        </p:nvSpPr>
        <p:spPr>
          <a:xfrm>
            <a:off x="1028700" y="2674851"/>
            <a:ext cx="7338939" cy="1736724"/>
          </a:xfrm>
          <a:prstGeom prst="rect">
            <a:avLst/>
          </a:prstGeom>
        </p:spPr>
        <p:txBody>
          <a:bodyPr lIns="0" tIns="0" rIns="0" bIns="0" rtlCol="0" anchor="t">
            <a:spAutoFit/>
          </a:bodyPr>
          <a:lstStyle/>
          <a:p>
            <a:pPr algn="l">
              <a:lnSpc>
                <a:spcPts val="3500"/>
              </a:lnSpc>
            </a:pPr>
            <a:r>
              <a:rPr lang="en-US" sz="2500" b="1">
                <a:solidFill>
                  <a:srgbClr val="006DAC"/>
                </a:solidFill>
                <a:latin typeface="Proxima Nova Bold"/>
                <a:ea typeface="Proxima Nova Bold"/>
                <a:cs typeface="Proxima Nova Bold"/>
                <a:sym typeface="Proxima Nova Bold"/>
              </a:rPr>
              <a:t>What lessons do you leave for future projects?</a:t>
            </a:r>
          </a:p>
          <a:p>
            <a:pPr algn="l">
              <a:lnSpc>
                <a:spcPts val="3500"/>
              </a:lnSpc>
            </a:pPr>
            <a:endParaRPr lang="en-US" sz="2500" b="1">
              <a:solidFill>
                <a:srgbClr val="006DAC"/>
              </a:solidFill>
              <a:latin typeface="Proxima Nova Bold"/>
              <a:ea typeface="Proxima Nova Bold"/>
              <a:cs typeface="Proxima Nova Bold"/>
              <a:sym typeface="Proxima Nova Bold"/>
            </a:endParaRPr>
          </a:p>
          <a:p>
            <a:pPr algn="l">
              <a:lnSpc>
                <a:spcPts val="3500"/>
              </a:lnSpc>
            </a:pPr>
            <a:endParaRPr lang="en-US" sz="2500" b="1">
              <a:solidFill>
                <a:srgbClr val="006DAC"/>
              </a:solidFill>
              <a:latin typeface="Proxima Nova Bold"/>
              <a:ea typeface="Proxima Nova Bold"/>
              <a:cs typeface="Proxima Nova Bold"/>
              <a:sym typeface="Proxima Nova Bold"/>
            </a:endParaRPr>
          </a:p>
          <a:p>
            <a:pPr marL="0" lvl="0" indent="0" algn="l">
              <a:lnSpc>
                <a:spcPts val="3500"/>
              </a:lnSpc>
              <a:spcBef>
                <a:spcPct val="0"/>
              </a:spcBef>
            </a:pPr>
            <a:endParaRPr lang="en-US" sz="2500" b="1">
              <a:solidFill>
                <a:srgbClr val="006DAC"/>
              </a:solidFill>
              <a:latin typeface="Proxima Nova Bold"/>
              <a:ea typeface="Proxima Nova Bold"/>
              <a:cs typeface="Proxima Nova Bold"/>
              <a:sym typeface="Proxima Nova Bold"/>
            </a:endParaRPr>
          </a:p>
        </p:txBody>
      </p:sp>
      <p:sp>
        <p:nvSpPr>
          <p:cNvPr id="12" name="TextBox 12"/>
          <p:cNvSpPr txBox="1"/>
          <p:nvPr/>
        </p:nvSpPr>
        <p:spPr>
          <a:xfrm>
            <a:off x="798863" y="3519401"/>
            <a:ext cx="13292213" cy="3927474"/>
          </a:xfrm>
          <a:prstGeom prst="rect">
            <a:avLst/>
          </a:prstGeom>
        </p:spPr>
        <p:txBody>
          <a:bodyPr lIns="0" tIns="0" rIns="0" bIns="0" rtlCol="0" anchor="t">
            <a:spAutoFit/>
          </a:bodyPr>
          <a:lstStyle/>
          <a:p>
            <a:pPr marL="539754" lvl="1" indent="-269877" algn="l">
              <a:lnSpc>
                <a:spcPts val="3500"/>
              </a:lnSpc>
              <a:spcBef>
                <a:spcPct val="0"/>
              </a:spcBef>
              <a:buFont typeface="Arial"/>
              <a:buChar char="•"/>
            </a:pPr>
            <a:r>
              <a:rPr lang="en-US" sz="2500" b="1" u="none" strike="noStrike">
                <a:solidFill>
                  <a:srgbClr val="006DAC"/>
                </a:solidFill>
                <a:latin typeface="Proxima Nova Bold"/>
                <a:ea typeface="Proxima Nova Bold"/>
                <a:cs typeface="Proxima Nova Bold"/>
                <a:sym typeface="Proxima Nova Bold"/>
              </a:rPr>
              <a:t>José Moreira: </a:t>
            </a:r>
            <a:r>
              <a:rPr lang="en-US" sz="2500" u="none" strike="noStrike">
                <a:solidFill>
                  <a:srgbClr val="006DAC"/>
                </a:solidFill>
                <a:latin typeface="Proxima Nova"/>
                <a:ea typeface="Proxima Nova"/>
                <a:cs typeface="Proxima Nova"/>
                <a:sym typeface="Proxima Nova"/>
              </a:rPr>
              <a:t> We realized that adapting to different working styles and bridging communication gaps were our biggest hurdles. However, we discovered that establishing a well-defined workflow was the key to overcoming these friction points, providing the structure needed to align the team and streamline collaboration.</a:t>
            </a:r>
          </a:p>
          <a:p>
            <a:pPr algn="l">
              <a:lnSpc>
                <a:spcPts val="3500"/>
              </a:lnSpc>
              <a:spcBef>
                <a:spcPct val="0"/>
              </a:spcBef>
            </a:pPr>
            <a:endParaRPr lang="en-US" sz="2500" u="none" strike="noStrike">
              <a:solidFill>
                <a:srgbClr val="006DAC"/>
              </a:solidFill>
              <a:latin typeface="Proxima Nova"/>
              <a:ea typeface="Proxima Nova"/>
              <a:cs typeface="Proxima Nova"/>
              <a:sym typeface="Proxima Nova"/>
            </a:endParaRPr>
          </a:p>
          <a:p>
            <a:pPr marL="539754" lvl="1" indent="-269877" algn="l">
              <a:lnSpc>
                <a:spcPts val="3500"/>
              </a:lnSpc>
              <a:spcBef>
                <a:spcPct val="0"/>
              </a:spcBef>
              <a:buFont typeface="Arial"/>
              <a:buChar char="•"/>
            </a:pPr>
            <a:r>
              <a:rPr lang="en-US" sz="2500" b="1" u="none" strike="noStrike">
                <a:solidFill>
                  <a:srgbClr val="006DAC"/>
                </a:solidFill>
                <a:latin typeface="Proxima Nova Bold"/>
                <a:ea typeface="Proxima Nova Bold"/>
                <a:cs typeface="Proxima Nova Bold"/>
                <a:sym typeface="Proxima Nova Bold"/>
              </a:rPr>
              <a:t>Pedro Amorim: </a:t>
            </a:r>
            <a:r>
              <a:rPr lang="en-US" sz="2500" u="none" strike="noStrike">
                <a:solidFill>
                  <a:srgbClr val="006DAC"/>
                </a:solidFill>
                <a:latin typeface="Proxima Nova"/>
                <a:ea typeface="Proxima Nova"/>
                <a:cs typeface="Proxima Nova"/>
                <a:sym typeface="Proxima Nova"/>
              </a:rPr>
              <a:t>This project taught me that 'flexibility' requires a solid foundation. Our team initially struggled with the rapid pace of change and varying communication habits, but we found our stride by consolidating our Scrum framework. Establishing this consistent workflow was the key to eliminate team friction.</a:t>
            </a:r>
          </a:p>
        </p:txBody>
      </p:sp>
      <p:sp>
        <p:nvSpPr>
          <p:cNvPr id="13" name="TextBox 13"/>
          <p:cNvSpPr txBox="1"/>
          <p:nvPr/>
        </p:nvSpPr>
        <p:spPr>
          <a:xfrm>
            <a:off x="198311" y="220550"/>
            <a:ext cx="7474008" cy="321267"/>
          </a:xfrm>
          <a:prstGeom prst="rect">
            <a:avLst/>
          </a:prstGeom>
        </p:spPr>
        <p:txBody>
          <a:bodyPr lIns="0" tIns="0" rIns="0" bIns="0" rtlCol="0" anchor="t">
            <a:spAutoFit/>
          </a:bodyPr>
          <a:lstStyle/>
          <a:p>
            <a:pPr algn="l">
              <a:lnSpc>
                <a:spcPts val="2482"/>
              </a:lnSpc>
            </a:pPr>
            <a:r>
              <a:rPr lang="en-US" sz="2364" b="1">
                <a:solidFill>
                  <a:srgbClr val="006DAC"/>
                </a:solidFill>
                <a:latin typeface="Proxima Nova Bold"/>
                <a:ea typeface="Proxima Nova Bold"/>
                <a:cs typeface="Proxima Nova Bold"/>
                <a:sym typeface="Proxima Nova Bold"/>
              </a:rPr>
              <a:t>Presented by → Tiago Oliveira</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flipH="1">
            <a:off x="11332119" y="3436310"/>
            <a:ext cx="7319680" cy="7319680"/>
          </a:xfrm>
          <a:custGeom>
            <a:avLst/>
            <a:gdLst/>
            <a:ahLst/>
            <a:cxnLst/>
            <a:rect l="l" t="t" r="r" b="b"/>
            <a:pathLst>
              <a:path w="7319680" h="7319680">
                <a:moveTo>
                  <a:pt x="7319680" y="0"/>
                </a:moveTo>
                <a:lnTo>
                  <a:pt x="0" y="0"/>
                </a:lnTo>
                <a:lnTo>
                  <a:pt x="0" y="7319680"/>
                </a:lnTo>
                <a:lnTo>
                  <a:pt x="7319680" y="7319680"/>
                </a:lnTo>
                <a:lnTo>
                  <a:pt x="731968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rot="-10800000">
            <a:off x="16991022" y="1145136"/>
            <a:ext cx="1660777" cy="1469400"/>
            <a:chOff x="0" y="0"/>
            <a:chExt cx="437406" cy="387002"/>
          </a:xfrm>
        </p:grpSpPr>
        <p:sp>
          <p:nvSpPr>
            <p:cNvPr id="4" name="Freeform 4"/>
            <p:cNvSpPr/>
            <p:nvPr/>
          </p:nvSpPr>
          <p:spPr>
            <a:xfrm>
              <a:off x="0" y="0"/>
              <a:ext cx="437406" cy="387002"/>
            </a:xfrm>
            <a:custGeom>
              <a:avLst/>
              <a:gdLst/>
              <a:ahLst/>
              <a:cxnLst/>
              <a:rect l="l" t="t" r="r" b="b"/>
              <a:pathLst>
                <a:path w="437406" h="387002">
                  <a:moveTo>
                    <a:pt x="0" y="0"/>
                  </a:moveTo>
                  <a:lnTo>
                    <a:pt x="437406" y="0"/>
                  </a:lnTo>
                  <a:lnTo>
                    <a:pt x="437406" y="387002"/>
                  </a:lnTo>
                  <a:lnTo>
                    <a:pt x="0" y="387002"/>
                  </a:lnTo>
                  <a:close/>
                </a:path>
              </a:pathLst>
            </a:custGeom>
            <a:solidFill>
              <a:srgbClr val="0CC0DF"/>
            </a:solidFill>
          </p:spPr>
        </p:sp>
        <p:sp>
          <p:nvSpPr>
            <p:cNvPr id="5" name="TextBox 5"/>
            <p:cNvSpPr txBox="1"/>
            <p:nvPr/>
          </p:nvSpPr>
          <p:spPr>
            <a:xfrm>
              <a:off x="0" y="-47625"/>
              <a:ext cx="437406" cy="434627"/>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rot="-10800000">
            <a:off x="16416780" y="1145136"/>
            <a:ext cx="489701" cy="1469400"/>
            <a:chOff x="0" y="0"/>
            <a:chExt cx="128975" cy="387002"/>
          </a:xfrm>
        </p:grpSpPr>
        <p:sp>
          <p:nvSpPr>
            <p:cNvPr id="7" name="Freeform 7"/>
            <p:cNvSpPr/>
            <p:nvPr/>
          </p:nvSpPr>
          <p:spPr>
            <a:xfrm>
              <a:off x="0" y="0"/>
              <a:ext cx="128975" cy="387002"/>
            </a:xfrm>
            <a:custGeom>
              <a:avLst/>
              <a:gdLst/>
              <a:ahLst/>
              <a:cxnLst/>
              <a:rect l="l" t="t" r="r" b="b"/>
              <a:pathLst>
                <a:path w="128975" h="387002">
                  <a:moveTo>
                    <a:pt x="0" y="0"/>
                  </a:moveTo>
                  <a:lnTo>
                    <a:pt x="128975" y="0"/>
                  </a:lnTo>
                  <a:lnTo>
                    <a:pt x="128975" y="387002"/>
                  </a:lnTo>
                  <a:lnTo>
                    <a:pt x="0" y="387002"/>
                  </a:lnTo>
                  <a:close/>
                </a:path>
              </a:pathLst>
            </a:custGeom>
            <a:solidFill>
              <a:srgbClr val="006DAC"/>
            </a:solidFill>
          </p:spPr>
        </p:sp>
        <p:sp>
          <p:nvSpPr>
            <p:cNvPr id="8" name="TextBox 8"/>
            <p:cNvSpPr txBox="1"/>
            <p:nvPr/>
          </p:nvSpPr>
          <p:spPr>
            <a:xfrm>
              <a:off x="0" y="-47625"/>
              <a:ext cx="128975" cy="434627"/>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a:off x="15142259" y="6708134"/>
            <a:ext cx="2549043" cy="2917360"/>
          </a:xfrm>
          <a:custGeom>
            <a:avLst/>
            <a:gdLst/>
            <a:ahLst/>
            <a:cxnLst/>
            <a:rect l="l" t="t" r="r" b="b"/>
            <a:pathLst>
              <a:path w="2549043" h="2917360">
                <a:moveTo>
                  <a:pt x="0" y="0"/>
                </a:moveTo>
                <a:lnTo>
                  <a:pt x="2549043" y="0"/>
                </a:lnTo>
                <a:lnTo>
                  <a:pt x="2549043" y="2917360"/>
                </a:lnTo>
                <a:lnTo>
                  <a:pt x="0" y="2917360"/>
                </a:lnTo>
                <a:lnTo>
                  <a:pt x="0" y="0"/>
                </a:lnTo>
                <a:close/>
              </a:path>
            </a:pathLst>
          </a:custGeom>
          <a:blipFill>
            <a:blip r:embed="rId4"/>
            <a:stretch>
              <a:fillRect/>
            </a:stretch>
          </a:blipFill>
        </p:spPr>
      </p:sp>
      <p:sp>
        <p:nvSpPr>
          <p:cNvPr id="10" name="TextBox 10"/>
          <p:cNvSpPr txBox="1"/>
          <p:nvPr/>
        </p:nvSpPr>
        <p:spPr>
          <a:xfrm>
            <a:off x="1028700" y="1126086"/>
            <a:ext cx="8603053" cy="2002790"/>
          </a:xfrm>
          <a:prstGeom prst="rect">
            <a:avLst/>
          </a:prstGeom>
        </p:spPr>
        <p:txBody>
          <a:bodyPr lIns="0" tIns="0" rIns="0" bIns="0" rtlCol="0" anchor="t">
            <a:spAutoFit/>
          </a:bodyPr>
          <a:lstStyle/>
          <a:p>
            <a:pPr marL="0" lvl="0" indent="0" algn="l">
              <a:lnSpc>
                <a:spcPts val="7930"/>
              </a:lnSpc>
              <a:spcBef>
                <a:spcPct val="0"/>
              </a:spcBef>
            </a:pPr>
            <a:r>
              <a:rPr lang="en-US" sz="6500" b="1" spc="45">
                <a:solidFill>
                  <a:srgbClr val="006DAC"/>
                </a:solidFill>
                <a:latin typeface="Proxima Nova Heavy"/>
                <a:ea typeface="Proxima Nova Heavy"/>
                <a:cs typeface="Proxima Nova Heavy"/>
                <a:sym typeface="Proxima Nova Heavy"/>
              </a:rPr>
              <a:t>LESSONS</a:t>
            </a:r>
            <a:r>
              <a:rPr lang="en-US" sz="6500" b="1" u="none" strike="noStrike" spc="45">
                <a:solidFill>
                  <a:srgbClr val="006DAC"/>
                </a:solidFill>
                <a:latin typeface="Proxima Nova Heavy"/>
                <a:ea typeface="Proxima Nova Heavy"/>
                <a:cs typeface="Proxima Nova Heavy"/>
                <a:sym typeface="Proxima Nova Heavy"/>
              </a:rPr>
              <a:t> LEARNED</a:t>
            </a:r>
          </a:p>
          <a:p>
            <a:pPr marL="0" lvl="0" indent="0" algn="l">
              <a:lnSpc>
                <a:spcPts val="7930"/>
              </a:lnSpc>
              <a:spcBef>
                <a:spcPct val="0"/>
              </a:spcBef>
            </a:pPr>
            <a:endParaRPr lang="en-US" sz="6500" b="1" u="none" strike="noStrike" spc="45">
              <a:solidFill>
                <a:srgbClr val="006DAC"/>
              </a:solidFill>
              <a:latin typeface="Proxima Nova Heavy"/>
              <a:ea typeface="Proxima Nova Heavy"/>
              <a:cs typeface="Proxima Nova Heavy"/>
              <a:sym typeface="Proxima Nova Heavy"/>
            </a:endParaRPr>
          </a:p>
        </p:txBody>
      </p:sp>
      <p:sp>
        <p:nvSpPr>
          <p:cNvPr id="11" name="TextBox 11"/>
          <p:cNvSpPr txBox="1"/>
          <p:nvPr/>
        </p:nvSpPr>
        <p:spPr>
          <a:xfrm>
            <a:off x="1028700" y="2674851"/>
            <a:ext cx="7338939" cy="1736724"/>
          </a:xfrm>
          <a:prstGeom prst="rect">
            <a:avLst/>
          </a:prstGeom>
        </p:spPr>
        <p:txBody>
          <a:bodyPr lIns="0" tIns="0" rIns="0" bIns="0" rtlCol="0" anchor="t">
            <a:spAutoFit/>
          </a:bodyPr>
          <a:lstStyle/>
          <a:p>
            <a:pPr algn="l">
              <a:lnSpc>
                <a:spcPts val="3500"/>
              </a:lnSpc>
            </a:pPr>
            <a:r>
              <a:rPr lang="en-US" sz="2500" b="1">
                <a:solidFill>
                  <a:srgbClr val="006DAC"/>
                </a:solidFill>
                <a:latin typeface="Proxima Nova Bold"/>
                <a:ea typeface="Proxima Nova Bold"/>
                <a:cs typeface="Proxima Nova Bold"/>
                <a:sym typeface="Proxima Nova Bold"/>
              </a:rPr>
              <a:t>What lessons do you leave for future projects?</a:t>
            </a:r>
          </a:p>
          <a:p>
            <a:pPr algn="l">
              <a:lnSpc>
                <a:spcPts val="3500"/>
              </a:lnSpc>
            </a:pPr>
            <a:endParaRPr lang="en-US" sz="2500" b="1">
              <a:solidFill>
                <a:srgbClr val="006DAC"/>
              </a:solidFill>
              <a:latin typeface="Proxima Nova Bold"/>
              <a:ea typeface="Proxima Nova Bold"/>
              <a:cs typeface="Proxima Nova Bold"/>
              <a:sym typeface="Proxima Nova Bold"/>
            </a:endParaRPr>
          </a:p>
          <a:p>
            <a:pPr algn="l">
              <a:lnSpc>
                <a:spcPts val="3500"/>
              </a:lnSpc>
            </a:pPr>
            <a:endParaRPr lang="en-US" sz="2500" b="1">
              <a:solidFill>
                <a:srgbClr val="006DAC"/>
              </a:solidFill>
              <a:latin typeface="Proxima Nova Bold"/>
              <a:ea typeface="Proxima Nova Bold"/>
              <a:cs typeface="Proxima Nova Bold"/>
              <a:sym typeface="Proxima Nova Bold"/>
            </a:endParaRPr>
          </a:p>
          <a:p>
            <a:pPr marL="0" lvl="0" indent="0" algn="l">
              <a:lnSpc>
                <a:spcPts val="3500"/>
              </a:lnSpc>
              <a:spcBef>
                <a:spcPct val="0"/>
              </a:spcBef>
            </a:pPr>
            <a:endParaRPr lang="en-US" sz="2500" b="1">
              <a:solidFill>
                <a:srgbClr val="006DAC"/>
              </a:solidFill>
              <a:latin typeface="Proxima Nova Bold"/>
              <a:ea typeface="Proxima Nova Bold"/>
              <a:cs typeface="Proxima Nova Bold"/>
              <a:sym typeface="Proxima Nova Bold"/>
            </a:endParaRPr>
          </a:p>
        </p:txBody>
      </p:sp>
      <p:sp>
        <p:nvSpPr>
          <p:cNvPr id="12" name="TextBox 12"/>
          <p:cNvSpPr txBox="1"/>
          <p:nvPr/>
        </p:nvSpPr>
        <p:spPr>
          <a:xfrm>
            <a:off x="779813" y="3519401"/>
            <a:ext cx="13292213" cy="4803774"/>
          </a:xfrm>
          <a:prstGeom prst="rect">
            <a:avLst/>
          </a:prstGeom>
        </p:spPr>
        <p:txBody>
          <a:bodyPr lIns="0" tIns="0" rIns="0" bIns="0" rtlCol="0" anchor="t">
            <a:spAutoFit/>
          </a:bodyPr>
          <a:lstStyle/>
          <a:p>
            <a:pPr marL="539754" lvl="1" indent="-269877" algn="l">
              <a:lnSpc>
                <a:spcPts val="3500"/>
              </a:lnSpc>
              <a:buFont typeface="Arial"/>
              <a:buChar char="•"/>
            </a:pPr>
            <a:r>
              <a:rPr lang="en-US" sz="2500" b="1">
                <a:solidFill>
                  <a:srgbClr val="006DAC"/>
                </a:solidFill>
                <a:latin typeface="Proxima Nova Bold"/>
                <a:ea typeface="Proxima Nova Bold"/>
                <a:cs typeface="Proxima Nova Bold"/>
                <a:sym typeface="Proxima Nova Bold"/>
              </a:rPr>
              <a:t>Beatriz Marques</a:t>
            </a:r>
            <a:r>
              <a:rPr lang="en-US" sz="2500" b="1" u="none" strike="noStrike">
                <a:solidFill>
                  <a:srgbClr val="006DAC"/>
                </a:solidFill>
                <a:latin typeface="Proxima Nova Bold"/>
                <a:ea typeface="Proxima Nova Bold"/>
                <a:cs typeface="Proxima Nova Bold"/>
                <a:sym typeface="Proxima Nova Bold"/>
              </a:rPr>
              <a:t>: </a:t>
            </a:r>
            <a:r>
              <a:rPr lang="en-US" sz="2500" u="none" strike="noStrike">
                <a:solidFill>
                  <a:srgbClr val="006DAC"/>
                </a:solidFill>
                <a:latin typeface="Proxima Nova"/>
                <a:ea typeface="Proxima Nova"/>
                <a:cs typeface="Proxima Nova"/>
                <a:sym typeface="Proxima Nova"/>
              </a:rPr>
              <a:t> I learned that effective planning goes beyond just listing features; it requires realistic estimation and risk management. We initially struggled with overarching some user stories and blocking external dependencies like API limits. However, we found that decomposing complex features into granular tasks and implementing fallback strategies were the keys to balancing the workload and ensuring continuous delivery without bottlenecks.</a:t>
            </a:r>
          </a:p>
          <a:p>
            <a:pPr marL="539754" lvl="1" indent="-269877" algn="l">
              <a:lnSpc>
                <a:spcPts val="3500"/>
              </a:lnSpc>
              <a:spcBef>
                <a:spcPct val="0"/>
              </a:spcBef>
              <a:buFont typeface="Arial"/>
              <a:buChar char="•"/>
            </a:pPr>
            <a:r>
              <a:rPr lang="en-US" sz="2500" b="1" u="none" strike="noStrike">
                <a:solidFill>
                  <a:srgbClr val="006DAC"/>
                </a:solidFill>
                <a:latin typeface="Proxima Nova Bold"/>
                <a:ea typeface="Proxima Nova Bold"/>
                <a:cs typeface="Proxima Nova Bold"/>
                <a:sym typeface="Proxima Nova Bold"/>
              </a:rPr>
              <a:t>Tiago Oliveira:</a:t>
            </a:r>
            <a:r>
              <a:rPr lang="en-US" sz="2500" u="none" strike="noStrike">
                <a:solidFill>
                  <a:srgbClr val="006DAC"/>
                </a:solidFill>
                <a:latin typeface="Proxima Nova"/>
                <a:ea typeface="Proxima Nova"/>
                <a:cs typeface="Proxima Nova"/>
                <a:sym typeface="Proxima Nova"/>
              </a:rPr>
              <a:t> The start of the project was characterized by a steep learning curve. We faced initial difficulties with team organization and a lack of experience with essential tools like GitLab. However, through a collective effort and the establishment of a rigorous workflow, we successfully overcame these barriers. This challenge evolved into an opportunity for growth, allowing us to master new tools and strengthen our collaboration.</a:t>
            </a:r>
          </a:p>
        </p:txBody>
      </p:sp>
      <p:sp>
        <p:nvSpPr>
          <p:cNvPr id="13" name="TextBox 13"/>
          <p:cNvSpPr txBox="1"/>
          <p:nvPr/>
        </p:nvSpPr>
        <p:spPr>
          <a:xfrm>
            <a:off x="198311" y="220550"/>
            <a:ext cx="7474008" cy="321267"/>
          </a:xfrm>
          <a:prstGeom prst="rect">
            <a:avLst/>
          </a:prstGeom>
        </p:spPr>
        <p:txBody>
          <a:bodyPr lIns="0" tIns="0" rIns="0" bIns="0" rtlCol="0" anchor="t">
            <a:spAutoFit/>
          </a:bodyPr>
          <a:lstStyle/>
          <a:p>
            <a:pPr algn="l">
              <a:lnSpc>
                <a:spcPts val="2482"/>
              </a:lnSpc>
            </a:pPr>
            <a:r>
              <a:rPr lang="en-US" sz="2364" b="1">
                <a:solidFill>
                  <a:srgbClr val="006DAC"/>
                </a:solidFill>
                <a:latin typeface="Proxima Nova Bold"/>
                <a:ea typeface="Proxima Nova Bold"/>
                <a:cs typeface="Proxima Nova Bold"/>
                <a:sym typeface="Proxima Nova Bold"/>
              </a:rPr>
              <a:t>Presented by → Tiago Oliveira</a:t>
            </a:r>
          </a:p>
        </p:txBody>
      </p:sp>
    </p:spTree>
  </p:cSld>
  <p:clrMapOvr>
    <a:masterClrMapping/>
  </p:clrMapOvr>
  <p:transition spd="slow">
    <p:push/>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13AFCA"/>
        </a:solidFill>
        <a:effectLst/>
      </p:bgPr>
    </p:bg>
    <p:spTree>
      <p:nvGrpSpPr>
        <p:cNvPr id="1" name=""/>
        <p:cNvGrpSpPr/>
        <p:nvPr/>
      </p:nvGrpSpPr>
      <p:grpSpPr>
        <a:xfrm>
          <a:off x="0" y="0"/>
          <a:ext cx="0" cy="0"/>
          <a:chOff x="0" y="0"/>
          <a:chExt cx="0" cy="0"/>
        </a:xfrm>
      </p:grpSpPr>
      <p:sp>
        <p:nvSpPr>
          <p:cNvPr id="2" name="TextBox 2"/>
          <p:cNvSpPr txBox="1"/>
          <p:nvPr/>
        </p:nvSpPr>
        <p:spPr>
          <a:xfrm>
            <a:off x="6121254" y="4632643"/>
            <a:ext cx="5760284" cy="1002665"/>
          </a:xfrm>
          <a:prstGeom prst="rect">
            <a:avLst/>
          </a:prstGeom>
        </p:spPr>
        <p:txBody>
          <a:bodyPr lIns="0" tIns="0" rIns="0" bIns="0" rtlCol="0" anchor="t">
            <a:spAutoFit/>
          </a:bodyPr>
          <a:lstStyle/>
          <a:p>
            <a:pPr algn="l">
              <a:lnSpc>
                <a:spcPts val="7930"/>
              </a:lnSpc>
              <a:spcBef>
                <a:spcPct val="0"/>
              </a:spcBef>
            </a:pPr>
            <a:r>
              <a:rPr lang="en-US" sz="6500" b="1">
                <a:solidFill>
                  <a:srgbClr val="FFFFFF"/>
                </a:solidFill>
                <a:latin typeface="Proxima Nova Heavy"/>
                <a:ea typeface="Proxima Nova Heavy"/>
                <a:cs typeface="Proxima Nova Heavy"/>
                <a:sym typeface="Proxima Nova Heavy"/>
              </a:rPr>
              <a:t>THANK YOU !!</a:t>
            </a:r>
          </a:p>
        </p:txBody>
      </p:sp>
      <p:sp>
        <p:nvSpPr>
          <p:cNvPr id="3" name="Freeform 3"/>
          <p:cNvSpPr/>
          <p:nvPr/>
        </p:nvSpPr>
        <p:spPr>
          <a:xfrm>
            <a:off x="-753219" y="6663269"/>
            <a:ext cx="16347068" cy="1328199"/>
          </a:xfrm>
          <a:custGeom>
            <a:avLst/>
            <a:gdLst/>
            <a:ahLst/>
            <a:cxnLst/>
            <a:rect l="l" t="t" r="r" b="b"/>
            <a:pathLst>
              <a:path w="16347068" h="1328199">
                <a:moveTo>
                  <a:pt x="0" y="0"/>
                </a:moveTo>
                <a:lnTo>
                  <a:pt x="16347068" y="0"/>
                </a:lnTo>
                <a:lnTo>
                  <a:pt x="16347068" y="1328199"/>
                </a:lnTo>
                <a:lnTo>
                  <a:pt x="0" y="132819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rot="-10800000">
            <a:off x="3708004" y="1928403"/>
            <a:ext cx="16347068" cy="1328199"/>
          </a:xfrm>
          <a:custGeom>
            <a:avLst/>
            <a:gdLst/>
            <a:ahLst/>
            <a:cxnLst/>
            <a:rect l="l" t="t" r="r" b="b"/>
            <a:pathLst>
              <a:path w="16347068" h="1328199">
                <a:moveTo>
                  <a:pt x="0" y="0"/>
                </a:moveTo>
                <a:lnTo>
                  <a:pt x="16347068" y="0"/>
                </a:lnTo>
                <a:lnTo>
                  <a:pt x="16347068" y="1328199"/>
                </a:lnTo>
                <a:lnTo>
                  <a:pt x="0" y="132819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Tree>
  </p:cSld>
  <p:clrMapOvr>
    <a:masterClrMapping/>
  </p:clrMapOvr>
  <p:transition spd="slow">
    <p:push/>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C7732DB3746DD42A15F1A066D53897F" ma:contentTypeVersion="3" ma:contentTypeDescription="Create a new document." ma:contentTypeScope="" ma:versionID="ba5b0b47039559bf9d8a1e245b2f59c3">
  <xsd:schema xmlns:xsd="http://www.w3.org/2001/XMLSchema" xmlns:xs="http://www.w3.org/2001/XMLSchema" xmlns:p="http://schemas.microsoft.com/office/2006/metadata/properties" xmlns:ns2="698f72a9-7787-4dbc-bf8b-fcd69239c36c" targetNamespace="http://schemas.microsoft.com/office/2006/metadata/properties" ma:root="true" ma:fieldsID="16fa118be5f99ac15160f879d1f78e6f" ns2:_="">
    <xsd:import namespace="698f72a9-7787-4dbc-bf8b-fcd69239c36c"/>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98f72a9-7787-4dbc-bf8b-fcd69239c36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E7821F8-1D8F-4D02-A2B7-3B67C5563AE4}">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9E9D894C-61FF-437C-9CF1-F61C53579D30}">
  <ds:schemaRefs>
    <ds:schemaRef ds:uri="http://schemas.microsoft.com/sharepoint/v3/contenttype/forms"/>
  </ds:schemaRefs>
</ds:datastoreItem>
</file>

<file path=customXml/itemProps3.xml><?xml version="1.0" encoding="utf-8"?>
<ds:datastoreItem xmlns:ds="http://schemas.openxmlformats.org/officeDocument/2006/customXml" ds:itemID="{31275D6B-31D5-4009-BF9E-71121144D96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98f72a9-7787-4dbc-bf8b-fcd69239c36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Custom</PresentationFormat>
  <Paragraphs>0</Paragraphs>
  <Slides>25</Slides>
  <Notes>0</Notes>
  <HiddenSlides>0</HiddenSlides>
  <MMClips>0</MMClip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FINAL PRESENTATION</dc:title>
  <cp:revision>2</cp:revision>
  <dcterms:created xsi:type="dcterms:W3CDTF">2006-08-16T00:00:00Z</dcterms:created>
  <dcterms:modified xsi:type="dcterms:W3CDTF">2025-12-21T19:06:23Z</dcterms:modified>
  <dc:identifier>DAG7yI-gyME</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0x010100EC7732DB3746DD42A15F1A066D53897F</vt:lpwstr>
  </property>
</Properties>
</file>